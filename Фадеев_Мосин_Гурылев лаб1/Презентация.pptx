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overlay/docProps/app.xml" ContentType="application/vnd.openxmlformats-officedocument.extended-properties+xml"/>
  <Override PartName="/ppt/overlay/ppt/presentation.xml" ContentType="application/vnd.openxmlformats-officedocument.presentationml.presentation.main+xml"/>
  <Override PartName="/ppt/overlay/ppt/theme/theme1.xml" ContentType="application/vnd.openxmlformats-officedocument.theme+xml"/>
  <Override PartName="/ppt/overlay/ppt/slideMasters/slideMaster1.xml" ContentType="application/vnd.openxmlformats-officedocument.presentationml.slideMaster+xml"/>
  <Override PartName="/ppt/overlay/ppt/slideMasters/theme/theme2.xml" ContentType="application/vnd.openxmlformats-officedocument.theme+xml"/>
  <Override PartName="/ppt/overlay/ppt/slideLayouts/slideLayout1.xml" ContentType="application/vnd.openxmlformats-officedocument.presentationml.slideLayout+xml"/>
  <Override PartName="/ppt/overlay/ppt/notesMasters/notesMaster1.xml" ContentType="application/vnd.openxmlformats-officedocument.presentationml.notesMaster+xml"/>
  <Override PartName="/ppt/overlay/ppt/notesMasters/theme/theme3.xml" ContentType="application/vnd.openxmlformats-officedocument.theme+xml"/>
  <Override PartName="/ppt/overlay/ppt/presProps.xml" ContentType="application/vnd.openxmlformats-officedocument.presentationml.presProps+xml"/>
  <Override PartName="/ppt/overlay/ppt/tableStyles.xml" ContentType="application/vnd.openxmlformats-officedocument.presentationml.tableStyles+xml"/>
  <Override PartName="/ppt/overlay/ppt/slides/slide1.xml" ContentType="application/vnd.openxmlformats-officedocument.presentationml.slide+xml"/>
  <Override PartName="/ppt/overlay/ppt/notesSlides/notesSlide1.xml" ContentType="application/vnd.openxmlformats-officedocument.presentationml.notesSlide+xml"/>
  <Override PartName="/ppt/overlay/ppt/slides/slide2.xml" ContentType="application/vnd.openxmlformats-officedocument.presentationml.slide+xml"/>
  <Override PartName="/ppt/overlay/ppt/notesSlides/notesSlide2.xml" ContentType="application/vnd.openxmlformats-officedocument.presentationml.notesSlide+xml"/>
  <Override PartName="/ppt/overlay/ppt/slides/slide3.xml" ContentType="application/vnd.openxmlformats-officedocument.presentationml.slide+xml"/>
  <Override PartName="/ppt/overlay/ppt/notesSlides/notesSlide3.xml" ContentType="application/vnd.openxmlformats-officedocument.presentationml.notesSlide+xml"/>
  <Override PartName="/ppt/overlay/ppt/slides/slide4.xml" ContentType="application/vnd.openxmlformats-officedocument.presentationml.slide+xml"/>
  <Override PartName="/ppt/overlay/ppt/notesSlides/notesSlide4.xml" ContentType="application/vnd.openxmlformats-officedocument.presentationml.notesSlide+xml"/>
  <Override PartName="/ppt/overlay/ppt/slides/slide5.xml" ContentType="application/vnd.openxmlformats-officedocument.presentationml.slide+xml"/>
  <Override PartName="/ppt/overlay/ppt/notesSlides/notesSlide5.xml" ContentType="application/vnd.openxmlformats-officedocument.presentationml.notesSlide+xml"/>
  <Override PartName="/ppt/overlay/ppt/slides/slide6.xml" ContentType="application/vnd.openxmlformats-officedocument.presentationml.slide+xml"/>
  <Override PartName="/ppt/overlay/ppt/notesSlides/notesSlide6.xml" ContentType="application/vnd.openxmlformats-officedocument.presentationml.notesSlide+xml"/>
  <Override PartName="/ppt/overlay/ppt/slides/slide7.xml" ContentType="application/vnd.openxmlformats-officedocument.presentationml.slide+xml"/>
  <Override PartName="/ppt/overlay/ppt/notesSlides/notesSlide7.xml" ContentType="application/vnd.openxmlformats-officedocument.presentationml.notesSlide+xml"/>
  <Override PartName="/ppt/overlay/ppt/slides/slide8.xml" ContentType="application/vnd.openxmlformats-officedocument.presentationml.slide+xml"/>
  <Override PartName="/ppt/overlay/ppt/notesSlides/notesSlide8.xml" ContentType="application/vnd.openxmlformats-officedocument.presentationml.notesSlide+xml"/>
  <Override PartName="/ppt/overlay/ppt/slides/slide9.xml" ContentType="application/vnd.openxmlformats-officedocument.presentationml.slide+xml"/>
  <Override PartName="/ppt/overlay/ppt/notesSlides/notesSlide9.xml" ContentType="application/vnd.openxmlformats-officedocument.presentationml.notesSlide+xml"/>
  <Override PartName="/ppt/overlay/ppt/slides/slide10.xml" ContentType="application/vnd.openxmlformats-officedocument.presentationml.slide+xml"/>
  <Override PartName="/ppt/overlay/ppt/notesSlides/notesSlide10.xml" ContentType="application/vnd.openxmlformats-officedocument.presentationml.notesSlide+xml"/>
  <Override PartName="/ppt/overlay/ppt/slides/slide11.xml" ContentType="application/vnd.openxmlformats-officedocument.presentationml.slide+xml"/>
  <Override PartName="/ppt/overlay/ppt/notesSlides/notesSlide11.xml" ContentType="application/vnd.openxmlformats-officedocument.presentationml.notesSlide+xml"/>
  <Override PartName="/ppt/overlay/ppt/slides/slide12.xml" ContentType="application/vnd.openxmlformats-officedocument.presentationml.slide+xml"/>
  <Override PartName="/ppt/overlay/ppt/notesSlides/notesSlide12.xml" ContentType="application/vnd.openxmlformats-officedocument.presentationml.notesSlide+xml"/>
  <Override PartName="/ppt/slides/itmoSlide1.xml" ContentType="application/vnd.openxmlformats-officedocument.presentationml.slide+xml"/>
  <Override PartName="/ppt/slides/itmoSlide2.xml" ContentType="application/vnd.openxmlformats-officedocument.presentationml.slide+xml"/>
  <Override PartName="/ppt/slides/itmoSlide3.xml" ContentType="application/vnd.openxmlformats-officedocument.presentationml.slide+xml"/>
  <Override PartName="/ppt/slides/itmoSlide4.xml" ContentType="application/vnd.openxmlformats-officedocument.presentationml.slide+xml"/>
  <Override PartName="/ppt/slides/itmoSlide5.xml" ContentType="application/vnd.openxmlformats-officedocument.presentationml.slide+xml"/>
  <Override PartName="/ppt/slides/itmoSlide6.xml" ContentType="application/vnd.openxmlformats-officedocument.presentationml.slide+xml"/>
  <Override PartName="/ppt/slides/itmoSlide7.xml" ContentType="application/vnd.openxmlformats-officedocument.presentationml.slide+xml"/>
  <Override PartName="/ppt/slides/itmoSlide8.xml" ContentType="application/vnd.openxmlformats-officedocument.presentationml.slide+xml"/>
  <Override PartName="/ppt/slides/itmoSlide9.xml" ContentType="application/vnd.openxmlformats-officedocument.presentationml.slide+xml"/>
  <Override PartName="/ppt/slides/itmoSlide10.xml" ContentType="application/vnd.openxmlformats-officedocument.presentationml.slide+xml"/>
  <Override PartName="/ppt/slides/itmoSlide11.xml" ContentType="application/vnd.openxmlformats-officedocument.presentationml.slide+xml"/>
  <Override PartName="/ppt/slides/itmoSlide12.xml" ContentType="application/vnd.openxmlformats-officedocument.presentationml.slide+xml"/>
</Types>
</file>

<file path=_rels/.rels><?xml version='1.0' encoding='utf-8'?>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870" r:id="rId1"/>
  </p:sldMasterIdLst>
  <p:notesMasterIdLst>
    <p:notesMasterId r:id="rId17"/>
    <p:notesMasterId r:id="overlay_notesMaster_Rc289d361ff30402d"/>
  </p:notesMasterIdLst>
  <p:handoutMasterIdLst>
    <p:handoutMasterId r:id="rId18"/>
  </p:handoutMasterIdLst>
  <p:sldIdLst>
    <p:sldId id="257" r:id="itmoSlide1"/>
    <p:sldId id="258" r:id="itmoSlide2"/>
    <p:sldId id="259" r:id="itmoSlide3"/>
    <p:sldId id="260" r:id="itmoSlide4"/>
    <p:sldId id="261" r:id="itmoSlide5"/>
    <p:sldId id="262" r:id="itmoSlide6"/>
    <p:sldId id="263" r:id="itmoSlide7"/>
    <p:sldId id="264" r:id="itmoSlide8"/>
    <p:sldId id="265" r:id="itmoSlide9"/>
    <p:sldId id="266" r:id="itmoSlide10"/>
    <p:sldId id="267" r:id="itmoSlide11"/>
    <p:sldId id="268" r:id="itmoSlide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1611">
          <ns3:clr>
            <a:srgbClr val="A4A3A4"/>
          </ns3:clr>
        </ns3:guide>
        <ns3:guide id="2" pos="2874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72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864" y="1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?>
<Relationships xmlns="http://schemas.openxmlformats.org/package/2006/relationships"><Relationship Id="rId18" Type="http://schemas.openxmlformats.org/officeDocument/2006/relationships/handoutMaster" Target="handoutMasters/handoutMaster1.xml" /><Relationship Id="rId21" Type="http://schemas.openxmlformats.org/officeDocument/2006/relationships/viewProps" Target="viewProps.xml" /><Relationship Id="rId17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microsoft.com/office/2018/10/relationships/authors" Target="authors.xml" /><Relationship Id="rId23" Type="http://schemas.openxmlformats.org/officeDocument/2006/relationships/tableStyles" Target="tableStyles.xml" /><Relationship Id="rId19" Type="http://schemas.openxmlformats.org/officeDocument/2006/relationships/commentAuthors" Target="commentAuthors.xml" /><Relationship Id="rId22" Type="http://schemas.openxmlformats.org/officeDocument/2006/relationships/theme" Target="theme/theme1.xml" /><Relationship Id="itmoSlide1" Type="http://schemas.openxmlformats.org/officeDocument/2006/relationships/slide" Target="slides/itmoSlide1.xml" /><Relationship Id="itmoSlide2" Type="http://schemas.openxmlformats.org/officeDocument/2006/relationships/slide" Target="slides/itmoSlide2.xml" /><Relationship Id="itmoSlide3" Type="http://schemas.openxmlformats.org/officeDocument/2006/relationships/slide" Target="slides/itmoSlide3.xml" /><Relationship Id="itmoSlide4" Type="http://schemas.openxmlformats.org/officeDocument/2006/relationships/slide" Target="slides/itmoSlide4.xml" /><Relationship Id="itmoSlide5" Type="http://schemas.openxmlformats.org/officeDocument/2006/relationships/slide" Target="slides/itmoSlide5.xml" /><Relationship Id="itmoSlide6" Type="http://schemas.openxmlformats.org/officeDocument/2006/relationships/slide" Target="slides/itmoSlide6.xml" /><Relationship Id="itmoSlide7" Type="http://schemas.openxmlformats.org/officeDocument/2006/relationships/slide" Target="slides/itmoSlide7.xml" /><Relationship Id="itmoSlide8" Type="http://schemas.openxmlformats.org/officeDocument/2006/relationships/slide" Target="slides/itmoSlide8.xml" /><Relationship Id="itmoSlide9" Type="http://schemas.openxmlformats.org/officeDocument/2006/relationships/slide" Target="slides/itmoSlide9.xml" /><Relationship Id="itmoSlide10" Type="http://schemas.openxmlformats.org/officeDocument/2006/relationships/slide" Target="slides/itmoSlide10.xml" /><Relationship Id="itmoSlide11" Type="http://schemas.openxmlformats.org/officeDocument/2006/relationships/slide" Target="slides/itmoSlide11.xml" /><Relationship Id="itmoSlide12" Type="http://schemas.openxmlformats.org/officeDocument/2006/relationships/slide" Target="slides/itmoSlide12.xml" /><Relationship Id="overlay_notesMaster_Rc289d361ff30402d" Type="http://schemas.openxmlformats.org/officeDocument/2006/relationships/notesMaster" Target="overlay/ppt/notesMasters/notesMaster1.xml" /></Relationships>
</file>

<file path=ppt/handoutMasters/_rels/handoutMaster1.xml.rels><?xml version='1.0' encoding='utf-8'?>
<Relationships xmlns="http://schemas.openxmlformats.org/package/2006/relationships"><Relationship Id="rId1" Type="http://schemas.openxmlformats.org/officeDocument/2006/relationships/theme" Target="../theme/theme3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9/9/2022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?>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9/9/2022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overlay/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ppt/overlay/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2026-10-08T14:08:55.3360000Z</dcterms:created>
  <dcterms:modified xsi:type="dcterms:W3CDTF">2026-10-08T14:08:55.3360000Z</dcterms:modified>
</coreProperties>
</file>

<file path=ppt/overlay/ppt/_rels/presentation.xml.rels><?xml version='1.0' encoding='utf-8'?>
<Relationships xmlns="http://schemas.openxmlformats.org/package/2006/relationships"><Relationship Type="http://schemas.openxmlformats.org/officeDocument/2006/relationships/theme" Target="theme/theme1.xml" Id="Rc303b4f73619424f" /><Relationship Type="http://schemas.openxmlformats.org/officeDocument/2006/relationships/slideMaster" Target="slideMasters/slideMaster1.xml" Id="Rd5cfe2a18fca4fc2" /><Relationship Type="http://schemas.openxmlformats.org/officeDocument/2006/relationships/notesMaster" Target="notesMasters/notesMaster1.xml" Id="Rc289d361ff30402d" /><Relationship Type="http://schemas.openxmlformats.org/officeDocument/2006/relationships/presProps" Target="presProps.xml" Id="Reb679572cf4d4eea" /><Relationship Type="http://schemas.openxmlformats.org/officeDocument/2006/relationships/tableStyles" Target="tableStyles.xml" Id="R690ece6475864bb1" /><Relationship Type="http://schemas.openxmlformats.org/officeDocument/2006/relationships/slide" Target="../../slides/itmoSlide1.xml" Id="R092f2a29e67445cb" /><Relationship Type="http://schemas.openxmlformats.org/officeDocument/2006/relationships/slide" Target="../../slides/itmoSlide2.xml" Id="R62bda44394b44920" /><Relationship Type="http://schemas.openxmlformats.org/officeDocument/2006/relationships/slide" Target="../../slides/itmoSlide3.xml" Id="Rdd78415d10c9413a" /><Relationship Type="http://schemas.openxmlformats.org/officeDocument/2006/relationships/slide" Target="../../slides/itmoSlide4.xml" Id="Rabdf6bf820fb46ac" /><Relationship Type="http://schemas.openxmlformats.org/officeDocument/2006/relationships/slide" Target="../../slides/itmoSlide5.xml" Id="R66bc731f6a424008" /><Relationship Type="http://schemas.openxmlformats.org/officeDocument/2006/relationships/slide" Target="../../slides/itmoSlide6.xml" Id="R06f3c4bca6e848ad" /><Relationship Type="http://schemas.openxmlformats.org/officeDocument/2006/relationships/slide" Target="../../slides/itmoSlide7.xml" Id="Rd4fc1db72eb44918" /><Relationship Type="http://schemas.openxmlformats.org/officeDocument/2006/relationships/slide" Target="../../slides/itmoSlide8.xml" Id="R57ee7d31a3174d69" /><Relationship Type="http://schemas.openxmlformats.org/officeDocument/2006/relationships/slide" Target="../../slides/itmoSlide9.xml" Id="Rb465b257bfa24eee" /><Relationship Type="http://schemas.openxmlformats.org/officeDocument/2006/relationships/slide" Target="../../slides/itmoSlide10.xml" Id="R3401a01e315d4a1d" /><Relationship Type="http://schemas.openxmlformats.org/officeDocument/2006/relationships/slide" Target="../../slides/itmoSlide11.xml" Id="R7b6f94471e534083" /><Relationship Type="http://schemas.openxmlformats.org/officeDocument/2006/relationships/slide" Target="../../slides/itmoSlide12.xml" Id="R74d9eb33d01a4757" /></Relationships>
</file>

<file path=ppt/overlay/ppt/notesMasters/_rels/notesMaster1.xml.rels><?xml version='1.0' encoding='utf-8'?>
<Relationships xmlns="http://schemas.openxmlformats.org/package/2006/relationships"><Relationship Type="http://schemas.openxmlformats.org/officeDocument/2006/relationships/theme" Target="theme/theme3.xml" Id="Ra342578ead514cca" /></Relationships>
</file>

<file path=ppt/overlay/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overlay/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overlay/ppt/notesSlides/_rels/notesSlide1.xml.rels><?xml version='1.0' encoding='utf-8'?>
<Relationships xmlns="http://schemas.openxmlformats.org/package/2006/relationships"><Relationship Type="http://schemas.openxmlformats.org/officeDocument/2006/relationships/slide" Target="../../../slides/itmoSlide1.xml" Id="Rd8a1bb7a5b74468b" /><Relationship Type="http://schemas.openxmlformats.org/officeDocument/2006/relationships/notesMaster" Target="../notesMasters/notesMaster1.xml" Id="R6c14629f2a6c44a7" /></Relationships>
</file>

<file path=ppt/overlay/ppt/notesSlides/_rels/notesSlide2.xml.rels><?xml version='1.0' encoding='utf-8'?>
<Relationships xmlns="http://schemas.openxmlformats.org/package/2006/relationships"><Relationship Type="http://schemas.openxmlformats.org/officeDocument/2006/relationships/slide" Target="../../../slides/itmoSlide2.xml" Id="Ree7dbf622b32475b" /><Relationship Type="http://schemas.openxmlformats.org/officeDocument/2006/relationships/notesMaster" Target="../notesMasters/notesMaster1.xml" Id="R2a713f856c7f4a26" /></Relationships>
</file>

<file path=ppt/overlay/ppt/notesSlides/_rels/notesSlide3.xml.rels><?xml version='1.0' encoding='utf-8'?>
<Relationships xmlns="http://schemas.openxmlformats.org/package/2006/relationships"><Relationship Type="http://schemas.openxmlformats.org/officeDocument/2006/relationships/slide" Target="../../../slides/itmoSlide3.xml" Id="R0e19033266ac4354" /><Relationship Type="http://schemas.openxmlformats.org/officeDocument/2006/relationships/notesMaster" Target="../notesMasters/notesMaster1.xml" Id="R53b8ece2de5945d0" /></Relationships>
</file>

<file path=ppt/overlay/ppt/notesSlides/_rels/notesSlide4.xml.rels><?xml version='1.0' encoding='utf-8'?>
<Relationships xmlns="http://schemas.openxmlformats.org/package/2006/relationships"><Relationship Type="http://schemas.openxmlformats.org/officeDocument/2006/relationships/slide" Target="../../../slides/itmoSlide4.xml" Id="R57ab96c81a394f76" /><Relationship Type="http://schemas.openxmlformats.org/officeDocument/2006/relationships/notesMaster" Target="../notesMasters/notesMaster1.xml" Id="Rbbae332e438f4bc5" /></Relationships>
</file>

<file path=ppt/overlay/ppt/notesSlides/_rels/notesSlide5.xml.rels><?xml version='1.0' encoding='utf-8'?>
<Relationships xmlns="http://schemas.openxmlformats.org/package/2006/relationships"><Relationship Type="http://schemas.openxmlformats.org/officeDocument/2006/relationships/slide" Target="../../../slides/itmoSlide5.xml" Id="Rce5a5bb59db14287" /><Relationship Type="http://schemas.openxmlformats.org/officeDocument/2006/relationships/notesMaster" Target="../notesMasters/notesMaster1.xml" Id="Ra0af363189014a08" /></Relationships>
</file>

<file path=ppt/overlay/ppt/notesSlides/_rels/notesSlide6.xml.rels><?xml version='1.0' encoding='utf-8'?>
<Relationships xmlns="http://schemas.openxmlformats.org/package/2006/relationships"><Relationship Type="http://schemas.openxmlformats.org/officeDocument/2006/relationships/slide" Target="../../../slides/itmoSlide6.xml" Id="R17280fb19e8840de" /><Relationship Type="http://schemas.openxmlformats.org/officeDocument/2006/relationships/notesMaster" Target="../notesMasters/notesMaster1.xml" Id="Re697c9b54202401f" /></Relationships>
</file>

<file path=ppt/overlay/ppt/notesSlides/_rels/notesSlide7.xml.rels><?xml version='1.0' encoding='utf-8'?>
<Relationships xmlns="http://schemas.openxmlformats.org/package/2006/relationships"><Relationship Type="http://schemas.openxmlformats.org/officeDocument/2006/relationships/slide" Target="../../../slides/itmoSlide7.xml" Id="R19b44c1ef1b6467e" /><Relationship Type="http://schemas.openxmlformats.org/officeDocument/2006/relationships/notesMaster" Target="../notesMasters/notesMaster1.xml" Id="R7cabd3fe3f2d4bb9" /></Relationships>
</file>

<file path=ppt/overlay/ppt/notesSlides/_rels/notesSlide8.xml.rels><?xml version='1.0' encoding='utf-8'?>
<Relationships xmlns="http://schemas.openxmlformats.org/package/2006/relationships"><Relationship Type="http://schemas.openxmlformats.org/officeDocument/2006/relationships/slide" Target="../../../slides/itmoSlide8.xml" Id="R5dbb553f662c4a19" /><Relationship Type="http://schemas.openxmlformats.org/officeDocument/2006/relationships/notesMaster" Target="../notesMasters/notesMaster1.xml" Id="Rd7b74af38a8a4cc8" /></Relationships>
</file>

<file path=ppt/overlay/ppt/notesSlides/_rels/notesSlide9.xml.rels><?xml version='1.0' encoding='utf-8'?>
<Relationships xmlns="http://schemas.openxmlformats.org/package/2006/relationships"><Relationship Type="http://schemas.openxmlformats.org/officeDocument/2006/relationships/slide" Target="../../../slides/itmoSlide9.xml" Id="Ra9345336006c47fe" /><Relationship Type="http://schemas.openxmlformats.org/officeDocument/2006/relationships/notesMaster" Target="../notesMasters/notesMaster1.xml" Id="R16ec57856f1b4ec7" /></Relationships>
</file>

<file path=ppt/overlay/ppt/notesSlides/_rels/notesSlide10.xml.rels><?xml version='1.0' encoding='utf-8'?>
<Relationships xmlns="http://schemas.openxmlformats.org/package/2006/relationships"><Relationship Type="http://schemas.openxmlformats.org/officeDocument/2006/relationships/slide" Target="../../../slides/itmoSlide10.xml" Id="Ra2aa58c9879f46a7" /><Relationship Type="http://schemas.openxmlformats.org/officeDocument/2006/relationships/notesMaster" Target="../notesMasters/notesMaster1.xml" Id="R5fa9902e04ea44d1" /></Relationships>
</file>

<file path=ppt/overlay/ppt/notesSlides/_rels/notesSlide11.xml.rels><?xml version='1.0' encoding='utf-8'?>
<Relationships xmlns="http://schemas.openxmlformats.org/package/2006/relationships"><Relationship Type="http://schemas.openxmlformats.org/officeDocument/2006/relationships/slide" Target="../../../slides/itmoSlide11.xml" Id="R72e1e4e177414042" /><Relationship Type="http://schemas.openxmlformats.org/officeDocument/2006/relationships/notesMaster" Target="../notesMasters/notesMaster1.xml" Id="R81099377638d4643" /></Relationships>
</file>

<file path=ppt/overlay/ppt/notesSlides/_rels/notesSlide12.xml.rels><?xml version='1.0' encoding='utf-8'?>
<Relationships xmlns="http://schemas.openxmlformats.org/package/2006/relationships"><Relationship Type="http://schemas.openxmlformats.org/officeDocument/2006/relationships/slide" Target="../../../slides/itmoSlide12.xml" Id="R9f2703e7c25c4c28" /><Relationship Type="http://schemas.openxmlformats.org/officeDocument/2006/relationships/notesMaster" Target="../notesMasters/notesMaster1.xml" Id="R92d1f943ba584a06" /></Relationships>
</file>

<file path=ppt/overlay/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Здравствуйте! Мы представляем функциональную модель сервиса поиска и возврата потерянных животных и вещей. Работу выполнили Фадеев Данил Вячеславович, Мосин Александр Павлович и Гурылев Денис Артемович, группа K3239.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Сервис поиска и возврата животных и вещей. Авторы: Фадеев Данил Вячеславович, Мосин Александр Павлович, Гурылев Денис Артемович. Группа K3239. Преподаватель Говорова Марина Михайловна.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Предметная область проекта — поиск пропавших животных и потерянных вещей. Сведения о пропажах и находках разрознены, поэтому владельцу и нашедшему бывает сложно найти друг друга.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Пользователь размещает объявление, ищет подходящие варианты и связывается с другим участником. Один человек может быть потерявшим и нашедшим. Модератор или администратор рассматривает жалобы и принимает решения по нарушениям. Участники самостоятельно договариваются о возврате.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Сведения о пропавших и найденных животных и вещах разрознены. Пользователи публикуют объявления, ищут совпадения и связываются друг с другом. Один человек может быть потерявшим и нашедшим. Модератор проверяет объявления и жалобы. Возврат животного или вещи происходит по договорённости участников вне АИС.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Цель — спроектировать функциональную модель АИС «Сервис поиска и возврата потерянных животных и вещей». Она должна показать основные процессы, входные и выходные данные и их связь с накопителями. Результат этого этапа — описание функционального поведения системы.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Цель проекта — спроектировать функциональную модель АИС «Сервис поиска и возврата животных и вещей», отражающую основные процессы, входные и выходные данные и их взаимодействие.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выделили семь задач по этапам задания. Сначала определили назначение системы, основной процесс и внешние сущности. Затем выделили потоки данных и построили контекстную диаграмму A−0.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После этого проанализировали события, составили матрицу и раскрыли систему на A0. Для детализации выбрали управление пользователями и представили его подпроцессы на A1.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Семь этапов из полного задания ЛР-1: назначение ИС, основной процесс и внешние сущности, внешние потоки, A−0, анализ событий и матрица, A0, детализация одного процесса. Источник: https://docs.google.com/document/d/18c8riU2zEFsQlzyrH5qqtZyxtQ6p3vyp/edit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описания системы использовали диаграммы потоков данных DFD и обозначения Gane–Sarson. Процесс обрабатывает данные, внешняя сущность передаёт или получает их, накопитель хранит информацию. Подписанные стрелки обозначают потоки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Инструмент для построения схем — Figma, для презентации результатов — PowerPoint. Накопители обозначают логические наборы данных. Девять накопителей не определяют число физических баз данных или таблиц.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Диаграммы потоков данных DFD, обозначения Gane–Sarson. Процесс, внешняя сущность, поток данных и логический накопитель. Figma — инструмент визуального построения схем, PowerPoint — презентация результатов. Число накопителей не задаёт количество физических баз данных или таблиц.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Матрица связывает событие с его источником, процессом, входными и выходными данными. Первая часть охватывает управление пользователями, объявлениями и поиск.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регистрации или входе пользователь передаёт учётные данные. Управление пользователями использует D1, сохраняет профиль и роль при регистрации и возвращает сессию.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подаче объявления система сохраняет данные объявления в D2, фотографии в D3 и координаты в D4. Пользователь получает статус объявления, а новое объявление передаётся на сопоставление. Поисковый запрос обрабатывается с использованием данных объявлений, фотографий и мест.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Каждая строка связывает событие, его источник, процесс, входные и выходные данные. Потоки и накопители указаны по исходной A0.</a:t>
            </a:r>
          </a:p>
          <a:p xmlns:a="http://schemas.openxmlformats.org/drawingml/2006/main">
            <a:r>
              <a:t>Регистрация</a:t>
            </a:r>
          </a:p>
          <a:p xmlns:a="http://schemas.openxmlformats.org/drawingml/2006/main">
            <a:r>
              <a:t>или вход | Пользователь | 1. Управлять</a:t>
            </a:r>
          </a:p>
          <a:p xmlns:a="http://schemas.openxmlformats.org/drawingml/2006/main">
            <a:r>
              <a:t>пользователями | Учётные данные;</a:t>
            </a:r>
          </a:p>
          <a:p xmlns:a="http://schemas.openxmlformats.org/drawingml/2006/main">
            <a:r>
              <a:t>данные D1 | Сессия пользователю;</a:t>
            </a:r>
          </a:p>
          <a:p xmlns:a="http://schemas.openxmlformats.org/drawingml/2006/main">
            <a:r>
              <a:t>профиль и роль → D1</a:t>
            </a:r>
          </a:p>
          <a:p xmlns:a="http://schemas.openxmlformats.org/drawingml/2006/main">
            <a:r>
              <a:t>Подача</a:t>
            </a:r>
          </a:p>
          <a:p xmlns:a="http://schemas.openxmlformats.org/drawingml/2006/main">
            <a:r>
              <a:t>объявления | Пользователь | 2. Управлять</a:t>
            </a:r>
          </a:p>
          <a:p xmlns:a="http://schemas.openxmlformats.org/drawingml/2006/main">
            <a:r>
              <a:t>объявлениями | Данные объявления,</a:t>
            </a:r>
          </a:p>
          <a:p xmlns:a="http://schemas.openxmlformats.org/drawingml/2006/main">
            <a:r>
              <a:t>фото, координаты | Статус объявления;</a:t>
            </a:r>
          </a:p>
          <a:p xmlns:a="http://schemas.openxmlformats.org/drawingml/2006/main">
            <a:r>
              <a:t>запись D2, D3, D4;</a:t>
            </a:r>
          </a:p>
          <a:p xmlns:a="http://schemas.openxmlformats.org/drawingml/2006/main">
            <a:r>
              <a:t>новое объявление → 4</a:t>
            </a:r>
          </a:p>
          <a:p xmlns:a="http://schemas.openxmlformats.org/drawingml/2006/main">
            <a:r>
              <a:t>Поисковый</a:t>
            </a:r>
          </a:p>
          <a:p xmlns:a="http://schemas.openxmlformats.org/drawingml/2006/main">
            <a:r>
              <a:t>запрос | Пользователь | 3. Искать</a:t>
            </a:r>
          </a:p>
          <a:p xmlns:a="http://schemas.openxmlformats.org/drawingml/2006/main">
            <a:r>
              <a:t>и фильтровать</a:t>
            </a:r>
          </a:p>
          <a:p xmlns:a="http://schemas.openxmlformats.org/drawingml/2006/main">
            <a:r>
              <a:t>объявления | Поисковый запрос;</a:t>
            </a:r>
          </a:p>
          <a:p xmlns:a="http://schemas.openxmlformats.org/drawingml/2006/main">
            <a:r>
              <a:t>объявления, фото;</a:t>
            </a:r>
          </a:p>
          <a:p xmlns:a="http://schemas.openxmlformats.org/drawingml/2006/main">
            <a:r>
              <a:t>данные D2–D4 | Результаты поиска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 второй части представлены сопоставление, взаимодействие и модерация. Сопоставление получает новое объявление и объявления из D2. Оно сохраняет совпадение в D5 и передаёт его процессу взаимодействия.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Взаимодействие получает сообщение или контакт от пользователя, совпадение и контакты из D1. Оно сохраняет сообщения в D6 и уведомления в D7 и передаёт уведомления и сообщения пользователю.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Модерация получает жалобу и решения модератора. Жалобы сохраняются в D8, блокировки — в D9. Жалобы и объявления на проверку передаются модератору или администратору.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Каждая строка связывает событие, его источник, процесс, входные и выходные данные. Потоки и накопители указаны по исходной A0.</a:t>
            </a:r>
          </a:p>
          <a:p xmlns:a="http://schemas.openxmlformats.org/drawingml/2006/main">
            <a:r>
              <a:t>Новое</a:t>
            </a:r>
          </a:p>
          <a:p xmlns:a="http://schemas.openxmlformats.org/drawingml/2006/main">
            <a:r>
              <a:t>объявление | Процесс 2 | 4. Сопоставлять</a:t>
            </a:r>
          </a:p>
          <a:p xmlns:a="http://schemas.openxmlformats.org/drawingml/2006/main">
            <a:r>
              <a:t>объявления | Новое объявление;</a:t>
            </a:r>
          </a:p>
          <a:p xmlns:a="http://schemas.openxmlformats.org/drawingml/2006/main">
            <a:r>
              <a:t>объявления из D2 | Совпадение → D5;</a:t>
            </a:r>
          </a:p>
          <a:p xmlns:a="http://schemas.openxmlformats.org/drawingml/2006/main">
            <a:r>
              <a:t>совпадение → 5</a:t>
            </a:r>
          </a:p>
          <a:p xmlns:a="http://schemas.openxmlformats.org/drawingml/2006/main">
            <a:r>
              <a:t>Сообщение,</a:t>
            </a:r>
          </a:p>
          <a:p xmlns:a="http://schemas.openxmlformats.org/drawingml/2006/main">
            <a:r>
              <a:t>запрос контакта;</a:t>
            </a:r>
          </a:p>
          <a:p xmlns:a="http://schemas.openxmlformats.org/drawingml/2006/main">
            <a:r>
              <a:t>совпадение | Пользователь,</a:t>
            </a:r>
          </a:p>
          <a:p xmlns:a="http://schemas.openxmlformats.org/drawingml/2006/main">
            <a:r>
              <a:t>процесс 4 | 5. Организовывать</a:t>
            </a:r>
          </a:p>
          <a:p xmlns:a="http://schemas.openxmlformats.org/drawingml/2006/main">
            <a:r>
              <a:t>взаимодействие | Сообщение, контакт;</a:t>
            </a:r>
          </a:p>
          <a:p xmlns:a="http://schemas.openxmlformats.org/drawingml/2006/main">
            <a:r>
              <a:t>совпадение;</a:t>
            </a:r>
          </a:p>
          <a:p xmlns:a="http://schemas.openxmlformats.org/drawingml/2006/main">
            <a:r>
              <a:t>контакты из D1 | Уведомления и сообщения</a:t>
            </a:r>
          </a:p>
          <a:p xmlns:a="http://schemas.openxmlformats.org/drawingml/2006/main">
            <a:r>
              <a:t>пользователю;</a:t>
            </a:r>
          </a:p>
          <a:p xmlns:a="http://schemas.openxmlformats.org/drawingml/2006/main">
            <a:r>
              <a:t>запись D6 и D7</a:t>
            </a:r>
          </a:p>
          <a:p xmlns:a="http://schemas.openxmlformats.org/drawingml/2006/main">
            <a:r>
              <a:t>Жалоба;</a:t>
            </a:r>
          </a:p>
          <a:p xmlns:a="http://schemas.openxmlformats.org/drawingml/2006/main">
            <a:r>
              <a:t>решение</a:t>
            </a:r>
          </a:p>
          <a:p xmlns:a="http://schemas.openxmlformats.org/drawingml/2006/main">
            <a:r>
              <a:t>модератора | Пользователь,</a:t>
            </a:r>
          </a:p>
          <a:p xmlns:a="http://schemas.openxmlformats.org/drawingml/2006/main">
            <a:r>
              <a:t>модератор | 6. Обеспечивать</a:t>
            </a:r>
          </a:p>
          <a:p xmlns:a="http://schemas.openxmlformats.org/drawingml/2006/main">
            <a:r>
              <a:t>модерацию</a:t>
            </a:r>
          </a:p>
          <a:p xmlns:a="http://schemas.openxmlformats.org/drawingml/2006/main">
            <a:r>
              <a:t>и безопасность | Жалоба;</a:t>
            </a:r>
          </a:p>
          <a:p xmlns:a="http://schemas.openxmlformats.org/drawingml/2006/main">
            <a:r>
              <a:t>решения по жалобам,</a:t>
            </a:r>
          </a:p>
          <a:p xmlns:a="http://schemas.openxmlformats.org/drawingml/2006/main">
            <a:r>
              <a:t>блокировки | Жалобы, объявления</a:t>
            </a:r>
          </a:p>
          <a:p xmlns:a="http://schemas.openxmlformats.org/drawingml/2006/main">
            <a:r>
              <a:t>на проверку → модератору;</a:t>
            </a:r>
          </a:p>
          <a:p xmlns:a="http://schemas.openxmlformats.org/drawingml/2006/main">
            <a:r>
              <a:t>запись D8, D9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A−0 вся система представлена одним процессом. Внешние сущности — пользователь и модератор или администратор. Два изображения пользователя обозначают одну сущность.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Пользователь передаёт данные регистрации и профиля, сведения об объявлениях, фотографии и местоположение, поисковые запросы, сообщения и жалобы. На выходе показаны объявления и их статусы, результаты поиска, уведомления, сообщения, контакты и ответы по обращениям. Модератор получает материалы проверки и возвращает решения по жалобам и блокировкам.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Исходная контекстная диаграмма: система поиска и возврата потерянных и найденных животных и вещей. Внешние сущности — Пользователь и Модератор / администратор. Повторное изображение пользователя обозначает одну сущность. На этом уровне потоки сгруппированы, внутренние накопители не показаны.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A0 показаны шесть процессов: управление пользователями и объявлениями, поиск, сопоставление, взаимодействие, модерация и безопасность.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Девять накопителей содержат сведения о пользователях, объявлениях, фотографиях, местах, совпадениях, сообщениях, уведомлениях, жалобах и блокировках. Матрица событий описывает показанные здесь потоки. Совпадение помогает найти подходящую находку; принадлежность животного или вещи уточняют сами участники.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Исходная A0 целиком. Шесть процессов, девять логических накопителей. Управление пользователями: учётные данные, профиль и роль, сессия. Управление объявлениями: объявление, фото и координаты. Поиск читает данные объявлений, сопоставление получает новое объявление и сведения из D2. Взаимодействие получает совпадение, сообщение/контакт и контакты из D1, сохраняет сообщения и уведомления. Модерация получает жалобу и решения модератора, записывает D8 и D9.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Процесс управления пользователями раскрыт на четыре подпроцесса. Первый принимает и проверяет учётные данные. Дальше данные направляются на регистрацию или аутентификацию.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Регистрация сохраняет профиль и роль в D1 и передаёт данные нового пользователя. Аутентификация читает учётные данные из D1 и формирует результат проверки. Последний подпроцесс получает данные нового пользователя или результат аутентификации, формирует сессию и возвращает её данные пользователю. Два изображения D1 обозначают один накопитель.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Исходная A1 без изменения содержания. 1.1 принимает и проверяет учётные данные. 1.2 регистрирует пользователя, сохраняет профиль и роль в D1 и передаёт данные нового пользователя. 1.3 аутентифицирует пользователя с использованием учётных данных из D1. 1.4 формирует сессию по данным нового пользователя или результату аутентификации. Пользователь получает данные сессии. D1 повторён для чтения и записи.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представили функциональную модель сервиса поиска и возврата животных и вещей. Определили назначение и участников, составили матрицу событий и представили A−0, A0 и A1.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A0 выделены шесть процессов и девять логических накопителей. Управление пользователями раскрыто на четыре подпроцесса. Модель позволяет обсудить функции системы и данные, которые требуются для их выполнения.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спроектировали функциональную модель АИС поиска и возврата потерянных животных и вещей. Определили назначение, границы и участников. Составили матрицу событий и построили A−0, A0 и A1. На A0 выделили шесть процессов и девять логических накопителей, на A1 раскрыли управление пользователями на четыре подпроцесса. Матрица событий описывает потоки, показанные на исходной A0.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Спасибо за внимание! Готовы ответить на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Спасибо за внимание. Ответы на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Задание:</a:t>
            </a:r>
          </a:p>
          <a:p xmlns:a="http://schemas.openxmlformats.org/drawingml/2006/main">
            <a:r>
              <a:t>https://docs.google.com/document/d/18c8riU2zEFsQlzyrH5qqtZyxtQ6p3vyp/edit</a:t>
            </a:r>
          </a:p>
          <a:p xmlns:a="http://schemas.openxmlformats.org/drawingml/2006/main">
            <a:r>
              <a:t>Документация DFD:</a:t>
            </a:r>
          </a:p>
          <a:p xmlns:a="http://schemas.openxmlformats.org/drawingml/2006/main">
            <a:r>
              <a:t>https://docs.google.com/document/d/1qE-Dbf-1pub9TeAnGHLnhSrpdSB-ZXfH/edit</a:t>
            </a:r>
          </a:p>
          <a:p xmlns:a="http://schemas.openxmlformats.org/drawingml/2006/main">
            <a:r>
              <a:t>https://www.visual-paradigm.com/guide/data-flow-diagram/what-is-data-flow-diagram/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overlay/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overlay/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cfe2a18fca4fc2"/>
  </p:sldMasterIdLst>
  <p:notesMasterIdLst>
    <p:notesMasterId xmlns:r="http://schemas.openxmlformats.org/officeDocument/2006/relationships" r:id="Rc289d361ff30402d"/>
  </p:notesMasterIdLst>
  <p:sldIdLst>
    <p:sldId xmlns:r="http://schemas.openxmlformats.org/officeDocument/2006/relationships" id="256" r:id="R092f2a29e67445cb"/>
    <p:sldId xmlns:r="http://schemas.openxmlformats.org/officeDocument/2006/relationships" id="257" r:id="R62bda44394b44920"/>
    <p:sldId xmlns:r="http://schemas.openxmlformats.org/officeDocument/2006/relationships" id="258" r:id="Rdd78415d10c9413a"/>
    <p:sldId xmlns:r="http://schemas.openxmlformats.org/officeDocument/2006/relationships" id="259" r:id="Rabdf6bf820fb46ac"/>
    <p:sldId xmlns:r="http://schemas.openxmlformats.org/officeDocument/2006/relationships" id="260" r:id="R66bc731f6a424008"/>
    <p:sldId xmlns:r="http://schemas.openxmlformats.org/officeDocument/2006/relationships" id="261" r:id="R06f3c4bca6e848ad"/>
    <p:sldId xmlns:r="http://schemas.openxmlformats.org/officeDocument/2006/relationships" id="262" r:id="Rd4fc1db72eb44918"/>
    <p:sldId xmlns:r="http://schemas.openxmlformats.org/officeDocument/2006/relationships" id="263" r:id="R57ee7d31a3174d69"/>
    <p:sldId xmlns:r="http://schemas.openxmlformats.org/officeDocument/2006/relationships" id="264" r:id="Rb465b257bfa24eee"/>
    <p:sldId xmlns:r="http://schemas.openxmlformats.org/officeDocument/2006/relationships" id="265" r:id="R3401a01e315d4a1d"/>
    <p:sldId xmlns:r="http://schemas.openxmlformats.org/officeDocument/2006/relationships" id="266" r:id="R7b6f94471e534083"/>
    <p:sldId xmlns:r="http://schemas.openxmlformats.org/officeDocument/2006/relationships" id="267" r:id="R74d9eb33d01a4757"/>
  </p:sldIdLst>
  <p:sldSz cx="9144000" cy="5143500"/>
  <p:notesSz cx="6858000" cy="9144000"/>
</p:presentation>
</file>

<file path=ppt/overlay/ppt/slideLayouts/_rels/slideLayout1.xml.rels><?xml version='1.0' encoding='utf-8'?>
<Relationships xmlns="http://schemas.openxmlformats.org/package/2006/relationships"><Relationship Type="http://schemas.openxmlformats.org/officeDocument/2006/relationships/slideMaster" Target="../slideMasters/slideMaster1.xml" Id="R8fa85c954c8f4482" /></Relationships>
</file>

<file path=ppt/overlay/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overlay/ppt/slideMasters/_rels/slideMaster1.xml.rels><?xml version='1.0' encoding='utf-8'?>
<Relationships xmlns="http://schemas.openxmlformats.org/package/2006/relationships"><Relationship Type="http://schemas.openxmlformats.org/officeDocument/2006/relationships/theme" Target="theme/theme2.xml" Id="Re970167338f441a8" /><Relationship Type="http://schemas.openxmlformats.org/officeDocument/2006/relationships/slideLayout" Target="../slideLayouts/slideLayout1.xml" Id="R2f228cf93d1c44c0" /></Relationships>
</file>

<file path=ppt/overlay/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228cf93d1c44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overlay/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overlay/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3660383182bf42aa" /><Relationship Type="http://schemas.openxmlformats.org/officeDocument/2006/relationships/notesSlide" Target="../notesSlides/notesSlide1.xml" Id="Rdfd40f1956554f49" /></Relationships>
</file>

<file path=ppt/overlay/ppt/slides/_rels/slide2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fa669fe86aa64875" /><Relationship Type="http://schemas.openxmlformats.org/officeDocument/2006/relationships/notesSlide" Target="../notesSlides/notesSlide2.xml" Id="R8552feac3b39448d" /></Relationships>
</file>

<file path=ppt/overlay/ppt/slides/_rels/slide3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d3999eb0553b4737" /><Relationship Type="http://schemas.openxmlformats.org/officeDocument/2006/relationships/notesSlide" Target="../notesSlides/notesSlide3.xml" Id="R4d26e42cfe79414c" /></Relationships>
</file>

<file path=ppt/overlay/ppt/slides/_rels/slide4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7d0f9b356a354fad" /><Relationship Type="http://schemas.openxmlformats.org/officeDocument/2006/relationships/notesSlide" Target="../notesSlides/notesSlide4.xml" Id="R68d264be83474c2a" /></Relationships>
</file>

<file path=ppt/overlay/ppt/slides/_rels/slide5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f87fbd72cf184c05" /><Relationship Type="http://schemas.openxmlformats.org/officeDocument/2006/relationships/notesSlide" Target="../notesSlides/notesSlide5.xml" Id="R56cbb4c784b2467f" /></Relationships>
</file>

<file path=ppt/overlay/ppt/slides/_rels/slide6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346a75799cf24594" /><Relationship Type="http://schemas.openxmlformats.org/officeDocument/2006/relationships/notesSlide" Target="../notesSlides/notesSlide6.xml" Id="Rd60ec400b4624706" /></Relationships>
</file>

<file path=ppt/overlay/ppt/slides/_rels/slide7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a5a49ac7734644fa" /><Relationship Type="http://schemas.openxmlformats.org/officeDocument/2006/relationships/notesSlide" Target="../notesSlides/notesSlide7.xml" Id="Reb3272d9d6574469" /></Relationships>
</file>

<file path=ppt/overlay/ppt/slides/_rels/slide8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2ea84a7a947e4df8" /><Relationship Type="http://schemas.openxmlformats.org/officeDocument/2006/relationships/image" Target="../media/image.png" Id="R51f09a8b92d24301" /><Relationship Type="http://schemas.openxmlformats.org/officeDocument/2006/relationships/notesSlide" Target="../notesSlides/notesSlide8.xml" Id="Rd229c200967d4aa2" /></Relationships>
</file>

<file path=ppt/overlay/ppt/slides/_rels/slide9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71734ee0cec04353" /><Relationship Type="http://schemas.openxmlformats.org/officeDocument/2006/relationships/image" Target="../media/image2.png" Id="R7f5d31e8d2a54abc" /><Relationship Type="http://schemas.openxmlformats.org/officeDocument/2006/relationships/notesSlide" Target="../notesSlides/notesSlide9.xml" Id="R9a4253ed79084b9c" /></Relationships>
</file>

<file path=ppt/overlay/ppt/slides/_rels/slide10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9239701ac7994825" /><Relationship Type="http://schemas.openxmlformats.org/officeDocument/2006/relationships/image" Target="../media/image3.png" Id="R510ea810a1634ddf" /><Relationship Type="http://schemas.openxmlformats.org/officeDocument/2006/relationships/notesSlide" Target="../notesSlides/notesSlide10.xml" Id="R92134350d149470d" /></Relationships>
</file>

<file path=ppt/overlay/ppt/slides/_rels/slide11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e23f1ab15e464fac" /><Relationship Type="http://schemas.openxmlformats.org/officeDocument/2006/relationships/notesSlide" Target="../notesSlides/notesSlide11.xml" Id="R1d416d3ad24b42e1" /></Relationships>
</file>

<file path=ppt/overlay/ppt/slides/_rels/slide12.xml.rels><?xml version='1.0' encoding='utf-8'?>
<Relationships xmlns="http://schemas.openxmlformats.org/package/2006/relationships"><Relationship Type="http://schemas.openxmlformats.org/officeDocument/2006/relationships/slideLayout" Target="../slideLayouts/slideLayout1.xml" Id="R33e6dec92e934899" /><Relationship Type="http://schemas.openxmlformats.org/officeDocument/2006/relationships/notesSlide" Target="../notesSlides/notesSlide12.xml" Id="R7da9457ec8544764" /></Relationships>
</file>

<file path=ppt/overlay/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XT1">
            <a:extLst xmlns:a="http://schemas.openxmlformats.org/drawingml/2006/main">
              <a:ext uri="{FF2B5EF4-FFF2-40B4-BE49-F238E27FC236}">
                <a16:creationId xmlns:a16="http://schemas.microsoft.com/office/drawing/2014/main" id="{C5BAE693-02A5-4B31-BB5A-404E6038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7143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Поиск и возврат</a:t>
            </a:r>
          </a:p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потерянных животных и вещей</a:t>
            </a:r>
          </a:p>
        </p:txBody>
      </p:sp>
      <p:sp>
        <p:nvSpPr>
          <p:cNvPr id="2" name="TXT2">
            <a:extLst xmlns:a="http://schemas.openxmlformats.org/drawingml/2006/main">
              <a:ext uri="{FF2B5EF4-FFF2-40B4-BE49-F238E27FC236}">
                <a16:creationId xmlns:a16="http://schemas.microsoft.com/office/drawing/2014/main" id="{BFF205D6-AE6A-4468-84EB-9471B8B4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76600"/>
            <a:ext cx="714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Функциональная модель АИС</a:t>
            </a:r>
          </a:p>
        </p:txBody>
      </p:sp>
      <p:sp>
        <p:nvSpPr>
          <p:cNvPr id="3" name="TXT3">
            <a:extLst xmlns:a="http://schemas.openxmlformats.org/drawingml/2006/main">
              <a:ext uri="{FF2B5EF4-FFF2-40B4-BE49-F238E27FC236}">
                <a16:creationId xmlns:a16="http://schemas.microsoft.com/office/drawing/2014/main" id="{74EDBF4A-DE08-42AD-8450-D2B3DB43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Фадеев Данил Вячеславович, Мосин Александр Павлович,</a:t>
            </a:r>
          </a:p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Гурылев Денис Артемович</a:t>
            </a:r>
          </a:p>
        </p:txBody>
      </p:sp>
      <p:sp>
        <p:nvSpPr>
          <p:cNvPr id="4" name="TXT4">
            <a:extLst xmlns:a="http://schemas.openxmlformats.org/drawingml/2006/main">
              <a:ext uri="{FF2B5EF4-FFF2-40B4-BE49-F238E27FC236}">
                <a16:creationId xmlns:a16="http://schemas.microsoft.com/office/drawing/2014/main" id="{2D74F88E-67C5-44B5-A8F4-BA067270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7672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Группа: K3239</a:t>
            </a:r>
          </a:p>
          <a:p xmlns:a="http://schemas.openxmlformats.org/drawingml/2006/main"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Преподаватель: Говорова Марина Михайловна</a:t>
            </a:r>
          </a:p>
        </p:txBody>
      </p:sp>
    </p:spTree>
    <p:extLst>
      <p:ext uri="{BB962C8B-B14F-4D97-AF65-F5344CB8AC3E}">
        <p14:creationId xmlns:p14="http://schemas.microsoft.com/office/powerpoint/2010/main" val="151484164"/>
      </p:ext>
    </p:extLst>
  </p:cSld>
</p:sld>
</file>

<file path=ppt/overlay/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MPLATE-DECOR-MASK-2">
            <a:extLst xmlns:a="http://schemas.openxmlformats.org/drawingml/2006/main">
              <a:ext uri="{FF2B5EF4-FFF2-40B4-BE49-F238E27FC236}">
                <a16:creationId xmlns:a16="http://schemas.microsoft.com/office/drawing/2014/main" id="{2F2C4DE0-6445-402C-9359-F1960474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095375"/>
            <a:ext cx="6000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5">
            <a:extLst xmlns:a="http://schemas.openxmlformats.org/drawingml/2006/main">
              <a:ext uri="{FF2B5EF4-FFF2-40B4-BE49-F238E27FC236}">
                <a16:creationId xmlns:a16="http://schemas.microsoft.com/office/drawing/2014/main" id="{7B241717-0AE0-489F-9DEF-025B607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162050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Предметная</a:t>
            </a:r>
          </a:p>
          <a:p xmlns:a="http://schemas.openxmlformats.org/drawingml/2006/main"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область</a:t>
            </a:r>
          </a:p>
        </p:txBody>
      </p:sp>
      <p:sp>
        <p:nvSpPr>
          <p:cNvPr id="3" name="TXT6">
            <a:extLst xmlns:a="http://schemas.openxmlformats.org/drawingml/2006/main">
              <a:ext uri="{FF2B5EF4-FFF2-40B4-BE49-F238E27FC236}">
                <a16:creationId xmlns:a16="http://schemas.microsoft.com/office/drawing/2014/main" id="{BC231308-C03E-4B8D-9E0C-56F5C5EF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09775"/>
            <a:ext cx="2905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Проблема</a:t>
            </a:r>
          </a:p>
        </p:txBody>
      </p:sp>
      <p:sp>
        <p:nvSpPr>
          <p:cNvPr id="4" name="TXT7">
            <a:extLst xmlns:a="http://schemas.openxmlformats.org/drawingml/2006/main">
              <a:ext uri="{FF2B5EF4-FFF2-40B4-BE49-F238E27FC236}">
                <a16:creationId xmlns:a16="http://schemas.microsoft.com/office/drawing/2014/main" id="{D0D84891-7740-4999-940D-5377EA97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24100"/>
            <a:ext cx="290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Сведения о пропажах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животных и вещей разрознены</a:t>
            </a:r>
          </a:p>
        </p:txBody>
      </p:sp>
      <p:sp>
        <p:nvSpPr>
          <p:cNvPr id="5" name="TXT8">
            <a:extLst xmlns:a="http://schemas.openxmlformats.org/drawingml/2006/main">
              <a:ext uri="{FF2B5EF4-FFF2-40B4-BE49-F238E27FC236}">
                <a16:creationId xmlns:a16="http://schemas.microsoft.com/office/drawing/2014/main" id="{C53E27F8-A70E-4DA2-99C9-87DFC32F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2905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Участники</a:t>
            </a:r>
          </a:p>
        </p:txBody>
      </p:sp>
      <p:sp>
        <p:nvSpPr>
          <p:cNvPr id="6" name="TXT9">
            <a:extLst xmlns:a="http://schemas.openxmlformats.org/drawingml/2006/main">
              <a:ext uri="{FF2B5EF4-FFF2-40B4-BE49-F238E27FC236}">
                <a16:creationId xmlns:a16="http://schemas.microsoft.com/office/drawing/2014/main" id="{E9AD712B-5EDD-422B-8AA0-6AF45F43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267075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Потерявший, нашедший,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модератор / администратор</a:t>
            </a:r>
          </a:p>
        </p:txBody>
      </p:sp>
      <p:sp>
        <p:nvSpPr>
          <p:cNvPr id="7" name="TXT10">
            <a:extLst xmlns:a="http://schemas.openxmlformats.org/drawingml/2006/main">
              <a:ext uri="{FF2B5EF4-FFF2-40B4-BE49-F238E27FC236}">
                <a16:creationId xmlns:a16="http://schemas.microsoft.com/office/drawing/2014/main" id="{E0C3D3F7-B594-47B7-8648-92E56695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886200"/>
            <a:ext cx="2905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Основные действия</a:t>
            </a:r>
          </a:p>
        </p:txBody>
      </p:sp>
      <p:sp>
        <p:nvSpPr>
          <p:cNvPr id="8" name="TXT11">
            <a:extLst xmlns:a="http://schemas.openxmlformats.org/drawingml/2006/main">
              <a:ext uri="{FF2B5EF4-FFF2-40B4-BE49-F238E27FC236}">
                <a16:creationId xmlns:a16="http://schemas.microsoft.com/office/drawing/2014/main" id="{26A307E9-1FE5-4B3C-AC80-187A6E90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9100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Объявления, поиск,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сопоставление и переписка</a:t>
            </a:r>
          </a:p>
        </p:txBody>
      </p:sp>
    </p:spTree>
    <p:extLst>
      <p:ext uri="{BB962C8B-B14F-4D97-AF65-F5344CB8AC3E}">
        <p14:creationId xmlns:p14="http://schemas.microsoft.com/office/powerpoint/2010/main" val="1883810503"/>
      </p:ext>
    </p:extLst>
  </p:cSld>
</p:sld>
</file>

<file path=ppt/overlay/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MPLATE-DECOR-MASK-3">
            <a:extLst xmlns:a="http://schemas.openxmlformats.org/drawingml/2006/main">
              <a:ext uri="{FF2B5EF4-FFF2-40B4-BE49-F238E27FC236}">
                <a16:creationId xmlns:a16="http://schemas.microsoft.com/office/drawing/2014/main" id="{3E953A7B-0245-4B46-918A-C8F98D1C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123950"/>
            <a:ext cx="54292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DFD"/>
          </a:solidFill>
          <a:ln xmlns:a="http://schemas.openxmlformats.org/drawingml/2006/main" w="0">
            <a:noFill/>
          </a:ln>
        </p:spPr>
      </p:sp>
      <p:sp>
        <p:nvSpPr>
          <p:cNvPr id="2" name="TXT12">
            <a:extLst xmlns:a="http://schemas.openxmlformats.org/drawingml/2006/main">
              <a:ext uri="{FF2B5EF4-FFF2-40B4-BE49-F238E27FC236}">
                <a16:creationId xmlns:a16="http://schemas.microsoft.com/office/drawing/2014/main" id="{9A7BC676-2D3A-4C58-9060-B678E031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8625"/>
            <a:ext cx="633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Цель проекта</a:t>
            </a:r>
          </a:p>
        </p:txBody>
      </p:sp>
      <p:sp>
        <p:nvSpPr>
          <p:cNvPr id="3" name="TXT13">
            <a:extLst xmlns:a="http://schemas.openxmlformats.org/drawingml/2006/main">
              <a:ext uri="{FF2B5EF4-FFF2-40B4-BE49-F238E27FC236}">
                <a16:creationId xmlns:a16="http://schemas.microsoft.com/office/drawing/2014/main" id="{00CA0024-0AC0-4392-B5BC-2336AEDE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44291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Спроектировать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функциональную модель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АИС «Сервис поиска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возврата потерянных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животных и вещей»</a:t>
            </a:r>
          </a:p>
        </p:txBody>
      </p:sp>
      <p:sp>
        <p:nvSpPr>
          <p:cNvPr id="4" name="TXT14">
            <a:extLst xmlns:a="http://schemas.openxmlformats.org/drawingml/2006/main">
              <a:ext uri="{FF2B5EF4-FFF2-40B4-BE49-F238E27FC236}">
                <a16:creationId xmlns:a16="http://schemas.microsoft.com/office/drawing/2014/main" id="{4E5BE3E8-F1B7-4182-82ED-E9708631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219200"/>
            <a:ext cx="276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Содержание модели</a:t>
            </a:r>
          </a:p>
        </p:txBody>
      </p:sp>
      <p:sp>
        <p:nvSpPr>
          <p:cNvPr id="5" name="TXT15">
            <a:extLst xmlns:a="http://schemas.openxmlformats.org/drawingml/2006/main">
              <a:ext uri="{FF2B5EF4-FFF2-40B4-BE49-F238E27FC236}">
                <a16:creationId xmlns:a16="http://schemas.microsoft.com/office/drawing/2014/main" id="{80909A87-B1F8-4057-9133-E4386FFF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038350"/>
            <a:ext cx="2686050" cy="2447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Основные процессы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системы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Входные и выходные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данные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Связи процессов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накопителей</a:t>
            </a:r>
          </a:p>
        </p:txBody>
      </p:sp>
    </p:spTree>
    <p:extLst>
      <p:ext uri="{BB962C8B-B14F-4D97-AF65-F5344CB8AC3E}">
        <p14:creationId xmlns:p14="http://schemas.microsoft.com/office/powerpoint/2010/main" val="496803017"/>
      </p:ext>
    </p:extLst>
  </p:cSld>
</p:sld>
</file>

<file path=ppt/overlay/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4">
            <a:extLst xmlns:a="http://schemas.openxmlformats.org/drawingml/2006/main">
              <a:ext uri="{FF2B5EF4-FFF2-40B4-BE49-F238E27FC236}">
                <a16:creationId xmlns:a16="http://schemas.microsoft.com/office/drawing/2014/main" id="{C61A23D1-EF39-4AA8-BCC7-4101DA62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16">
            <a:extLst xmlns:a="http://schemas.openxmlformats.org/drawingml/2006/main">
              <a:ext uri="{FF2B5EF4-FFF2-40B4-BE49-F238E27FC236}">
                <a16:creationId xmlns:a16="http://schemas.microsoft.com/office/drawing/2014/main" id="{9B814044-C06E-4DDD-A162-54E090EF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Задачи проекта</a:t>
            </a:r>
          </a:p>
        </p:txBody>
      </p:sp>
      <p:sp>
        <p:nvSpPr>
          <p:cNvPr id="3" name="TXT17">
            <a:extLst xmlns:a="http://schemas.openxmlformats.org/drawingml/2006/main">
              <a:ext uri="{FF2B5EF4-FFF2-40B4-BE49-F238E27FC236}">
                <a16:creationId xmlns:a16="http://schemas.microsoft.com/office/drawing/2014/main" id="{6D0A7D5C-CA8D-4392-BEFE-773641C1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314450"/>
            <a:ext cx="772477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1. Определить назначение АИС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2. Выделить основной процесс и внешние сущности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3. Определить входные и выходные потоки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4. Построить контекстную диаграмму A−0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5. Проанализировать события и составить матрицу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6. Построить диаграмму A0 с процессами и накопителями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7. Детализировать управление пользователями на A1</a:t>
            </a:r>
          </a:p>
        </p:txBody>
      </p:sp>
    </p:spTree>
    <p:extLst>
      <p:ext uri="{BB962C8B-B14F-4D97-AF65-F5344CB8AC3E}">
        <p14:creationId xmlns:p14="http://schemas.microsoft.com/office/powerpoint/2010/main" val="1958970673"/>
      </p:ext>
    </p:extLst>
  </p:cSld>
</p:sld>
</file>

<file path=ppt/overlay/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MPLATE-DECOR-MASK-5">
            <a:extLst xmlns:a="http://schemas.openxmlformats.org/drawingml/2006/main">
              <a:ext uri="{FF2B5EF4-FFF2-40B4-BE49-F238E27FC236}">
                <a16:creationId xmlns:a16="http://schemas.microsoft.com/office/drawing/2014/main" id="{A92755E6-F0BF-4611-9B31-1D6DEC42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EMPLATE-DECOR-MASK-5">
            <a:extLst xmlns:a="http://schemas.openxmlformats.org/drawingml/2006/main">
              <a:ext uri="{FF2B5EF4-FFF2-40B4-BE49-F238E27FC236}">
                <a16:creationId xmlns:a16="http://schemas.microsoft.com/office/drawing/2014/main" id="{DD8E4527-AE79-4789-AAEA-402B8E7A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4098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" name="TXT18">
            <a:extLst xmlns:a="http://schemas.openxmlformats.org/drawingml/2006/main">
              <a:ext uri="{FF2B5EF4-FFF2-40B4-BE49-F238E27FC236}">
                <a16:creationId xmlns:a16="http://schemas.microsoft.com/office/drawing/2014/main" id="{60F557B8-3D48-4594-B109-0F503F51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Методология и инструменты</a:t>
            </a:r>
          </a:p>
        </p:txBody>
      </p:sp>
      <p:sp>
        <p:nvSpPr>
          <p:cNvPr id="4" name="TXT19">
            <a:extLst xmlns:a="http://schemas.openxmlformats.org/drawingml/2006/main">
              <a:ext uri="{FF2B5EF4-FFF2-40B4-BE49-F238E27FC236}">
                <a16:creationId xmlns:a16="http://schemas.microsoft.com/office/drawing/2014/main" id="{86124DA9-7BBA-47CE-B9E5-6E0188C1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3381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Методология</a:t>
            </a:r>
          </a:p>
        </p:txBody>
      </p:sp>
      <p:sp>
        <p:nvSpPr>
          <p:cNvPr id="5" name="TXT20">
            <a:extLst xmlns:a="http://schemas.openxmlformats.org/drawingml/2006/main">
              <a:ext uri="{FF2B5EF4-FFF2-40B4-BE49-F238E27FC236}">
                <a16:creationId xmlns:a16="http://schemas.microsoft.com/office/drawing/2014/main" id="{5851C630-4F25-4E0C-812E-FB6C7C66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3718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DFD, Gane–Sarson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Уровни A−0, A0, 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Процессы, сущности,</a:t>
            </a:r>
          </a:p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потоки и накопители</a:t>
            </a:r>
          </a:p>
        </p:txBody>
      </p:sp>
      <p:sp>
        <p:nvSpPr>
          <p:cNvPr id="6" name="TXT21">
            <a:extLst xmlns:a="http://schemas.openxmlformats.org/drawingml/2006/main">
              <a:ext uri="{FF2B5EF4-FFF2-40B4-BE49-F238E27FC236}">
                <a16:creationId xmlns:a16="http://schemas.microsoft.com/office/drawing/2014/main" id="{0B78036D-4053-4104-876C-5E80EF63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24125"/>
            <a:ext cx="328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Инструменты</a:t>
            </a:r>
          </a:p>
        </p:txBody>
      </p:sp>
      <p:sp>
        <p:nvSpPr>
          <p:cNvPr id="7" name="TXT22">
            <a:extLst xmlns:a="http://schemas.openxmlformats.org/drawingml/2006/main">
              <a:ext uri="{FF2B5EF4-FFF2-40B4-BE49-F238E27FC236}">
                <a16:creationId xmlns:a16="http://schemas.microsoft.com/office/drawing/2014/main" id="{19DE89B6-2C6A-4B10-A45C-F80F9E46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48000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Figma</a:t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Построение схем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PowerPoint</a:t>
            </a:r>
          </a:p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Презентация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190986180"/>
      </p:ext>
    </p:extLst>
  </p:cSld>
</p:sld>
</file>

<file path=ppt/overlay/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MPLATE-DECOR-MASK-6">
            <a:extLst xmlns:a="http://schemas.openxmlformats.org/drawingml/2006/main">
              <a:ext uri="{FF2B5EF4-FFF2-40B4-BE49-F238E27FC236}">
                <a16:creationId xmlns:a16="http://schemas.microsoft.com/office/drawing/2014/main" id="{B5CFDCC0-CA46-4847-A4BD-9CF974F1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3">
            <a:extLst xmlns:a="http://schemas.openxmlformats.org/drawingml/2006/main">
              <a:ext uri="{FF2B5EF4-FFF2-40B4-BE49-F238E27FC236}">
                <a16:creationId xmlns:a16="http://schemas.microsoft.com/office/drawing/2014/main" id="{AAB17ED9-287F-4A45-8344-9A64B708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1–3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14350" y="1219200"/>
          <a:ext xmlns:a="http://schemas.openxmlformats.org/drawingml/2006/main" cx="81153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Регистрация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или вход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1.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пользователями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Учётные данные;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Сессия пользователю;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профиль и роль → 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Подача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2.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объявлениями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объявления,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фото, координаты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Статус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D2, D3, D4;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объявление →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Поисковый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3. Искать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фильтровать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Поисковый запрос;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объявления, фото;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D2–D4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Результаты поиска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XT24">
            <a:extLst xmlns:a="http://schemas.openxmlformats.org/drawingml/2006/main">
              <a:ext uri="{FF2B5EF4-FFF2-40B4-BE49-F238E27FC236}">
                <a16:creationId xmlns:a16="http://schemas.microsoft.com/office/drawing/2014/main" id="{29E6E44C-9E8B-4C00-BB9C-109A6FEB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80676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p14:creationId xmlns:p14="http://schemas.microsoft.com/office/powerpoint/2010/main" val="914972049"/>
      </p:ext>
    </p:extLst>
  </p:cSld>
</p:sld>
</file>

<file path=ppt/overlay/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MPLATE-DECOR-MASK-7">
            <a:extLst xmlns:a="http://schemas.openxmlformats.org/drawingml/2006/main">
              <a:ext uri="{FF2B5EF4-FFF2-40B4-BE49-F238E27FC236}">
                <a16:creationId xmlns:a16="http://schemas.microsoft.com/office/drawing/2014/main" id="{95A7AB88-78C5-43B1-9DBD-DE97726B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5">
            <a:extLst xmlns:a="http://schemas.openxmlformats.org/drawingml/2006/main">
              <a:ext uri="{FF2B5EF4-FFF2-40B4-BE49-F238E27FC236}">
                <a16:creationId xmlns:a16="http://schemas.microsoft.com/office/drawing/2014/main" id="{4E24CEFD-A1AF-42F6-8E6E-039ECD5F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4–6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14350" y="1219200"/>
          <a:ext xmlns:a="http://schemas.openxmlformats.org/drawingml/2006/main" cx="81153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4. Сопоставлять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объявление;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 из D2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 → D5;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 → 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Сообщение,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 контакта;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5. Организовывать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взаимодействие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Сообщение, контакт;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контакты из D1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Уведомления и сообщения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пользователю;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D6 и D7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Жалоба;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модератора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модератор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6. Обеспечивать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модерацию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безопасность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Жалоба;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решения по жалобам,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блокировки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Жалобы, объявления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проверку → модератору;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D8, D9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XT26">
            <a:extLst xmlns:a="http://schemas.openxmlformats.org/drawingml/2006/main">
              <a:ext uri="{FF2B5EF4-FFF2-40B4-BE49-F238E27FC236}">
                <a16:creationId xmlns:a16="http://schemas.microsoft.com/office/drawing/2014/main" id="{0351D8B7-0D1D-4DDC-88F4-4F30D94D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80676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p14:creationId xmlns:p14="http://schemas.microsoft.com/office/powerpoint/2010/main" val="1745010347"/>
      </p:ext>
    </p:extLst>
  </p:cSld>
</p:sld>
</file>

<file path=ppt/overlay/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8">
            <a:extLst xmlns:a="http://schemas.openxmlformats.org/drawingml/2006/main">
              <a:ext uri="{FF2B5EF4-FFF2-40B4-BE49-F238E27FC236}">
                <a16:creationId xmlns:a16="http://schemas.microsoft.com/office/drawing/2014/main" id="{9BFA6F0C-2779-4D93-A20C-9BD22436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7">
            <a:extLst xmlns:a="http://schemas.openxmlformats.org/drawingml/2006/main">
              <a:ext uri="{FF2B5EF4-FFF2-40B4-BE49-F238E27FC236}">
                <a16:creationId xmlns:a16="http://schemas.microsoft.com/office/drawing/2014/main" id="{FE35D4AA-166B-48CA-A0F6-2E3A04EF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A−0 · границы системы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09a8b92d24301"/>
          <a:stretch xmlns:a="http://schemas.openxmlformats.org/drawingml/2006/main"/>
        </p:blipFill>
        <p:spPr>
          <a:xfrm xmlns:a="http://schemas.openxmlformats.org/drawingml/2006/main">
            <a:off x="960821" y="1123950"/>
            <a:ext cx="7279508" cy="3609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23225"/>
      </p:ext>
    </p:extLst>
  </p:cSld>
</p:sld>
</file>

<file path=ppt/overlay/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9">
            <a:extLst xmlns:a="http://schemas.openxmlformats.org/drawingml/2006/main">
              <a:ext uri="{FF2B5EF4-FFF2-40B4-BE49-F238E27FC236}">
                <a16:creationId xmlns:a16="http://schemas.microsoft.com/office/drawing/2014/main" id="{2227245E-8155-4092-ABFC-200D0B85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8">
            <a:extLst xmlns:a="http://schemas.openxmlformats.org/drawingml/2006/main">
              <a:ext uri="{FF2B5EF4-FFF2-40B4-BE49-F238E27FC236}">
                <a16:creationId xmlns:a16="http://schemas.microsoft.com/office/drawing/2014/main" id="{C08FB962-581A-417E-B96B-E0D3BABD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A0 · функциональная модель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5d31e8d2a54abc"/>
          <a:stretch xmlns:a="http://schemas.openxmlformats.org/drawingml/2006/main"/>
        </p:blipFill>
        <p:spPr>
          <a:xfrm xmlns:a="http://schemas.openxmlformats.org/drawingml/2006/main">
            <a:off x="2122276" y="1095375"/>
            <a:ext cx="4956597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51617"/>
      </p:ext>
    </p:extLst>
  </p:cSld>
</p:sld>
</file>

<file path=ppt/overlay/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DECOR-MASK-10">
            <a:extLst xmlns:a="http://schemas.openxmlformats.org/drawingml/2006/main">
              <a:ext uri="{FF2B5EF4-FFF2-40B4-BE49-F238E27FC236}">
                <a16:creationId xmlns:a16="http://schemas.microsoft.com/office/drawing/2014/main" id="{85DF293C-166E-4C05-9748-472D2E99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190625"/>
            <a:ext cx="6000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XT29">
            <a:extLst xmlns:a="http://schemas.openxmlformats.org/drawingml/2006/main">
              <a:ext uri="{FF2B5EF4-FFF2-40B4-BE49-F238E27FC236}">
                <a16:creationId xmlns:a16="http://schemas.microsoft.com/office/drawing/2014/main" id="{8B28C7CE-CF40-4666-88EF-9D5BDFBE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A1 · управление пользователями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ea810a1634ddf"/>
          <a:stretch xmlns:a="http://schemas.openxmlformats.org/drawingml/2006/main"/>
        </p:blipFill>
        <p:spPr>
          <a:xfrm xmlns:a="http://schemas.openxmlformats.org/drawingml/2006/main">
            <a:off x="828675" y="1095375"/>
            <a:ext cx="7543800" cy="3657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34183"/>
      </p:ext>
    </p:extLst>
  </p:cSld>
</p:sld>
</file>

<file path=ppt/overlay/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XT30">
            <a:extLst xmlns:a="http://schemas.openxmlformats.org/drawingml/2006/main">
              <a:ext uri="{FF2B5EF4-FFF2-40B4-BE49-F238E27FC236}">
                <a16:creationId xmlns:a16="http://schemas.microsoft.com/office/drawing/2014/main" id="{94F4ACE3-7C54-4CC1-A5DC-E2B1C979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6700"/>
            <a:ext cx="6572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Выводы</a:t>
            </a:r>
          </a:p>
        </p:txBody>
      </p:sp>
      <p:sp>
        <p:nvSpPr>
          <p:cNvPr id="2" name="TXT31">
            <a:extLst xmlns:a="http://schemas.openxmlformats.org/drawingml/2006/main">
              <a:ext uri="{FF2B5EF4-FFF2-40B4-BE49-F238E27FC236}">
                <a16:creationId xmlns:a16="http://schemas.microsoft.com/office/drawing/2014/main" id="{2D57E769-23FF-4CFF-8C01-917F8044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19200"/>
            <a:ext cx="3381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Определили границы</a:t>
            </a:r>
          </a:p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и участников</a:t>
            </a:r>
          </a:p>
        </p:txBody>
      </p:sp>
      <p:sp>
        <p:nvSpPr>
          <p:cNvPr id="3" name="TXT32">
            <a:extLst xmlns:a="http://schemas.openxmlformats.org/drawingml/2006/main">
              <a:ext uri="{FF2B5EF4-FFF2-40B4-BE49-F238E27FC236}">
                <a16:creationId xmlns:a16="http://schemas.microsoft.com/office/drawing/2014/main" id="{789946A0-DC43-4202-9FFA-F10CD4CE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085975"/>
            <a:ext cx="338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Описали назначение</a:t>
            </a:r>
          </a:p>
          <a:p xmlns:a="http://schemas.openxmlformats.org/drawingml/2006/main"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обмен данными</a:t>
            </a:r>
          </a:p>
        </p:txBody>
      </p:sp>
      <p:sp>
        <p:nvSpPr>
          <p:cNvPr id="4" name="TXT33">
            <a:extLst xmlns:a="http://schemas.openxmlformats.org/drawingml/2006/main">
              <a:ext uri="{FF2B5EF4-FFF2-40B4-BE49-F238E27FC236}">
                <a16:creationId xmlns:a16="http://schemas.microsoft.com/office/drawing/2014/main" id="{E05D52CA-9345-43CE-AFA5-E83ED055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24200"/>
            <a:ext cx="338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Составили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матрицу событий</a:t>
            </a:r>
          </a:p>
        </p:txBody>
      </p:sp>
      <p:sp>
        <p:nvSpPr>
          <p:cNvPr id="5" name="TXT34">
            <a:extLst xmlns:a="http://schemas.openxmlformats.org/drawingml/2006/main">
              <a:ext uri="{FF2B5EF4-FFF2-40B4-BE49-F238E27FC236}">
                <a16:creationId xmlns:a16="http://schemas.microsoft.com/office/drawing/2014/main" id="{2D65F3C9-D93D-4500-808F-A723D4F5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00500"/>
            <a:ext cx="33813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Связали события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 входами и выходами</a:t>
            </a:r>
          </a:p>
        </p:txBody>
      </p:sp>
      <p:sp>
        <p:nvSpPr>
          <p:cNvPr id="6" name="TXT35">
            <a:extLst xmlns:a="http://schemas.openxmlformats.org/drawingml/2006/main">
              <a:ext uri="{FF2B5EF4-FFF2-40B4-BE49-F238E27FC236}">
                <a16:creationId xmlns:a16="http://schemas.microsoft.com/office/drawing/2014/main" id="{D2424F78-0025-4C88-A078-464A4497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1247775"/>
            <a:ext cx="34004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Модель АИС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спроектирована</a:t>
            </a:r>
          </a:p>
        </p:txBody>
      </p:sp>
      <p:sp>
        <p:nvSpPr>
          <p:cNvPr id="7" name="TXT36">
            <a:extLst xmlns:a="http://schemas.openxmlformats.org/drawingml/2006/main">
              <a:ext uri="{FF2B5EF4-FFF2-40B4-BE49-F238E27FC236}">
                <a16:creationId xmlns:a16="http://schemas.microsoft.com/office/drawing/2014/main" id="{C6AA4518-E98A-471A-B70A-6F678BB6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371725"/>
            <a:ext cx="3343275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Построили A−0, A0 и 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Выделили 6 процессов</a:t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9 накопителей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Управление пользователями</a:t>
            </a:r>
          </a:p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раскрыли на 4 подпроцесса</a:t>
            </a:r>
          </a:p>
        </p:txBody>
      </p:sp>
    </p:spTree>
    <p:extLst>
      <p:ext uri="{BB962C8B-B14F-4D97-AF65-F5344CB8AC3E}">
        <p14:creationId xmlns:p14="http://schemas.microsoft.com/office/powerpoint/2010/main" val="804456700"/>
      </p:ext>
    </p:extLst>
  </p:cSld>
</p:sld>
</file>

<file path=ppt/overlay/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XT37">
            <a:extLst xmlns:a="http://schemas.openxmlformats.org/drawingml/2006/main">
              <a:ext uri="{FF2B5EF4-FFF2-40B4-BE49-F238E27FC236}">
                <a16:creationId xmlns:a16="http://schemas.microsoft.com/office/drawing/2014/main" id="{84297F20-69F8-49ED-A1CD-2220CD30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666875"/>
            <a:ext cx="65722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Спасибо</a:t>
            </a:r>
          </a:p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за внимание</a:t>
            </a:r>
          </a:p>
        </p:txBody>
      </p:sp>
      <p:sp>
        <p:nvSpPr>
          <p:cNvPr id="2" name="TXT38">
            <a:extLst xmlns:a="http://schemas.openxmlformats.org/drawingml/2006/main">
              <a:ext uri="{FF2B5EF4-FFF2-40B4-BE49-F238E27FC236}">
                <a16:creationId xmlns:a16="http://schemas.microsoft.com/office/drawing/2014/main" id="{8F3E7FAE-83B1-43B1-A326-A8443713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6242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1231306520"/>
      </p:ext>
    </p:extLst>
  </p:cSld>
</p:sld>
</file>

<file path=ppt/overlay/ppt/tableStyles.xml><?xml version="1.0" encoding="utf-8"?>
<a:tblStyleLst xmlns:a="http://schemas.openxmlformats.org/drawingml/2006/main" def="{5C22544A-7EE6-4342-B048-85BDC9FD1C3A}"/>
</file>

<file path=ppt/overlay/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?>
<Relationships xmlns="http://schemas.openxmlformats.org/package/2006/relationships"><Relationship Id="rId2" Type="http://schemas.openxmlformats.org/officeDocument/2006/relationships/image" Target="../media/image1.jpg" /><Relationship Id="rId1" Type="http://schemas.openxmlformats.org/officeDocument/2006/relationships/slideMaster" Target="../slideMasters/slideMaster1.xml" /></Relationships>
</file>

<file path=ppt/slideLayouts/_rels/slideLayout2.xml.rels><?xml version='1.0' encoding='utf-8'?>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Master" Target="../slideMasters/slideMaster1.xml" /></Relationships>
</file>

<file path=ppt/slideLayouts/_rels/slideLayout3.xml.rels><?xml version='1.0' encoding='utf-8'?>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Master" Target="../slideMasters/slideMaster1.xml" /></Relationships>
</file>

<file path=ppt/slideLayouts/_rels/slideLayout4.xml.rels><?xml version='1.0' encoding='utf-8'?>
<Relationships xmlns="http://schemas.openxmlformats.org/package/2006/relationships"><Relationship Id="rId2" Type="http://schemas.openxmlformats.org/officeDocument/2006/relationships/image" Target="../media/image4.jpg" /><Relationship Id="rId1" Type="http://schemas.openxmlformats.org/officeDocument/2006/relationships/slideMaster" Target="../slideMasters/slideMaster1.xml" /></Relationships>
</file>

<file path=ppt/slideLayouts/_rels/slideLayout5.xml.rels><?xml version='1.0' encoding='utf-8'?>
<Relationships xmlns="http://schemas.openxmlformats.org/package/2006/relationships"><Relationship Id="rId2" Type="http://schemas.openxmlformats.org/officeDocument/2006/relationships/image" Target="../media/image5.jpg" /><Relationship Id="rId1" Type="http://schemas.openxmlformats.org/officeDocument/2006/relationships/slideMaster" Target="../slideMasters/slideMaster1.xml" /></Relationships>
</file>

<file path=ppt/slideLayouts/_rels/slideLayout6.xml.rels><?xml version='1.0' encoding='utf-8'?>
<Relationships xmlns="http://schemas.openxmlformats.org/package/2006/relationships"><Relationship Id="rId2" Type="http://schemas.openxmlformats.org/officeDocument/2006/relationships/image" Target="../media/image6.jpg" /><Relationship Id="rId1" Type="http://schemas.openxmlformats.org/officeDocument/2006/relationships/slideMaster" Target="../slideMasters/slideMaster1.xml" /></Relationships>
</file>

<file path=ppt/slideLayouts/_rels/slideLayout7.xml.rels><?xml version='1.0' encoding='utf-8'?>
<Relationships xmlns="http://schemas.openxmlformats.org/package/2006/relationships"><Relationship Id="rId2" Type="http://schemas.openxmlformats.org/officeDocument/2006/relationships/image" Target="../media/image7.jpg" /><Relationship Id="rId1" Type="http://schemas.openxmlformats.org/officeDocument/2006/relationships/slideMaster" Target="../slideMasters/slideMaster1.xml" /></Relationships>
</file>

<file path=ppt/slideLayouts/_rels/slideLayout8.xml.rels><?xml version='1.0' encoding='utf-8'?>
<Relationships xmlns="http://schemas.openxmlformats.org/package/2006/relationships"><Relationship Id="rId2" Type="http://schemas.openxmlformats.org/officeDocument/2006/relationships/image" Target="../media/image8.jpg" /><Relationship Id="rId1" Type="http://schemas.openxmlformats.org/officeDocument/2006/relationships/slideMaster" Target="../slideMasters/slideMaster1.xml" /></Relationships>
</file>

<file path=ppt/slideLayouts/_rels/slideLayout9.xml.rels><?xml version='1.0' encoding='utf-8'?>
<Relationships xmlns="http://schemas.openxmlformats.org/package/2006/relationships"><Relationship Id="rId2" Type="http://schemas.openxmlformats.org/officeDocument/2006/relationships/image" Target="../media/image9.jpg" /><Relationship Id="rId1" Type="http://schemas.openxmlformats.org/officeDocument/2006/relationships/slideMaster" Target="../slideMasters/slideMaster1.xml" /></Relationships>
</file>

<file path=ppt/slideLayouts/_rels/slideLayout10.xml.rels><?xml version='1.0' encoding='utf-8'?>
<Relationships xmlns="http://schemas.openxmlformats.org/package/2006/relationships"><Relationship Id="rId2" Type="http://schemas.openxmlformats.org/officeDocument/2006/relationships/image" Target="../media/image10.jpg" /><Relationship Id="rId1" Type="http://schemas.openxmlformats.org/officeDocument/2006/relationships/slideMaster" Target="../slideMasters/slideMaster1.xml" /></Relationships>
</file>

<file path=ppt/slideLayouts/_rels/slideLayout11.xml.rels><?xml version='1.0' encoding='utf-8'?>
<Relationships xmlns="http://schemas.openxmlformats.org/package/2006/relationships"><Relationship Id="rId2" Type="http://schemas.openxmlformats.org/officeDocument/2006/relationships/image" Target="../media/image11.jpg" /><Relationship Id="rId1" Type="http://schemas.openxmlformats.org/officeDocument/2006/relationships/slideMaster" Target="../slideMasters/slideMaster1.xml" /></Relationships>
</file>

<file path=ppt/slideLayouts/_rels/slideLayout12.xml.rels><?xml version='1.0' encoding='utf-8'?>
<Relationships xmlns="http://schemas.openxmlformats.org/package/2006/relationships"><Relationship Id="rId2" Type="http://schemas.openxmlformats.org/officeDocument/2006/relationships/image" Target="../media/image12.jpg" /><Relationship Id="rId1" Type="http://schemas.openxmlformats.org/officeDocument/2006/relationships/slideMaster" Target="../slideMasters/slideMaster1.xml" /></Relationships>
</file>

<file path=ppt/slideLayouts/_rels/slideLayout13.xml.rels><?xml version='1.0' encoding='utf-8'?>
<Relationships xmlns="http://schemas.openxmlformats.org/package/2006/relationships"><Relationship Id="rId2" Type="http://schemas.openxmlformats.org/officeDocument/2006/relationships/image" Target="../media/image13.jpg" /><Relationship Id="rId1" Type="http://schemas.openxmlformats.org/officeDocument/2006/relationships/slideMaster" Target="../slideMasters/slideMaster1.xml" /></Relationships>
</file>

<file path=ppt/slideLayouts/_rels/slideLayout14.xml.rels><?xml version='1.0' encoding='utf-8'?>
<Relationships xmlns="http://schemas.openxmlformats.org/package/2006/relationships"><Relationship Id="rId2" Type="http://schemas.openxmlformats.org/officeDocument/2006/relationships/image" Target="../media/image14.jpg" /><Relationship Id="rId1" Type="http://schemas.openxmlformats.org/officeDocument/2006/relationships/slideMaster" Target="../slideMasters/slideMaster1.xml" /></Relationships>
</file>

<file path=ppt/slideLayouts/_rels/slideLayout15.xml.rels><?xml version='1.0' encoding='utf-8'?>
<Relationships xmlns="http://schemas.openxmlformats.org/package/2006/relationships"><Relationship Id="rId2" Type="http://schemas.openxmlformats.org/officeDocument/2006/relationships/image" Target="../media/image15.jpg" /><Relationship Id="rId1" Type="http://schemas.openxmlformats.org/officeDocument/2006/relationships/slideMaster" Target="../slideMasters/slideMaster1.xml" /></Relationships>
</file>

<file path=ppt/slideLayouts/_rels/slideLayout16.xml.rels><?xml version='1.0' encoding='utf-8'?>
<Relationships xmlns="http://schemas.openxmlformats.org/package/2006/relationships"><Relationship Id="rId2" Type="http://schemas.openxmlformats.org/officeDocument/2006/relationships/image" Target="../media/image16.jpg" /><Relationship Id="rId1" Type="http://schemas.openxmlformats.org/officeDocument/2006/relationships/slideMaster" Target="../slideMasters/slideMaster1.xml" /></Relationships>
</file>

<file path=ppt/slideLayouts/_rels/slideLayout17.xml.rels><?xml version='1.0' encoding='utf-8'?>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Master" Target="../slideMasters/slideMaster1.xml" /></Relationships>
</file>

<file path=ppt/slideLayouts/_rels/slideLayout18.xml.rels><?xml version='1.0' encoding='utf-8'?>
<Relationships xmlns="http://schemas.openxmlformats.org/package/2006/relationships"><Relationship Id="rId2" Type="http://schemas.openxmlformats.org/officeDocument/2006/relationships/image" Target="../media/image18.jpg" /><Relationship Id="rId1" Type="http://schemas.openxmlformats.org/officeDocument/2006/relationships/slideMaster" Target="../slideMasters/slideMaster1.xml" /></Relationships>
</file>

<file path=ppt/slideLayouts/_rels/slideLayout19.xml.rels><?xml version='1.0' encoding='utf-8'?>
<Relationships xmlns="http://schemas.openxmlformats.org/package/2006/relationships"><Relationship Id="rId2" Type="http://schemas.openxmlformats.org/officeDocument/2006/relationships/image" Target="../media/image1.jpg" /><Relationship Id="rId1" Type="http://schemas.openxmlformats.org/officeDocument/2006/relationships/slideMaster" Target="../slideMasters/slideMaster1.xml" /></Relationships>
</file>

<file path=ppt/slideLayouts/_rels/slideLayout20.xml.rels><?xml version='1.0' encoding='utf-8'?>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Master" Target="../slideMasters/slideMaster1.xml" /></Relationships>
</file>

<file path=ppt/slideLayouts/_rels/slideLayout21.xml.rels><?xml version='1.0' encoding='utf-8'?>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Master" Target="../slideMasters/slideMaster1.xml" /></Relationships>
</file>

<file path=ppt/slideLayouts/_rels/slideLayout22.xml.rels><?xml version='1.0' encoding='utf-8'?>
<Relationships xmlns="http://schemas.openxmlformats.org/package/2006/relationships"><Relationship Id="rId2" Type="http://schemas.openxmlformats.org/officeDocument/2006/relationships/image" Target="../media/image1.jpg" /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18" Type="http://schemas.openxmlformats.org/officeDocument/2006/relationships/slideLayout" Target="../slideLayouts/slideLayout18.xml" /><Relationship Id="rId3" Type="http://schemas.openxmlformats.org/officeDocument/2006/relationships/slideLayout" Target="../slideLayouts/slideLayout3.xml" /><Relationship Id="rId21" Type="http://schemas.openxmlformats.org/officeDocument/2006/relationships/slideLayout" Target="../slideLayouts/slideLayout21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17" Type="http://schemas.openxmlformats.org/officeDocument/2006/relationships/slideLayout" Target="../slideLayouts/slideLayout17.xml" /><Relationship Id="rId2" Type="http://schemas.openxmlformats.org/officeDocument/2006/relationships/slideLayout" Target="../slideLayouts/slideLayout2.xml" /><Relationship Id="rId16" Type="http://schemas.openxmlformats.org/officeDocument/2006/relationships/slideLayout" Target="../slideLayouts/slideLayout16.xml" /><Relationship Id="rId20" Type="http://schemas.openxmlformats.org/officeDocument/2006/relationships/slideLayout" Target="../slideLayouts/slideLayout20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23" Type="http://schemas.openxmlformats.org/officeDocument/2006/relationships/theme" Target="../theme/theme1.xml" /><Relationship Id="rId10" Type="http://schemas.openxmlformats.org/officeDocument/2006/relationships/slideLayout" Target="../slideLayouts/slideLayout10.xml" /><Relationship Id="rId19" Type="http://schemas.openxmlformats.org/officeDocument/2006/relationships/slideLayout" Target="../slideLayouts/slideLayout19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Relationship Id="rId22" Type="http://schemas.openxmlformats.org/officeDocument/2006/relationships/slideLayout" Target="../slideLayouts/slideLayout2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itmoSlide1.xml.rels><?xml version='1.0' encoding='utf-8'?>
<Relationships xmlns="http://schemas.openxmlformats.org/package/2006/relationships"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1.xml" /><Relationship Type="http://schemas.openxmlformats.org/officeDocument/2006/relationships/notesSlide" Target="../overlay/ppt/notesSlides/notesSlide1.xml" Id="overlay_Rdfd40f1956554f49" /></Relationships>
</file>

<file path=ppt/slides/_rels/itmoSlide2.xml.rels><?xml version='1.0' encoding='utf-8'?>
<Relationships xmlns="http://schemas.openxmlformats.org/package/2006/relationships"><Relationship Id="rId2" Type="http://schemas.openxmlformats.org/officeDocument/2006/relationships/image" Target="../media/itmo-domain.png" /><Relationship Id="rId1" Type="http://schemas.openxmlformats.org/officeDocument/2006/relationships/slideLayout" Target="../slideLayouts/slideLayout4.xml" /><Relationship Type="http://schemas.openxmlformats.org/officeDocument/2006/relationships/notesSlide" Target="../overlay/ppt/notesSlides/notesSlide2.xml" Id="overlay_R8552feac3b39448d" /></Relationships>
</file>

<file path=ppt/slides/_rels/itmo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6.xml" /><Relationship Type="http://schemas.openxmlformats.org/officeDocument/2006/relationships/notesSlide" Target="../overlay/ppt/notesSlides/notesSlide3.xml" Id="overlay_R4d26e42cfe79414c" /></Relationships>
</file>

<file path=ppt/slides/_rels/itmo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notesSlide" Target="../overlay/ppt/notesSlides/notesSlide4.xml" Id="overlay_R68d264be83474c2a" /></Relationships>
</file>

<file path=ppt/slides/_rels/itmo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Type="http://schemas.openxmlformats.org/officeDocument/2006/relationships/notesSlide" Target="../overlay/ppt/notesSlides/notesSlide5.xml" Id="overlay_R56cbb4c784b2467f" /></Relationships>
</file>

<file path=ppt/slides/_rels/itmo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notesSlide" Target="../overlay/ppt/notesSlides/notesSlide6.xml" Id="overlay_Rd60ec400b4624706" /></Relationships>
</file>

<file path=ppt/slides/_rels/itmo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notesSlide" Target="../overlay/ppt/notesSlides/notesSlide7.xml" Id="overlay_Reb3272d9d6574469" /></Relationships>
</file>

<file path=ppt/slides/_rels/itmo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image" Target="../overlay/ppt/media/image.png" Id="overlay_R51f09a8b92d24301" /><Relationship Type="http://schemas.openxmlformats.org/officeDocument/2006/relationships/notesSlide" Target="../overlay/ppt/notesSlides/notesSlide8.xml" Id="overlay_Rd229c200967d4aa2" /></Relationships>
</file>

<file path=ppt/slides/_rels/itmo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image" Target="../overlay/ppt/media/image2.png" Id="overlay_R7f5d31e8d2a54abc" /><Relationship Type="http://schemas.openxmlformats.org/officeDocument/2006/relationships/notesSlide" Target="../overlay/ppt/notesSlides/notesSlide9.xml" Id="overlay_R9a4253ed79084b9c" /></Relationships>
</file>

<file path=ppt/slides/_rels/itmo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Type="http://schemas.openxmlformats.org/officeDocument/2006/relationships/image" Target="../overlay/ppt/media/image3.png" Id="overlay_R510ea810a1634ddf" /><Relationship Type="http://schemas.openxmlformats.org/officeDocument/2006/relationships/notesSlide" Target="../overlay/ppt/notesSlides/notesSlide10.xml" Id="overlay_R92134350d149470d" /></Relationships>
</file>

<file path=ppt/slides/_rels/itmo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8.xml" /><Relationship Type="http://schemas.openxmlformats.org/officeDocument/2006/relationships/notesSlide" Target="../overlay/ppt/notesSlides/notesSlide11.xml" Id="overlay_R1d416d3ad24b42e1" /></Relationships>
</file>

<file path=ppt/slides/_rels/itmoSlide12.xml.rels><?xml version='1.0' encoding='utf-8'?>
<Relationships xmlns="http://schemas.openxmlformats.org/package/2006/relationships"><Relationship Id="rId2" Type="http://schemas.openxmlformats.org/officeDocument/2006/relationships/image" Target="../media/image21.jpg" /><Relationship Id="rId1" Type="http://schemas.openxmlformats.org/officeDocument/2006/relationships/slideLayout" Target="../slideLayouts/slideLayout14.xml" /><Relationship Type="http://schemas.openxmlformats.org/officeDocument/2006/relationships/notesSlide" Target="../overlay/ppt/notesSlides/notesSlide12.xml" Id="overlay_R7da9457ec8544764" /></Relationships>
</file>

<file path=ppt/slides/_rels/slide1.xml.rels><?xml version='1.0' encoding='utf-8'?>
<Relationships xmlns="http://schemas.openxmlformats.org/package/2006/relationships"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6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4.xml" />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17.xml" 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19.xml" /></Relationships>
</file>

<file path=ppt/slides/_rels/slide10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21.xml" /></Relationships>
</file>

<file path=ppt/slides/_rels/slide11.xml.rels><?xml version='1.0' encoding='utf-8'?>
<Relationships xmlns="http://schemas.openxmlformats.org/package/2006/relationships"><Relationship Id="rId2" Type="http://schemas.openxmlformats.org/officeDocument/2006/relationships/image" Target="../media/image20.tif" /><Relationship Id="rId1" Type="http://schemas.openxmlformats.org/officeDocument/2006/relationships/slideLayout" Target="../slideLayouts/slideLayout22.xml" /></Relationships>
</file>

<file path=ppt/slides/_rels/slide12.xml.rels><?xml version='1.0' encoding='utf-8'?>
<Relationships xmlns="http://schemas.openxmlformats.org/package/2006/relationships"><Relationship Id="rId2" Type="http://schemas.openxmlformats.org/officeDocument/2006/relationships/image" Target="../media/image21.jpg" /><Relationship Id="rId1" Type="http://schemas.openxmlformats.org/officeDocument/2006/relationships/slideLayout" Target="../slideLayouts/slideLayout14.xml" /></Relationships>
</file>

<file path=ppt/slides/_rels/slide13.xml.rels><?xml version='1.0' encoding='utf-8'?>
<Relationships xmlns="http://schemas.openxmlformats.org/package/2006/relationships"><Relationship Id="rId2" Type="http://schemas.openxmlformats.org/officeDocument/2006/relationships/image" Target="../media/image22.png" /><Relationship Id="rId1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8" Type="http://schemas.openxmlformats.org/officeDocument/2006/relationships/image" Target="../media/image29.jpg" /><Relationship Id="rId3" Type="http://schemas.openxmlformats.org/officeDocument/2006/relationships/image" Target="../media/image24.png" /><Relationship Id="rId7" Type="http://schemas.openxmlformats.org/officeDocument/2006/relationships/image" Target="../media/image28.png" /><Relationship Id="rId2" Type="http://schemas.openxmlformats.org/officeDocument/2006/relationships/image" Target="../media/image23.png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27.png" /><Relationship Id="rId5" Type="http://schemas.openxmlformats.org/officeDocument/2006/relationships/image" Target="../media/image26.jpg" /><Relationship Id="rId4" Type="http://schemas.openxmlformats.org/officeDocument/2006/relationships/image" Target="../media/image25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itmo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1">
            <a:extLst>
              <a:ext uri="{FF2B5EF4-FFF2-40B4-BE49-F238E27FC236}">
                <ns3:creationId id="{C5BAE693-02A5-4B31-BB5A-404E6038ECE7}"/>
              </a:ext>
            </a:extLst>
          </p:cNvPr>
          <p:cNvSpPr>
            <a:spLocks noGrp="1"/>
          </p:cNvSpPr>
          <p:nvPr/>
        </p:nvSpPr>
        <p:spPr>
          <a:xfrm>
            <a:off x="1000125" y="2247900"/>
            <a:ext cx="714375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Поиск и возврат</a:t>
            </a:r>
          </a:p>
          <a:p>
            <a:pPr algn="ctr">
              <a:def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3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потерянных животных и вещей</a:t>
            </a:r>
          </a:p>
        </p:txBody>
      </p:sp>
      <p:sp>
        <p:nvSpPr>
          <p:cNvPr id="3" name="TXT2">
            <a:extLst>
              <a:ext uri="{FF2B5EF4-FFF2-40B4-BE49-F238E27FC236}">
                <ns3:creationId id="{BFF205D6-AE6A-4468-84EB-9471B8B4CDA0}"/>
              </a:ext>
            </a:extLst>
          </p:cNvPr>
          <p:cNvSpPr>
            <a:spLocks noGrp="1"/>
          </p:cNvSpPr>
          <p:nvPr/>
        </p:nvSpPr>
        <p:spPr>
          <a:xfrm>
            <a:off x="1000125" y="3276600"/>
            <a:ext cx="714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Функциональная модель АИС</a:t>
            </a:r>
          </a:p>
        </p:txBody>
      </p:sp>
      <p:sp>
        <p:nvSpPr>
          <p:cNvPr id="4" name="TXT3">
            <a:extLst>
              <a:ext uri="{FF2B5EF4-FFF2-40B4-BE49-F238E27FC236}">
                <ns3:creationId id="{74EDBF4A-DE08-42AD-8450-D2B3DB438282}"/>
              </a:ext>
            </a:extLst>
          </p:cNvPr>
          <p:cNvSpPr>
            <a:spLocks noGrp="1"/>
          </p:cNvSpPr>
          <p:nvPr/>
        </p:nvSpPr>
        <p:spPr>
          <a:xfrm>
            <a:off x="857250" y="3609975"/>
            <a:ext cx="74295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Фадеев Данил Вячеславович, Мосин Александр Павлович,</a:t>
            </a:r>
          </a:p>
          <a:p>
            <a:pPr algn="ctr">
              <a:def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Гурылев Денис Артемович</a:t>
            </a:r>
          </a:p>
        </p:txBody>
      </p:sp>
      <p:sp>
        <p:nvSpPr>
          <p:cNvPr id="5" name="TXT4">
            <a:extLst>
              <a:ext uri="{FF2B5EF4-FFF2-40B4-BE49-F238E27FC236}">
                <ns3:creationId id="{2D74F88E-67C5-44B5-A8F4-BA067270F67A}"/>
              </a:ext>
            </a:extLst>
          </p:cNvPr>
          <p:cNvSpPr>
            <a:spLocks noGrp="1"/>
          </p:cNvSpPr>
          <p:nvPr/>
        </p:nvSpPr>
        <p:spPr>
          <a:xfrm>
            <a:off x="1000125" y="4276725"/>
            <a:ext cx="7143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Группа: K3239</a:t>
            </a:r>
          </a:p>
          <a:p>
            <a:pPr algn="ctr">
              <a:def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200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Преподаватель: Говорова Марина Михайловна</a:t>
            </a:r>
          </a:p>
        </p:txBody>
      </p:sp>
    </p:spTree>
    <p:extLst>
      <p:ext uri="{BB962C8B-B14F-4D97-AF65-F5344CB8AC3E}">
        <ns4:creationId val="87172503"/>
      </p:ext>
    </p:extLst>
  </p:cSld>
  <p:clrMapOvr>
    <a:masterClrMapping/>
  </p:clrMapOvr>
</p:sld>
</file>

<file path=ppt/slides/itmo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Предметная область: поиск и возврат вещей">
            <a:extLst>
              <a:ext uri="{FF2B5EF4-FFF2-40B4-BE49-F238E27FC236}">
                <ns2:creationId id="{B39C447F-7789-D914-2682-159AE68208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586" b="586"/>
          <a:stretch>
            <a:fillRect/>
          </a:stretch>
        </p:blipFill>
        <p:spPr/>
      </p:pic>
      <p:sp>
        <p:nvSpPr>
          <p:cNvPr id="7" name="TEMPLATE-DECOR-MASK-2">
            <a:extLst>
              <a:ext uri="{FF2B5EF4-FFF2-40B4-BE49-F238E27FC236}">
                <ns2:creationId id="{2F2C4DE0-6445-402C-9359-F1960474BD41}"/>
              </a:ext>
            </a:extLst>
          </p:cNvPr>
          <p:cNvSpPr>
            <a:spLocks noGrp="1"/>
          </p:cNvSpPr>
          <p:nvPr/>
        </p:nvSpPr>
        <p:spPr>
          <a:xfrm>
            <a:off x="8029575" y="1095375"/>
            <a:ext cx="600075" cy="381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TXT5">
            <a:extLst>
              <a:ext uri="{FF2B5EF4-FFF2-40B4-BE49-F238E27FC236}">
                <ns2:creationId id="{7B241717-0AE0-489F-9DEF-025B607C7B8C}"/>
              </a:ext>
            </a:extLst>
          </p:cNvPr>
          <p:cNvSpPr>
            <a:spLocks noGrp="1"/>
          </p:cNvSpPr>
          <p:nvPr/>
        </p:nvSpPr>
        <p:spPr>
          <a:xfrm>
            <a:off x="5572125" y="1162050"/>
            <a:ext cx="295275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Предметная</a:t>
            </a:r>
          </a:p>
          <a:p>
            <a:pPr algn="l">
              <a:def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область</a:t>
            </a:r>
          </a:p>
        </p:txBody>
      </p:sp>
      <p:sp>
        <p:nvSpPr>
          <p:cNvPr id="9" name="TXT6">
            <a:extLst>
              <a:ext uri="{FF2B5EF4-FFF2-40B4-BE49-F238E27FC236}">
                <ns2:creationId id="{BC231308-C03E-4B8D-9E0C-56F5C5EF639E}"/>
              </a:ext>
            </a:extLst>
          </p:cNvPr>
          <p:cNvSpPr>
            <a:spLocks noGrp="1"/>
          </p:cNvSpPr>
          <p:nvPr/>
        </p:nvSpPr>
        <p:spPr>
          <a:xfrm>
            <a:off x="5572125" y="2009775"/>
            <a:ext cx="2905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Проблема</a:t>
            </a:r>
          </a:p>
        </p:txBody>
      </p:sp>
      <p:sp>
        <p:nvSpPr>
          <p:cNvPr id="10" name="TXT7">
            <a:extLst>
              <a:ext uri="{FF2B5EF4-FFF2-40B4-BE49-F238E27FC236}">
                <ns2:creationId id="{D0D84891-7740-4999-940D-5377EA97A647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290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Сведения о пропажах</a:t>
            </a:r>
          </a:p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животных и вещей разрознены</a:t>
            </a:r>
          </a:p>
        </p:txBody>
      </p:sp>
      <p:sp>
        <p:nvSpPr>
          <p:cNvPr id="11" name="TXT8">
            <a:extLst>
              <a:ext uri="{FF2B5EF4-FFF2-40B4-BE49-F238E27FC236}">
                <ns2:creationId id="{C53E27F8-A70E-4DA2-99C9-87DFC32F5279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2905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Участники</a:t>
            </a:r>
          </a:p>
        </p:txBody>
      </p:sp>
      <p:sp>
        <p:nvSpPr>
          <p:cNvPr id="12" name="TXT9">
            <a:extLst>
              <a:ext uri="{FF2B5EF4-FFF2-40B4-BE49-F238E27FC236}">
                <ns2:creationId id="{E9AD712B-5EDD-422B-8AA0-6AF45F43B639}"/>
              </a:ext>
            </a:extLst>
          </p:cNvPr>
          <p:cNvSpPr>
            <a:spLocks noGrp="1"/>
          </p:cNvSpPr>
          <p:nvPr/>
        </p:nvSpPr>
        <p:spPr>
          <a:xfrm>
            <a:off x="5572125" y="3267075"/>
            <a:ext cx="290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Потерявший, нашедший,</a:t>
            </a:r>
          </a:p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модератор / администратор</a:t>
            </a:r>
          </a:p>
        </p:txBody>
      </p:sp>
      <p:sp>
        <p:nvSpPr>
          <p:cNvPr id="13" name="TXT10">
            <a:extLst>
              <a:ext uri="{FF2B5EF4-FFF2-40B4-BE49-F238E27FC236}">
                <ns2:creationId id="{E0C3D3F7-B594-47B7-8648-92E56695CCA7}"/>
              </a:ext>
            </a:extLst>
          </p:cNvPr>
          <p:cNvSpPr>
            <a:spLocks noGrp="1"/>
          </p:cNvSpPr>
          <p:nvPr/>
        </p:nvSpPr>
        <p:spPr>
          <a:xfrm>
            <a:off x="5572125" y="3886200"/>
            <a:ext cx="2905125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defRPr>
            </a:pPr>
            <a:r>
              <a:rPr sz="1575" b="1">
                <a:solidFill>
                  <a:srgbClr val="9F00FF"/>
                </a:solidFill>
                <a:latin typeface="Golos Text"/>
                <a:ea typeface="Golos Text"/>
                <a:cs typeface="Golos Text"/>
              </a:rPr>
              <a:t>Основные действия</a:t>
            </a:r>
          </a:p>
        </p:txBody>
      </p:sp>
      <p:sp>
        <p:nvSpPr>
          <p:cNvPr id="14" name="TXT11">
            <a:extLst>
              <a:ext uri="{FF2B5EF4-FFF2-40B4-BE49-F238E27FC236}">
                <ns2:creationId id="{26A307E9-1FE5-4B3C-AC80-187A6E90C882}"/>
              </a:ext>
            </a:extLst>
          </p:cNvPr>
          <p:cNvSpPr>
            <a:spLocks noGrp="1"/>
          </p:cNvSpPr>
          <p:nvPr/>
        </p:nvSpPr>
        <p:spPr>
          <a:xfrm>
            <a:off x="5572125" y="4191000"/>
            <a:ext cx="290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Объявления, поиск,</a:t>
            </a:r>
          </a:p>
          <a:p>
            <a:pPr algn="l">
              <a:def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4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сопоставление и переписка</a:t>
            </a:r>
          </a:p>
        </p:txBody>
      </p:sp>
    </p:spTree>
    <p:extLst>
      <p:ext uri="{BB962C8B-B14F-4D97-AF65-F5344CB8AC3E}">
        <ns4:creationId val="3833283629"/>
      </p:ext>
    </p:extLst>
  </p:cSld>
  <p:clrMapOvr>
    <a:masterClrMapping/>
  </p:clrMapOvr>
</p:sld>
</file>

<file path=ppt/slides/itmo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3">
            <a:extLst>
              <a:ext uri="{FF2B5EF4-FFF2-40B4-BE49-F238E27FC236}">
                <ns2:creationId id="{3E953A7B-0245-4B46-918A-C8F98D1C557C}"/>
              </a:ext>
            </a:extLst>
          </p:cNvPr>
          <p:cNvSpPr>
            <a:spLocks noGrp="1"/>
          </p:cNvSpPr>
          <p:nvPr/>
        </p:nvSpPr>
        <p:spPr>
          <a:xfrm>
            <a:off x="8105775" y="1123950"/>
            <a:ext cx="542925" cy="276225"/>
          </a:xfrm>
          <a:prstGeom prst="rect">
            <a:avLst/>
          </a:prstGeom>
          <a:solidFill>
            <a:srgbClr val="FDFDFD"/>
          </a:solidFill>
          <a:ln w="0">
            <a:noFill/>
          </a:ln>
        </p:spPr>
      </p:sp>
      <p:sp>
        <p:nvSpPr>
          <p:cNvPr id="3" name="TXT12">
            <a:extLst>
              <a:ext uri="{FF2B5EF4-FFF2-40B4-BE49-F238E27FC236}">
                <ns2:creationId id="{9A7BC676-2D3A-4C58-9060-B678E03115F6}"/>
              </a:ext>
            </a:extLst>
          </p:cNvPr>
          <p:cNvSpPr>
            <a:spLocks noGrp="1"/>
          </p:cNvSpPr>
          <p:nvPr/>
        </p:nvSpPr>
        <p:spPr>
          <a:xfrm>
            <a:off x="523875" y="428625"/>
            <a:ext cx="6334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25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Цель проекта</a:t>
            </a:r>
          </a:p>
        </p:txBody>
      </p:sp>
      <p:sp>
        <p:nvSpPr>
          <p:cNvPr id="4" name="TXT13">
            <a:extLst>
              <a:ext uri="{FF2B5EF4-FFF2-40B4-BE49-F238E27FC236}">
                <ns2:creationId id="{00CA0024-0AC0-4392-B5BC-2336AEDEB4C6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429125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Спроектировать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функциональную модель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АИС «Сервис поиска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возврата потерянных</a:t>
            </a:r>
          </a:p>
          <a:p>
            <a:pPr algn="l">
              <a:def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2175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животных и вещей»</a:t>
            </a:r>
          </a:p>
        </p:txBody>
      </p:sp>
      <p:sp>
        <p:nvSpPr>
          <p:cNvPr id="5" name="TXT14">
            <a:extLst>
              <a:ext uri="{FF2B5EF4-FFF2-40B4-BE49-F238E27FC236}">
                <ns2:creationId id="{4E5BE3E8-F1B7-4182-82ED-E97086318880}"/>
              </a:ext>
            </a:extLst>
          </p:cNvPr>
          <p:cNvSpPr>
            <a:spLocks noGrp="1"/>
          </p:cNvSpPr>
          <p:nvPr/>
        </p:nvSpPr>
        <p:spPr>
          <a:xfrm>
            <a:off x="5667375" y="1219200"/>
            <a:ext cx="27622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00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Содержание модели</a:t>
            </a:r>
          </a:p>
        </p:txBody>
      </p:sp>
      <p:sp>
        <p:nvSpPr>
          <p:cNvPr id="6" name="TXT15">
            <a:extLst>
              <a:ext uri="{FF2B5EF4-FFF2-40B4-BE49-F238E27FC236}">
                <ns2:creationId id="{80909A87-B1F8-4057-9133-E4386FFF47AD}"/>
              </a:ext>
            </a:extLst>
          </p:cNvPr>
          <p:cNvSpPr>
            <a:spLocks noGrp="1"/>
          </p:cNvSpPr>
          <p:nvPr/>
        </p:nvSpPr>
        <p:spPr>
          <a:xfrm>
            <a:off x="5667375" y="2038350"/>
            <a:ext cx="2686050" cy="2447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Основные процессы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системы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Входные и выходные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данные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Связи процессов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накопителей</a:t>
            </a:r>
          </a:p>
        </p:txBody>
      </p:sp>
    </p:spTree>
    <p:extLst>
      <p:ext uri="{BB962C8B-B14F-4D97-AF65-F5344CB8AC3E}">
        <ns3:creationId val="3998376298"/>
      </p:ext>
    </p:extLst>
  </p:cSld>
  <p:clrMapOvr>
    <a:masterClrMapping/>
  </p:clrMapOvr>
</p:sld>
</file>

<file path=ppt/slides/itmo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4">
            <a:extLst>
              <a:ext uri="{FF2B5EF4-FFF2-40B4-BE49-F238E27FC236}">
                <ns2:creationId id="{C61A23D1-EF39-4AA8-BCC7-4101DA62AC68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16">
            <a:extLst>
              <a:ext uri="{FF2B5EF4-FFF2-40B4-BE49-F238E27FC236}">
                <ns2:creationId id="{9B814044-C06E-4DDD-A162-54E090EFA8CB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Задачи проекта</a:t>
            </a:r>
          </a:p>
        </p:txBody>
      </p:sp>
      <p:sp>
        <p:nvSpPr>
          <p:cNvPr id="4" name="TXT17">
            <a:extLst>
              <a:ext uri="{FF2B5EF4-FFF2-40B4-BE49-F238E27FC236}">
                <ns2:creationId id="{6D0A7D5C-CA8D-4392-BEFE-773641C19EC7}"/>
              </a:ext>
            </a:extLst>
          </p:cNvPr>
          <p:cNvSpPr>
            <a:spLocks noGrp="1"/>
          </p:cNvSpPr>
          <p:nvPr/>
        </p:nvSpPr>
        <p:spPr>
          <a:xfrm>
            <a:off x="657225" y="1314450"/>
            <a:ext cx="7724775" cy="3333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1. Определить назначение АИС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2. Выделить основной процесс и внешние сущности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3. Определить входные и выходные потоки данных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4. Построить контекстную диаграмму A−0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5. Проанализировать события и составить матрицу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6. Построить диаграмму A0 с процессами и накопителями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7. Детализировать управление пользователями на A1</a:t>
            </a:r>
          </a:p>
        </p:txBody>
      </p:sp>
    </p:spTree>
    <p:extLst>
      <p:ext uri="{BB962C8B-B14F-4D97-AF65-F5344CB8AC3E}">
        <ns3:creationId val="4287535555"/>
      </p:ext>
    </p:extLst>
  </p:cSld>
  <p:clrMapOvr>
    <a:masterClrMapping/>
  </p:clrMapOvr>
</p:sld>
</file>

<file path=ppt/slides/itmo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5">
            <a:extLst>
              <a:ext uri="{FF2B5EF4-FFF2-40B4-BE49-F238E27FC236}">
                <ns2:creationId id="{A92755E6-F0BF-4611-9B31-1D6DEC42D59A}"/>
              </a:ext>
            </a:extLst>
          </p:cNvPr>
          <p:cNvSpPr>
            <a:spLocks noGrp="1"/>
          </p:cNvSpPr>
          <p:nvPr/>
        </p:nvSpPr>
        <p:spPr>
          <a:xfrm>
            <a:off x="3505200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EMPLATE-DECOR-MASK-5">
            <a:extLst>
              <a:ext uri="{FF2B5EF4-FFF2-40B4-BE49-F238E27FC236}">
                <ns2:creationId id="{DD8E4527-AE79-4789-AAEA-402B8E7ABD07}"/>
              </a:ext>
            </a:extLst>
          </p:cNvPr>
          <p:cNvSpPr>
            <a:spLocks noGrp="1"/>
          </p:cNvSpPr>
          <p:nvPr/>
        </p:nvSpPr>
        <p:spPr>
          <a:xfrm>
            <a:off x="8029575" y="24098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TXT18">
            <a:extLst>
              <a:ext uri="{FF2B5EF4-FFF2-40B4-BE49-F238E27FC236}">
                <ns2:creationId id="{60F557B8-3D48-4594-B109-0F503F516589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Методология и инструменты</a:t>
            </a:r>
          </a:p>
        </p:txBody>
      </p:sp>
      <p:sp>
        <p:nvSpPr>
          <p:cNvPr id="5" name="TXT19">
            <a:extLst>
              <a:ext uri="{FF2B5EF4-FFF2-40B4-BE49-F238E27FC236}">
                <ns2:creationId id="{86124DA9-7BBA-47CE-B9E5-6E0188C1A3EB}"/>
              </a:ext>
            </a:extLst>
          </p:cNvPr>
          <p:cNvSpPr>
            <a:spLocks noGrp="1"/>
          </p:cNvSpPr>
          <p:nvPr/>
        </p:nvSpPr>
        <p:spPr>
          <a:xfrm>
            <a:off x="609600" y="1219200"/>
            <a:ext cx="338137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Методология</a:t>
            </a:r>
          </a:p>
        </p:txBody>
      </p:sp>
      <p:sp>
        <p:nvSpPr>
          <p:cNvPr id="6" name="TXT20">
            <a:extLst>
              <a:ext uri="{FF2B5EF4-FFF2-40B4-BE49-F238E27FC236}">
                <ns2:creationId id="{5851C630-4F25-4E0C-812E-FB6C7C66584C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3371850" cy="1552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DFD, Gane–Sarson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Уровни A−0, A0, A1</a:t>
            </a:r>
          </a:p>
          <a:p>
            <a:r>
              <a:t/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Процессы, сущности,</a:t>
            </a:r>
          </a:p>
          <a:p>
            <a:pPr algn="l">
              <a:def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65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потоки и накопители</a:t>
            </a:r>
          </a:p>
        </p:txBody>
      </p:sp>
      <p:sp>
        <p:nvSpPr>
          <p:cNvPr id="7" name="TXT21">
            <a:extLst>
              <a:ext uri="{FF2B5EF4-FFF2-40B4-BE49-F238E27FC236}">
                <ns2:creationId id="{0B78036D-4053-4104-876C-5E80EF63E684}"/>
              </a:ext>
            </a:extLst>
          </p:cNvPr>
          <p:cNvSpPr>
            <a:spLocks noGrp="1"/>
          </p:cNvSpPr>
          <p:nvPr/>
        </p:nvSpPr>
        <p:spPr>
          <a:xfrm>
            <a:off x="5219700" y="2524125"/>
            <a:ext cx="3286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defRPr>
            </a:pPr>
            <a:r>
              <a:rPr sz="1875" b="1">
                <a:solidFill>
                  <a:srgbClr val="9F00FF"/>
                </a:solidFill>
                <a:latin typeface="ALS Gorizont"/>
                <a:ea typeface="ALS Gorizont"/>
                <a:cs typeface="ALS Gorizont"/>
              </a:rPr>
              <a:t>Инструменты</a:t>
            </a:r>
          </a:p>
        </p:txBody>
      </p:sp>
      <p:sp>
        <p:nvSpPr>
          <p:cNvPr id="8" name="TXT22">
            <a:extLst>
              <a:ext uri="{FF2B5EF4-FFF2-40B4-BE49-F238E27FC236}">
                <ns2:creationId id="{19DE89B6-2C6A-4B10-A45C-F80F9E462616}"/>
              </a:ext>
            </a:extLst>
          </p:cNvPr>
          <p:cNvSpPr>
            <a:spLocks noGrp="1"/>
          </p:cNvSpPr>
          <p:nvPr/>
        </p:nvSpPr>
        <p:spPr>
          <a:xfrm>
            <a:off x="5219700" y="3048000"/>
            <a:ext cx="3190875" cy="154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Figma</a:t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Построение схем</a:t>
            </a:r>
          </a:p>
          <a:p>
            <a:r>
              <a:t/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PowerPoint</a:t>
            </a:r>
          </a:p>
          <a:p>
            <a:pPr algn="l">
              <a:def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500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Презентация результатов</a:t>
            </a:r>
          </a:p>
        </p:txBody>
      </p:sp>
    </p:spTree>
    <p:extLst>
      <p:ext uri="{BB962C8B-B14F-4D97-AF65-F5344CB8AC3E}">
        <ns3:creationId val="1043540765"/>
      </p:ext>
    </p:extLst>
  </p:cSld>
  <p:clrMapOvr>
    <a:masterClrMapping/>
  </p:clrMapOvr>
</p:sld>
</file>

<file path=ppt/slides/itmo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6">
            <a:extLst>
              <a:ext uri="{FF2B5EF4-FFF2-40B4-BE49-F238E27FC236}">
                <ns2:creationId id="{B5CFDCC0-CA46-4847-A4BD-9CF974F1FE11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3">
            <a:extLst>
              <a:ext uri="{FF2B5EF4-FFF2-40B4-BE49-F238E27FC236}">
                <ns2:creationId id="{AAB17ED9-287F-4A45-8344-9A64B708F691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1–3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514350" y="1219200"/>
          <a:ext cx="8115300" cy="3238500"/>
        </p:xfrm>
        <a:graphic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Регистрация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или вход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1.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пользователями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Учётные данные;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Сессия пользователю;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профиль и роль → D1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Подача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2. Управлять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объявлениями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объявления,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фото, координаты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Статус объявления;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D2, D3, D4;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объявление →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Поисковый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3. Искать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фильтровать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Поисковый запрос;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объявления, фото;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данные D2–D4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Результаты поиска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XT24">
            <a:extLst>
              <a:ext uri="{FF2B5EF4-FFF2-40B4-BE49-F238E27FC236}">
                <ns2:creationId id="{29E6E44C-9E8B-4C00-BB9C-109A6FEBEDEA}"/>
              </a:ext>
            </a:extLst>
          </p:cNvPr>
          <p:cNvSpPr>
            <a:spLocks noGrp="1"/>
          </p:cNvSpPr>
          <p:nvPr/>
        </p:nvSpPr>
        <p:spPr>
          <a:xfrm>
            <a:off x="533400" y="4543425"/>
            <a:ext cx="8067675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ns3:creationId val="4287535555"/>
      </p:ext>
    </p:extLst>
  </p:cSld>
  <p:clrMapOvr>
    <a:masterClrMapping/>
  </p:clrMapOvr>
</p:sld>
</file>

<file path=ppt/slides/itmo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7">
            <a:extLst>
              <a:ext uri="{FF2B5EF4-FFF2-40B4-BE49-F238E27FC236}">
                <ns2:creationId id="{95A7AB88-78C5-43B1-9DBD-DE97726BE340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5">
            <a:extLst>
              <a:ext uri="{FF2B5EF4-FFF2-40B4-BE49-F238E27FC236}">
                <ns2:creationId id="{4E24CEFD-A1AF-42F6-8E6E-039ECD5FBD59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Матрица событий · 4–6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514350" y="1219200"/>
          <a:ext cx="8115300" cy="3238500"/>
        </p:xfrm>
        <a:graphic>
          <a:graphicData uri="http://schemas.openxmlformats.org/drawingml/2006/table">
            <a:tbl>
              <a:tblPr/>
              <a:tblGrid>
                <a:gridCol w="1562100"/>
                <a:gridCol w="1171575"/>
                <a:gridCol w="1381125"/>
                <a:gridCol w="2009775"/>
                <a:gridCol w="1990725"/>
              </a:tblGrid>
              <a:tr h="3238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Событие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Источник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Выходные данные</a:t>
                      </a:r>
                    </a:p>
                  </a:txBody>
                  <a:tcPr marL="91440" marR="91440" marT="45720" marB="45720" anchor="ctr">
                    <a:solidFill>
                      <a:srgbClr val="9F00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4. Сопоставлять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Новое объявление;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объявления из D2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 → D5;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 → 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Сообщение,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 контакта;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процесс 4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5. Организовывать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взаимодействие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Сообщение, контакт;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совпадение;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контакты из D1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Уведомления и сообщения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пользователю;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D6 и D7</a:t>
                      </a:r>
                    </a:p>
                  </a:txBody>
                  <a:tcPr marL="91440" marR="91440" marT="45720" marB="45720" anchor="ctr">
                    <a:solidFill>
                      <a:srgbClr val="FAF5FF"/>
                    </a:solidFill>
                  </a:tcPr>
                </a:tc>
              </a:tr>
              <a:tr h="971550"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Жалоба;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решение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модератора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Пользователь,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модератор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6. Обеспечивать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модерацию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безопасность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Жалоба;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решения по жалобам,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блокировки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47625" rIns="57150" bIns="47625">
                      <a:noAutofit/>
                    </a:bodyPr>
                    <a:lstStyle/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Жалобы, объявления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проверку → модератору;</a:t>
                      </a:r>
                    </a:p>
                    <a:p>
                      <a:pPr algn="l"/>
                      <a:r>
                        <a:rPr sz="1065" b="0">
                          <a:solidFill>
                            <a:srgbClr val="151515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запись D8, D9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XT26">
            <a:extLst>
              <a:ext uri="{FF2B5EF4-FFF2-40B4-BE49-F238E27FC236}">
                <ns2:creationId id="{0351D8B7-0D1D-4DDC-88F4-4F30D94D3BBD}"/>
              </a:ext>
            </a:extLst>
          </p:cNvPr>
          <p:cNvSpPr>
            <a:spLocks noGrp="1"/>
          </p:cNvSpPr>
          <p:nvPr/>
        </p:nvSpPr>
        <p:spPr>
          <a:xfrm>
            <a:off x="533400" y="4543425"/>
            <a:ext cx="8067675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defRPr>
            </a:pPr>
            <a:r>
              <a:rPr sz="900" b="0">
                <a:solidFill>
                  <a:srgbClr val="555555"/>
                </a:solidFill>
                <a:latin typeface="Golos Text"/>
                <a:ea typeface="Golos Text"/>
                <a:cs typeface="Golos Text"/>
              </a:rPr>
              <a:t>D1–D9 — логические накопители; стрелки указывают получателя данных</a:t>
            </a:r>
          </a:p>
        </p:txBody>
      </p:sp>
    </p:spTree>
    <p:extLst>
      <p:ext uri="{BB962C8B-B14F-4D97-AF65-F5344CB8AC3E}">
        <ns3:creationId val="4287535555"/>
      </p:ext>
    </p:extLst>
  </p:cSld>
  <p:clrMapOvr>
    <a:masterClrMapping/>
  </p:clrMapOvr>
</p:sld>
</file>

<file path=ppt/slides/itmo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8">
            <a:extLst>
              <a:ext uri="{FF2B5EF4-FFF2-40B4-BE49-F238E27FC236}">
                <ns2:creationId id="{9BFA6F0C-2779-4D93-A20C-9BD224360740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7">
            <a:extLst>
              <a:ext uri="{FF2B5EF4-FFF2-40B4-BE49-F238E27FC236}">
                <ns2:creationId id="{FE35D4AA-166B-48CA-A0F6-2E3A04EF0BA0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A−0 · границы системы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overlay_R51f09a8b92d24301"/>
          <a:stretch/>
        </p:blipFill>
        <p:spPr>
          <a:xfrm>
            <a:off x="960821" y="1123950"/>
            <a:ext cx="7279508" cy="3609975"/>
          </a:xfrm>
          <a:prstGeom prst="rect">
            <a:avLst/>
          </a:prstGeom>
        </p:spPr>
      </p:pic>
    </p:spTree>
    <p:extLst>
      <p:ext uri="{BB962C8B-B14F-4D97-AF65-F5344CB8AC3E}">
        <ns4:creationId val="4287535555"/>
      </p:ext>
    </p:extLst>
  </p:cSld>
  <p:clrMapOvr>
    <a:masterClrMapping/>
  </p:clrMapOvr>
</p:sld>
</file>

<file path=ppt/slides/itmo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9">
            <a:extLst>
              <a:ext uri="{FF2B5EF4-FFF2-40B4-BE49-F238E27FC236}">
                <ns2:creationId id="{2227245E-8155-4092-ABFC-200D0B85A319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8">
            <a:extLst>
              <a:ext uri="{FF2B5EF4-FFF2-40B4-BE49-F238E27FC236}">
                <ns2:creationId id="{C08FB962-581A-417E-B96B-E0D3BABDFAC9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A0 · функциональная модель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overlay_R7f5d31e8d2a54abc"/>
          <a:stretch/>
        </p:blipFill>
        <p:spPr>
          <a:xfrm>
            <a:off x="2122276" y="1095375"/>
            <a:ext cx="4956597" cy="3657600"/>
          </a:xfrm>
          <a:prstGeom prst="rect">
            <a:avLst/>
          </a:prstGeom>
        </p:spPr>
      </p:pic>
    </p:spTree>
    <p:extLst>
      <p:ext uri="{BB962C8B-B14F-4D97-AF65-F5344CB8AC3E}">
        <ns4:creationId val="4287535555"/>
      </p:ext>
    </p:extLst>
  </p:cSld>
  <p:clrMapOvr>
    <a:masterClrMapping/>
  </p:clrMapOvr>
</p:sld>
</file>

<file path=ppt/slides/itmoSlide1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MPLATE-DECOR-MASK-10">
            <a:extLst>
              <a:ext uri="{FF2B5EF4-FFF2-40B4-BE49-F238E27FC236}">
                <ns2:creationId id="{85DF293C-166E-4C05-9748-472D2E991D69}"/>
              </a:ext>
            </a:extLst>
          </p:cNvPr>
          <p:cNvSpPr>
            <a:spLocks noGrp="1"/>
          </p:cNvSpPr>
          <p:nvPr/>
        </p:nvSpPr>
        <p:spPr>
          <a:xfrm>
            <a:off x="8029575" y="1190625"/>
            <a:ext cx="600075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XT29">
            <a:extLst>
              <a:ext uri="{FF2B5EF4-FFF2-40B4-BE49-F238E27FC236}">
                <ns2:creationId id="{8B28C7CE-CF40-4666-88EF-9D5BDFBEC44B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A1 · управление пользователями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overlay_R510ea810a1634ddf"/>
          <a:stretch/>
        </p:blipFill>
        <p:spPr>
          <a:xfrm>
            <a:off x="828675" y="1095375"/>
            <a:ext cx="7543800" cy="3657600"/>
          </a:xfrm>
          <a:prstGeom prst="rect">
            <a:avLst/>
          </a:prstGeom>
        </p:spPr>
      </p:pic>
    </p:spTree>
    <p:extLst>
      <p:ext uri="{BB962C8B-B14F-4D97-AF65-F5344CB8AC3E}">
        <ns4:creationId val="4287535555"/>
      </p:ext>
    </p:extLst>
  </p:cSld>
  <p:clrMapOvr>
    <a:masterClrMapping/>
  </p:clrMapOvr>
</p:sld>
</file>

<file path=ppt/slides/itmo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0">
            <a:extLst>
              <a:ext uri="{FF2B5EF4-FFF2-40B4-BE49-F238E27FC236}">
                <ns2:creationId id="{94F4ACE3-7C54-4CC1-A5DC-E2B1C9797510}"/>
              </a:ext>
            </a:extLst>
          </p:cNvPr>
          <p:cNvSpPr>
            <a:spLocks noGrp="1"/>
          </p:cNvSpPr>
          <p:nvPr/>
        </p:nvSpPr>
        <p:spPr>
          <a:xfrm>
            <a:off x="523875" y="266700"/>
            <a:ext cx="657225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210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Выводы</a:t>
            </a:r>
          </a:p>
        </p:txBody>
      </p:sp>
      <p:sp>
        <p:nvSpPr>
          <p:cNvPr id="3" name="TXT31">
            <a:extLst>
              <a:ext uri="{FF2B5EF4-FFF2-40B4-BE49-F238E27FC236}">
                <ns2:creationId id="{2D57E769-23FF-4CFF-8C01-917F80446535}"/>
              </a:ext>
            </a:extLst>
          </p:cNvPr>
          <p:cNvSpPr>
            <a:spLocks noGrp="1"/>
          </p:cNvSpPr>
          <p:nvPr/>
        </p:nvSpPr>
        <p:spPr>
          <a:xfrm>
            <a:off x="657225" y="1219200"/>
            <a:ext cx="3381375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Определили границы</a:t>
            </a:r>
          </a:p>
          <a:p>
            <a:pPr algn="l">
              <a:def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defRPr>
            </a:pPr>
            <a:r>
              <a:rPr sz="1950" b="1">
                <a:solidFill>
                  <a:srgbClr val="151515"/>
                </a:solidFill>
                <a:latin typeface="ALS Gorizont"/>
                <a:ea typeface="ALS Gorizont"/>
                <a:cs typeface="ALS Gorizont"/>
              </a:rPr>
              <a:t>и участников</a:t>
            </a:r>
          </a:p>
        </p:txBody>
      </p:sp>
      <p:sp>
        <p:nvSpPr>
          <p:cNvPr id="4" name="TXT32">
            <a:extLst>
              <a:ext uri="{FF2B5EF4-FFF2-40B4-BE49-F238E27FC236}">
                <ns2:creationId id="{789946A0-DC43-4202-9FFA-F10CD4CE16BC}"/>
              </a:ext>
            </a:extLst>
          </p:cNvPr>
          <p:cNvSpPr>
            <a:spLocks noGrp="1"/>
          </p:cNvSpPr>
          <p:nvPr/>
        </p:nvSpPr>
        <p:spPr>
          <a:xfrm>
            <a:off x="657225" y="2085975"/>
            <a:ext cx="338137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Описали назначение</a:t>
            </a:r>
          </a:p>
          <a:p>
            <a:pPr algn="l">
              <a:def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151515"/>
                </a:solidFill>
                <a:latin typeface="Golos Text"/>
                <a:ea typeface="Golos Text"/>
                <a:cs typeface="Golos Text"/>
              </a:rPr>
              <a:t>и обмен данными</a:t>
            </a:r>
          </a:p>
        </p:txBody>
      </p:sp>
      <p:sp>
        <p:nvSpPr>
          <p:cNvPr id="5" name="TXT33">
            <a:extLst>
              <a:ext uri="{FF2B5EF4-FFF2-40B4-BE49-F238E27FC236}">
                <ns2:creationId id="{E05D52CA-9345-43CE-AFA5-E83ED0553CAF}"/>
              </a:ext>
            </a:extLst>
          </p:cNvPr>
          <p:cNvSpPr>
            <a:spLocks noGrp="1"/>
          </p:cNvSpPr>
          <p:nvPr/>
        </p:nvSpPr>
        <p:spPr>
          <a:xfrm>
            <a:off x="657225" y="3124200"/>
            <a:ext cx="33813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Составили</a:t>
            </a:r>
          </a:p>
          <a:p>
            <a:pPr algn="l">
              <a:def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0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матрицу событий</a:t>
            </a:r>
          </a:p>
        </p:txBody>
      </p:sp>
      <p:sp>
        <p:nvSpPr>
          <p:cNvPr id="6" name="TXT34">
            <a:extLst>
              <a:ext uri="{FF2B5EF4-FFF2-40B4-BE49-F238E27FC236}">
                <ns2:creationId id="{2D65F3C9-D93D-4500-808F-A723D4F5C3BF}"/>
              </a:ext>
            </a:extLst>
          </p:cNvPr>
          <p:cNvSpPr>
            <a:spLocks noGrp="1"/>
          </p:cNvSpPr>
          <p:nvPr/>
        </p:nvSpPr>
        <p:spPr>
          <a:xfrm>
            <a:off x="657225" y="4000500"/>
            <a:ext cx="3381375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Связали события</a:t>
            </a:r>
          </a:p>
          <a:p>
            <a:pPr algn="l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 входами и выходами</a:t>
            </a:r>
          </a:p>
        </p:txBody>
      </p:sp>
      <p:sp>
        <p:nvSpPr>
          <p:cNvPr id="7" name="TXT35">
            <a:extLst>
              <a:ext uri="{FF2B5EF4-FFF2-40B4-BE49-F238E27FC236}">
                <ns2:creationId id="{D2424F78-0025-4C88-A078-464A44979DB3}"/>
              </a:ext>
            </a:extLst>
          </p:cNvPr>
          <p:cNvSpPr>
            <a:spLocks noGrp="1"/>
          </p:cNvSpPr>
          <p:nvPr/>
        </p:nvSpPr>
        <p:spPr>
          <a:xfrm>
            <a:off x="5038725" y="1247775"/>
            <a:ext cx="3400425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Модель АИС</a:t>
            </a:r>
          </a:p>
          <a:p>
            <a:pPr algn="l">
              <a:def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17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спроектирована</a:t>
            </a:r>
          </a:p>
        </p:txBody>
      </p:sp>
      <p:sp>
        <p:nvSpPr>
          <p:cNvPr id="8" name="TXT36">
            <a:extLst>
              <a:ext uri="{FF2B5EF4-FFF2-40B4-BE49-F238E27FC236}">
                <ns2:creationId id="{C6AA4518-E98A-471A-B70A-6F678BB691BF}"/>
              </a:ext>
            </a:extLst>
          </p:cNvPr>
          <p:cNvSpPr>
            <a:spLocks noGrp="1"/>
          </p:cNvSpPr>
          <p:nvPr/>
        </p:nvSpPr>
        <p:spPr>
          <a:xfrm>
            <a:off x="5038725" y="2371725"/>
            <a:ext cx="3343275" cy="2133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Построили A−0, A0 и A1</a:t>
            </a:r>
          </a:p>
          <a:p>
            <a:r>
              <a:t/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Выделили 6 процессов</a:t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и 9 накопителей</a:t>
            </a:r>
          </a:p>
          <a:p>
            <a:r>
              <a:t/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Управление пользователями</a:t>
            </a:r>
          </a:p>
          <a:p>
            <a:pPr algn="l">
              <a:def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57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раскрыли на 4 подпроцесса</a:t>
            </a:r>
          </a:p>
        </p:txBody>
      </p:sp>
    </p:spTree>
    <p:extLst>
      <p:ext uri="{BB962C8B-B14F-4D97-AF65-F5344CB8AC3E}">
        <ns3:creationId val="568716978"/>
      </p:ext>
    </p:extLst>
  </p:cSld>
  <p:clrMapOvr>
    <a:masterClrMapping/>
  </p:clrMapOvr>
</p:sld>
</file>

<file path=ppt/slides/itmo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7">
            <a:extLst>
              <a:ext uri="{FF2B5EF4-FFF2-40B4-BE49-F238E27FC236}">
                <ns3:creationId id="{84297F20-69F8-49ED-A1CD-2220CD30A466}"/>
              </a:ext>
            </a:extLst>
          </p:cNvPr>
          <p:cNvSpPr>
            <a:spLocks noGrp="1"/>
          </p:cNvSpPr>
          <p:nvPr/>
        </p:nvSpPr>
        <p:spPr>
          <a:xfrm>
            <a:off x="1285875" y="1666875"/>
            <a:ext cx="6572250" cy="1323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Спасибо</a:t>
            </a:r>
          </a:p>
          <a:p>
            <a:pPr algn="ctr">
              <a:def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defRPr>
            </a:pPr>
            <a:r>
              <a:rPr sz="2925" b="1">
                <a:solidFill>
                  <a:srgbClr val="FFFFFF"/>
                </a:solidFill>
                <a:latin typeface="ALS Gorizont"/>
                <a:ea typeface="ALS Gorizont"/>
                <a:cs typeface="ALS Gorizont"/>
              </a:rPr>
              <a:t>за внимание</a:t>
            </a:r>
          </a:p>
        </p:txBody>
      </p:sp>
      <p:sp>
        <p:nvSpPr>
          <p:cNvPr id="3" name="TXT38">
            <a:extLst>
              <a:ext uri="{FF2B5EF4-FFF2-40B4-BE49-F238E27FC236}">
                <ns3:creationId id="{8F3E7FAE-83B1-43B1-A326-A8443713F382}"/>
              </a:ext>
            </a:extLst>
          </p:cNvPr>
          <p:cNvSpPr>
            <a:spLocks noGrp="1"/>
          </p:cNvSpPr>
          <p:nvPr/>
        </p:nvSpPr>
        <p:spPr>
          <a:xfrm>
            <a:off x="1285875" y="4162425"/>
            <a:ext cx="6572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7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Вопросы?</a:t>
            </a:r>
          </a:p>
        </p:txBody>
      </p:sp>
    </p:spTree>
    <p:extLst>
      <p:ext uri="{BB962C8B-B14F-4D97-AF65-F5344CB8AC3E}">
        <ns4:creationId val="1864942597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2442525"/>
            <a:ext cx="6400800" cy="704850"/>
          </a:xfrm>
        </p:spPr>
        <p:txBody>
          <a:bodyPr>
            <a:no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Название</a:t>
            </a:r>
            <a:br>
              <a:rPr lang="ru-RU" sz="4400" dirty="0">
                <a:solidFill>
                  <a:schemeClr val="bg1"/>
                </a:solidFill>
              </a:rPr>
            </a:br>
            <a:r>
              <a:rPr lang="ru-RU" sz="4400" dirty="0">
                <a:solidFill>
                  <a:schemeClr val="bg1"/>
                </a:solidFill>
              </a:rPr>
              <a:t>презентации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2BEA39AC-0C16-00A4-A7D1-16251640B1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D6F04732-FA0C-6214-4E09-404CAC7C88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69534-90B7-5774-2306-1A9DD2D6F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95D14C-0749-B366-DF60-831456AD6E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8376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59C3AC6-6CD1-C215-A3EB-1B669F1857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2A005B5-E37E-D5F7-C74B-2628D4CDB8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683ECEF-C126-4F4F-2B77-7FC63C7D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07358EA-8600-ADBA-52DF-6AC12A92CA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6774C3B-FC5A-185E-8092-889B7F24F4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3540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B75BB7E-5242-607C-D973-5C88E2FAB3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922D73-8950-E8DA-530F-B7973DB0EC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22F25C4-7663-582D-5776-E7C30E76E2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1D6CCC61-BB2F-AF7A-925F-8FDA44CDA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8716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B39C447F-7789-D914-2682-159AE68208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586" b="586"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A915A35-EC87-76A1-7F8F-9378EFC6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F7CD16-D4EE-5D1A-67C6-8FC838F976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283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EC9FE03F-277F-A8A4-C0C6-0727AF17B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9A927D3-D22C-72D3-9160-2A7238153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7D6E8493-F34E-A3DE-5CC9-A51F7FEAAC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pic>
        <p:nvPicPr>
          <p:cNvPr id="14" name="Рисунок 13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55CAB40C-5337-8BF0-0625-E685F899AA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5924" b="592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60398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14035420-BC7F-2B5B-9DC7-253E9700DE0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1B7B10-8BE9-0D4B-4BEE-4D9FECFAD7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30AEA4-B064-F849-E3CD-DAD6A93B84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F843F57-4FDA-9C25-01A0-9142B2AC0C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3DB4739-E298-9FB8-621A-63B5AD7B16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044626B9-CC56-F5AC-20ED-9D24FFDB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C4EA0E19-5F7D-AE8D-E253-F58186F00CD1}"/>
              </a:ext>
            </a:extLst>
          </p:cNvPr>
          <p:cNvSpPr>
            <a:spLocks noGrp="1"/>
          </p:cNvSpPr>
          <p:nvPr>
            <p:ph sz="half" idx="26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3" name="Рисунок 12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D789FEA7-5AC2-99BA-BB98-5D94990238D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11" b="6711"/>
          <a:stretch>
            <a:fillRect/>
          </a:stretch>
        </p:blipFill>
        <p:spPr/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98BE48A4-EBBB-156D-739A-E7D0659C950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/>
      </p:sp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96B9C87A-1CB9-8548-2E75-F473D1DB0B0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/>
      </p:sp>
    </p:spTree>
    <p:extLst>
      <p:ext uri="{BB962C8B-B14F-4D97-AF65-F5344CB8AC3E}">
        <p14:creationId xmlns:p14="http://schemas.microsoft.com/office/powerpoint/2010/main" val="2935888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20DBFC-6C80-6C49-5394-0A6FB6DA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4B8CD1-C0D2-3E0D-BEF2-7B51C67BD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Рисунок 9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1350F252-A57D-E561-C9FF-C567FEE1DFB1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t="5924" b="5924"/>
          <a:stretch>
            <a:fillRect/>
          </a:stretch>
        </p:blipFill>
        <p:spPr/>
      </p:pic>
      <p:sp>
        <p:nvSpPr>
          <p:cNvPr id="5" name="Рисунок 4">
            <a:extLst>
              <a:ext uri="{FF2B5EF4-FFF2-40B4-BE49-F238E27FC236}">
                <a16:creationId xmlns:a16="http://schemas.microsoft.com/office/drawing/2014/main" id="{635C7FA0-CA3F-99C6-A092-B8AB77EF3EE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8BD1F05A-4D93-BBD5-5092-281EBB8326D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965F9921-F51F-C17A-7697-90CCBA75BC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435074E3-2EE0-D6EC-E4D4-936FD11A5ED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/>
      </p:sp>
    </p:spTree>
    <p:extLst>
      <p:ext uri="{BB962C8B-B14F-4D97-AF65-F5344CB8AC3E}">
        <p14:creationId xmlns:p14="http://schemas.microsoft.com/office/powerpoint/2010/main" val="3358523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96C84A0-6805-22CC-8370-4BB5276FE4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1A8490-1FF6-0E6E-8A8F-4B88094CBE8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E856410-4EF1-AD81-1ABA-060749F7BDF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BC0C6B6-A6AC-5C98-DFAB-E1AA4CC8B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pic>
        <p:nvPicPr>
          <p:cNvPr id="16" name="Рисунок 15" descr="Изображение выглядит как человек, внутренний, стена&#10;&#10;Автоматически созданное описание">
            <a:extLst>
              <a:ext uri="{FF2B5EF4-FFF2-40B4-BE49-F238E27FC236}">
                <a16:creationId xmlns:a16="http://schemas.microsoft.com/office/drawing/2014/main" id="{766C9A8E-4928-9833-EF09-D6BAA450CA17}"/>
              </a:ext>
            </a:extLst>
          </p:cNvPr>
          <p:cNvPicPr>
            <a:picLocks noGrp="1" noChangeAspect="1"/>
          </p:cNvPicPr>
          <p:nvPr>
            <p:ph type="pic" sz="quarter" idx="31"/>
          </p:nvPr>
        </p:nvPicPr>
        <p:blipFill rotWithShape="1">
          <a:blip r:embed="rId2"/>
          <a:srcRect l="-243" t="8890" r="243" b="31362"/>
          <a:stretch/>
        </p:blipFill>
        <p:spPr>
          <a:xfrm>
            <a:off x="454050" y="952607"/>
            <a:ext cx="2589213" cy="1304294"/>
          </a:xfrm>
        </p:spPr>
      </p:pic>
      <p:sp>
        <p:nvSpPr>
          <p:cNvPr id="7" name="Рисунок 6">
            <a:extLst>
              <a:ext uri="{FF2B5EF4-FFF2-40B4-BE49-F238E27FC236}">
                <a16:creationId xmlns:a16="http://schemas.microsoft.com/office/drawing/2014/main" id="{85978689-CD89-E96E-2201-F9A2214F8C5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/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BE87A544-55FB-1C80-6A79-70F4E704BF42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D057E28-B633-327F-9C42-D2CC507D781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020292B5-6AA1-44D1-C318-6077FB03E6C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E189EAC7-D2DA-00C2-DBDF-A7C6CFF1D02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>
            <a:normAutofit lnSpcReduction="10000"/>
          </a:bodyPr>
          <a:lstStyle/>
          <a:p>
            <a:endParaRPr lang="ru-RU"/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924ACE34-10A6-1C8E-8DAD-9AA9B4250EA3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/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7435FDD6-FF73-314F-0ECA-07ACCB2459D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</p:sp>
      <p:sp>
        <p:nvSpPr>
          <p:cNvPr id="14" name="Рисунок 13">
            <a:extLst>
              <a:ext uri="{FF2B5EF4-FFF2-40B4-BE49-F238E27FC236}">
                <a16:creationId xmlns:a16="http://schemas.microsoft.com/office/drawing/2014/main" id="{9CAB6ECF-A625-86F0-2A87-1E656A6B5A7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</p:spTree>
    <p:extLst>
      <p:ext uri="{BB962C8B-B14F-4D97-AF65-F5344CB8AC3E}">
        <p14:creationId xmlns:p14="http://schemas.microsoft.com/office/powerpoint/2010/main" val="509741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Golos Text" panose="020B0503020202020204" pitchFamily="34" charset="-52"/>
                <a:cs typeface="Golos Text" panose="020B0503020202020204" pitchFamily="34" charset="-52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6E865-1779-C1D3-8C2B-CE6D381F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A86CA11-FF94-52CB-154C-7057EE646FD8}"/>
              </a:ext>
            </a:extLst>
          </p:cNvPr>
          <p:cNvSpPr txBox="1">
            <a:spLocks/>
          </p:cNvSpPr>
          <p:nvPr/>
        </p:nvSpPr>
        <p:spPr>
          <a:xfrm>
            <a:off x="436728" y="1021377"/>
            <a:ext cx="4327219" cy="2042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На слайдах должно быть как можно меньше текста. Не бойтесь оставлять свободное место, ведь оно имеет такую же ценность, как картинка или текст. </a:t>
            </a:r>
            <a:endParaRPr lang="ru-RU" sz="1200" b="0" i="0" dirty="0">
              <a:effectLst/>
              <a:latin typeface="Golos Text" panose="020B0503020202020204"/>
            </a:endParaRP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/>
              <a:t>Текст должен быть читабельным.</a:t>
            </a:r>
            <a:endParaRPr lang="ru-RU" sz="1200" dirty="0">
              <a:latin typeface="Golos Text" panose="020B0503020202020204"/>
            </a:endParaRP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>
                <a:latin typeface="Golos Text" panose="020B0503020202020204" pitchFamily="34" charset="0"/>
                <a:ea typeface="Golos Text" panose="020B0503020202020204" pitchFamily="34" charset="0"/>
              </a:rPr>
              <a:t>Делайте акцент на самом важном, выделяя слова, например, другим цветом либо цветными плашками, или </a:t>
            </a:r>
            <a:r>
              <a:rPr lang="ru-RU" sz="1200" dirty="0">
                <a:effectLst/>
                <a:latin typeface="Golos Text" panose="020B0503020202020204" pitchFamily="34" charset="0"/>
                <a:ea typeface="Golos Text" panose="020B0503020202020204" pitchFamily="34" charset="0"/>
              </a:rPr>
              <a:t>же используя жирное или курсивное начертание.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Не оставляйте «висячие» предлоги, их нужно переносить на следующую строку. 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0A31D99C-9EE7-7438-A8F6-8A255AD5CCD2}"/>
              </a:ext>
            </a:extLst>
          </p:cNvPr>
          <p:cNvSpPr txBox="1">
            <a:spLocks/>
          </p:cNvSpPr>
          <p:nvPr/>
        </p:nvSpPr>
        <p:spPr>
          <a:xfrm>
            <a:off x="4795120" y="1051995"/>
            <a:ext cx="2031707" cy="29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00" i="1" dirty="0"/>
              <a:t>Пример оформления слайда:</a:t>
            </a:r>
          </a:p>
        </p:txBody>
      </p:sp>
      <p:pic>
        <p:nvPicPr>
          <p:cNvPr id="5" name="Рисунок 4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30100B6D-2EAC-D80B-983A-F420D977B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787" y="1344079"/>
            <a:ext cx="3247278" cy="182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3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6E865-1779-C1D3-8C2B-CE6D381F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251CB0-746D-A717-9B37-016B96D921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28" y="974866"/>
            <a:ext cx="8253351" cy="257168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</a:pPr>
            <a:r>
              <a:rPr lang="ru-RU" sz="1200" dirty="0"/>
              <a:t>В шаблоне презентации представлено несколько вариантов фонов.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endParaRPr lang="ru-RU" sz="1800" dirty="0"/>
          </a:p>
        </p:txBody>
      </p:sp>
      <p:pic>
        <p:nvPicPr>
          <p:cNvPr id="11" name="Рисунок 10" descr="Изображение выглядит как стрела&#10;&#10;Автоматически созданное описание">
            <a:extLst>
              <a:ext uri="{FF2B5EF4-FFF2-40B4-BE49-F238E27FC236}">
                <a16:creationId xmlns:a16="http://schemas.microsoft.com/office/drawing/2014/main" id="{2CAC1882-B83E-E295-975B-04CCF92AD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265" y="2863302"/>
            <a:ext cx="1854220" cy="1060711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A0B55B04-6B68-F1FD-0C61-09A647061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138" y="2560072"/>
            <a:ext cx="1807636" cy="104985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F1A216D-6E3A-375D-D799-488E9A560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657" y="3956648"/>
            <a:ext cx="1815042" cy="1040979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0386C1B8-7B5C-45A6-C667-01CB24B81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545" y="3961949"/>
            <a:ext cx="1854220" cy="106345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5F919F3-5767-C579-9FFB-76AF9EDFA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89" y="2232422"/>
            <a:ext cx="1806219" cy="1016439"/>
          </a:xfrm>
          <a:prstGeom prst="rect">
            <a:avLst/>
          </a:prstGeom>
        </p:spPr>
      </p:pic>
      <p:pic>
        <p:nvPicPr>
          <p:cNvPr id="34" name="Рисунок 33" descr="Изображение выглядит как текст, электроника, дисплей&#10;&#10;Автоматически созданное описание">
            <a:extLst>
              <a:ext uri="{FF2B5EF4-FFF2-40B4-BE49-F238E27FC236}">
                <a16:creationId xmlns:a16="http://schemas.microsoft.com/office/drawing/2014/main" id="{E9645F72-2EEB-F09D-15A0-B072862DA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771" y="1538719"/>
            <a:ext cx="2148725" cy="124795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97861AD1-B11F-2C41-6D57-28BBC7F374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045" y="2823712"/>
            <a:ext cx="1806218" cy="101401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79ADAFAC-5582-2823-5477-B9FC9ED692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533" y="2589779"/>
            <a:ext cx="1806219" cy="1016439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AE4CC287-7E2C-12D7-7703-09A4F157F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990" y="2093237"/>
            <a:ext cx="1806219" cy="1016439"/>
          </a:xfrm>
          <a:prstGeom prst="rect">
            <a:avLst/>
          </a:prstGeom>
        </p:spPr>
      </p:pic>
      <p:pic>
        <p:nvPicPr>
          <p:cNvPr id="39" name="Рисунок 38" descr="Изображение выглядит как текст, электроника, дисплей&#10;&#10;Автоматически созданное описание">
            <a:extLst>
              <a:ext uri="{FF2B5EF4-FFF2-40B4-BE49-F238E27FC236}">
                <a16:creationId xmlns:a16="http://schemas.microsoft.com/office/drawing/2014/main" id="{7F4F129D-D192-D5EC-4045-6FF69EE454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9123" y="1502150"/>
            <a:ext cx="2148725" cy="1247950"/>
          </a:xfrm>
          <a:prstGeom prst="rect">
            <a:avLst/>
          </a:prstGeom>
        </p:spPr>
      </p:pic>
      <p:sp>
        <p:nvSpPr>
          <p:cNvPr id="40" name="Объект 2">
            <a:extLst>
              <a:ext uri="{FF2B5EF4-FFF2-40B4-BE49-F238E27FC236}">
                <a16:creationId xmlns:a16="http://schemas.microsoft.com/office/drawing/2014/main" id="{1142AB3C-C9FB-88F2-21DE-8C13C3A0649D}"/>
              </a:ext>
            </a:extLst>
          </p:cNvPr>
          <p:cNvSpPr txBox="1">
            <a:spLocks/>
          </p:cNvSpPr>
          <p:nvPr/>
        </p:nvSpPr>
        <p:spPr>
          <a:xfrm>
            <a:off x="430355" y="1239334"/>
            <a:ext cx="3377369" cy="292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dirty="0"/>
              <a:t>Их можно </a:t>
            </a:r>
            <a:r>
              <a:rPr lang="ru-RU" sz="1200" dirty="0" err="1"/>
              <a:t>миксовать</a:t>
            </a:r>
            <a:r>
              <a:rPr lang="ru-RU" sz="1200" dirty="0"/>
              <a:t>: </a:t>
            </a:r>
          </a:p>
        </p:txBody>
      </p:sp>
      <p:sp>
        <p:nvSpPr>
          <p:cNvPr id="41" name="Объект 2">
            <a:extLst>
              <a:ext uri="{FF2B5EF4-FFF2-40B4-BE49-F238E27FC236}">
                <a16:creationId xmlns:a16="http://schemas.microsoft.com/office/drawing/2014/main" id="{2CE85022-AA2F-E141-4234-EEBCC6A41382}"/>
              </a:ext>
            </a:extLst>
          </p:cNvPr>
          <p:cNvSpPr txBox="1">
            <a:spLocks/>
          </p:cNvSpPr>
          <p:nvPr/>
        </p:nvSpPr>
        <p:spPr>
          <a:xfrm>
            <a:off x="4385980" y="1216089"/>
            <a:ext cx="4251716" cy="292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SzPct val="100000"/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Golos Text" panose="020B0503020202020204" pitchFamily="34" charset="-52"/>
                <a:ea typeface="+mn-ea"/>
                <a:cs typeface="Golos Text" panose="020B0503020202020204" pitchFamily="34" charset="-52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dirty="0"/>
              <a:t>А можно выбрать один цвет для всей презентации:</a:t>
            </a:r>
          </a:p>
        </p:txBody>
      </p:sp>
    </p:spTree>
    <p:extLst>
      <p:ext uri="{BB962C8B-B14F-4D97-AF65-F5344CB8AC3E}">
        <p14:creationId xmlns:p14="http://schemas.microsoft.com/office/powerpoint/2010/main" val="4031685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34C1837-1767-690C-EEDD-0863FF186E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005763"/>
            <a:ext cx="8347587" cy="282848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Для того чтобы ваша презентация вызывала у аудитории эмоциональный отклик, используйте подходящие изображения.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Выбирайте фотографии только высокого разрешения.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/>
              <a:t> Любые фотографии могут быть использованы в презентации только с соблюдением авторских прав.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latin typeface="Golos Text" panose="020B0503020202020204"/>
              </a:rPr>
              <a:t> </a:t>
            </a:r>
            <a:r>
              <a:rPr lang="ru-RU" sz="1200" dirty="0"/>
              <a:t>Таблицы и списки по возможности заменяйте инфографикой и диаграммами. Если же необходима таблица, то делайте ее максимально простой и понятной для аудитории.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endParaRPr lang="ru-RU" sz="1200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8D7015-8078-E895-F588-5053D801C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600" dirty="0"/>
              <a:t>Рекомендации по оформлению слайдов</a:t>
            </a:r>
          </a:p>
        </p:txBody>
      </p:sp>
    </p:spTree>
    <p:extLst>
      <p:ext uri="{BB962C8B-B14F-4D97-AF65-F5344CB8AC3E}">
        <p14:creationId xmlns:p14="http://schemas.microsoft.com/office/powerpoint/2010/main" val="35018288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5343</TotalTime>
  <Words>209</Words>
  <Application>Microsoft Office PowerPoint</Application>
  <PresentationFormat>Экран (16:9)</PresentationFormat>
  <Paragraphs>24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Название презентации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  <vt:lpstr>Рекомендации по оформлению слайдов</vt:lpstr>
      <vt:lpstr>Рекомендации по оформлению слайдов</vt:lpstr>
      <vt:lpstr>Рекомендации по оформлению слайдов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Сервис поиска и возврата потерянных вещей</dc:title>
  <dc:creator/>
  <ns0:lastModifiedBy/>
  <ns0:revision>103</ns0:revision>
  <ns2:created xsi:type="dcterms:W3CDTF">2014-06-27T12:30:22Z</ns2:created>
  <ns2:modified xsi:type="dcterms:W3CDTF">2022-09-09T13:21:46Z</ns2:modified>
</ns0:coreProperties>
</file>