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overlay/docProps/app.xml" ContentType="application/vnd.openxmlformats-officedocument.extended-properties+xml"/>
  <Override PartName="/ppt/overlay/ppt/presentation.xml" ContentType="application/vnd.openxmlformats-officedocument.presentationml.presentation.main+xml"/>
  <Override PartName="/ppt/overlay/ppt/theme/theme1.xml" ContentType="application/vnd.openxmlformats-officedocument.theme+xml"/>
  <Override PartName="/ppt/overlay/ppt/slideMasters/slideMaster1.xml" ContentType="application/vnd.openxmlformats-officedocument.presentationml.slideMaster+xml"/>
  <Override PartName="/ppt/overlay/ppt/slideMasters/theme/theme2.xml" ContentType="application/vnd.openxmlformats-officedocument.theme+xml"/>
  <Override PartName="/ppt/overlay/ppt/slideLayouts/slideLayout1.xml" ContentType="application/vnd.openxmlformats-officedocument.presentationml.slideLayout+xml"/>
  <Override PartName="/ppt/overlay/ppt/notesMasters/notesMaster1.xml" ContentType="application/vnd.openxmlformats-officedocument.presentationml.notesMaster+xml"/>
  <Override PartName="/ppt/overlay/ppt/notesMasters/theme/theme3.xml" ContentType="application/vnd.openxmlformats-officedocument.theme+xml"/>
  <Override PartName="/ppt/overlay/ppt/presProps.xml" ContentType="application/vnd.openxmlformats-officedocument.presentationml.presProps+xml"/>
  <Override PartName="/ppt/overlay/ppt/tableStyles.xml" ContentType="application/vnd.openxmlformats-officedocument.presentationml.tableStyles+xml"/>
  <Override PartName="/ppt/overlay/ppt/slides/slide1.xml" ContentType="application/vnd.openxmlformats-officedocument.presentationml.slide+xml"/>
  <Override PartName="/ppt/overlay/ppt/notesSlides/notesSlide1.xml" ContentType="application/vnd.openxmlformats-officedocument.presentationml.notesSlide+xml"/>
  <Override PartName="/ppt/overlay/ppt/slides/slide2.xml" ContentType="application/vnd.openxmlformats-officedocument.presentationml.slide+xml"/>
  <Override PartName="/ppt/overlay/ppt/notesSlides/notesSlide2.xml" ContentType="application/vnd.openxmlformats-officedocument.presentationml.notesSlide+xml"/>
  <Override PartName="/ppt/overlay/ppt/slides/slide3.xml" ContentType="application/vnd.openxmlformats-officedocument.presentationml.slide+xml"/>
  <Override PartName="/ppt/overlay/ppt/notesSlides/notesSlide3.xml" ContentType="application/vnd.openxmlformats-officedocument.presentationml.notesSlide+xml"/>
  <Override PartName="/ppt/overlay/ppt/slides/slide4.xml" ContentType="application/vnd.openxmlformats-officedocument.presentationml.slide+xml"/>
  <Override PartName="/ppt/overlay/ppt/notesSlides/notesSlide4.xml" ContentType="application/vnd.openxmlformats-officedocument.presentationml.notesSlide+xml"/>
  <Override PartName="/ppt/overlay/ppt/slides/slide5.xml" ContentType="application/vnd.openxmlformats-officedocument.presentationml.slide+xml"/>
  <Override PartName="/ppt/overlay/ppt/notesSlides/notesSlide5.xml" ContentType="application/vnd.openxmlformats-officedocument.presentationml.notesSlide+xml"/>
  <Override PartName="/ppt/overlay/ppt/slides/slide6.xml" ContentType="application/vnd.openxmlformats-officedocument.presentationml.slide+xml"/>
  <Override PartName="/ppt/overlay/ppt/notesSlides/notesSlide6.xml" ContentType="application/vnd.openxmlformats-officedocument.presentationml.notesSlide+xml"/>
  <Override PartName="/ppt/overlay/ppt/slides/slide7.xml" ContentType="application/vnd.openxmlformats-officedocument.presentationml.slide+xml"/>
  <Override PartName="/ppt/overlay/ppt/notesSlides/notesSlide7.xml" ContentType="application/vnd.openxmlformats-officedocument.presentationml.notesSlide+xml"/>
  <Override PartName="/ppt/overlay/ppt/slides/slide8.xml" ContentType="application/vnd.openxmlformats-officedocument.presentationml.slide+xml"/>
  <Override PartName="/ppt/overlay/ppt/notesSlides/notesSlide8.xml" ContentType="application/vnd.openxmlformats-officedocument.presentationml.notesSlide+xml"/>
  <Override PartName="/ppt/overlay/ppt/slides/slide9.xml" ContentType="application/vnd.openxmlformats-officedocument.presentationml.slide+xml"/>
  <Override PartName="/ppt/overlay/ppt/notesSlides/notesSlide9.xml" ContentType="application/vnd.openxmlformats-officedocument.presentationml.notesSlide+xml"/>
  <Override PartName="/ppt/overlay/ppt/slides/slide10.xml" ContentType="application/vnd.openxmlformats-officedocument.presentationml.slide+xml"/>
  <Override PartName="/ppt/overlay/ppt/notesSlides/notesSlide10.xml" ContentType="application/vnd.openxmlformats-officedocument.presentationml.notesSlide+xml"/>
  <Override PartName="/ppt/overlay/ppt/slides/slide11.xml" ContentType="application/vnd.openxmlformats-officedocument.presentationml.slide+xml"/>
  <Override PartName="/ppt/overlay/ppt/notesSlides/notesSlide11.xml" ContentType="application/vnd.openxmlformats-officedocument.presentationml.notesSlide+xml"/>
  <Override PartName="/ppt/overlay/ppt/slides/slide12.xml" ContentType="application/vnd.openxmlformats-officedocument.presentationml.slide+xml"/>
  <Override PartName="/ppt/overlay/ppt/notesSlides/notesSlide12.xml" ContentType="application/vnd.openxmlformats-officedocument.presentationml.notesSlide+xml"/>
  <Override PartName="/ppt/slides/itmoSlide1.xml" ContentType="application/vnd.openxmlformats-officedocument.presentationml.slide+xml"/>
  <Override PartName="/ppt/slides/itmoSlide2.xml" ContentType="application/vnd.openxmlformats-officedocument.presentationml.slide+xml"/>
  <Override PartName="/ppt/slides/itmoSlide3.xml" ContentType="application/vnd.openxmlformats-officedocument.presentationml.slide+xml"/>
  <Override PartName="/ppt/slides/itmoSlide4.xml" ContentType="application/vnd.openxmlformats-officedocument.presentationml.slide+xml"/>
  <Override PartName="/ppt/slides/itmoSlide5.xml" ContentType="application/vnd.openxmlformats-officedocument.presentationml.slide+xml"/>
  <Override PartName="/ppt/slides/itmoSlide6.xml" ContentType="application/vnd.openxmlformats-officedocument.presentationml.slide+xml"/>
  <Override PartName="/ppt/slides/itmoSlide7.xml" ContentType="application/vnd.openxmlformats-officedocument.presentationml.slide+xml"/>
  <Override PartName="/ppt/slides/itmoSlide8.xml" ContentType="application/vnd.openxmlformats-officedocument.presentationml.slide+xml"/>
  <Override PartName="/ppt/slides/itmoSlide9.xml" ContentType="application/vnd.openxmlformats-officedocument.presentationml.slide+xml"/>
  <Override PartName="/ppt/slides/itmoSlide10.xml" ContentType="application/vnd.openxmlformats-officedocument.presentationml.slide+xml"/>
  <Override PartName="/ppt/slides/itmoSlide11.xml" ContentType="application/vnd.openxmlformats-officedocument.presentationml.slide+xml"/>
  <Override PartName="/ppt/slides/itmoSlide12.xml" ContentType="application/vnd.openxmlformats-officedocument.presentationml.slide+xml"/>
</Types>
</file>

<file path=_rels/.rels><?xml version='1.0' encoding='utf-8'?>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870" r:id="rId1"/>
  </p:sldMasterIdLst>
  <p:notesMasterIdLst>
    <p:notesMasterId r:id="rId17"/>
    <p:notesMasterId r:id="overlay_notesMaster_R4efd63b17fdc4795"/>
  </p:notesMasterIdLst>
  <p:handoutMasterIdLst>
    <p:handoutMasterId r:id="rId18"/>
  </p:handoutMasterIdLst>
  <p:sldIdLst>
    <p:sldId id="257" r:id="itmoSlide1"/>
    <p:sldId id="258" r:id="itmoSlide2"/>
    <p:sldId id="259" r:id="itmoSlide3"/>
    <p:sldId id="260" r:id="itmoSlide4"/>
    <p:sldId id="261" r:id="itmoSlide5"/>
    <p:sldId id="262" r:id="itmoSlide6"/>
    <p:sldId id="263" r:id="itmoSlide7"/>
    <p:sldId id="264" r:id="itmoSlide8"/>
    <p:sldId id="265" r:id="itmoSlide9"/>
    <p:sldId id="266" r:id="itmoSlide10"/>
    <p:sldId id="267" r:id="itmoSlide11"/>
    <p:sldId id="268" r:id="itmoSlide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1611">
          <ns3:clr>
            <a:srgbClr val="A4A3A4"/>
          </ns3:clr>
        </ns3:guide>
        <ns3:guide id="2" pos="2874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72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864" y="1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?>
<Relationships xmlns="http://schemas.openxmlformats.org/package/2006/relationships"><Relationship Id="rId18" Type="http://schemas.openxmlformats.org/officeDocument/2006/relationships/handoutMaster" Target="handoutMasters/handoutMaster1.xml" /><Relationship Id="rId21" Type="http://schemas.openxmlformats.org/officeDocument/2006/relationships/viewProps" Target="viewProps.xml" /><Relationship Id="rId17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microsoft.com/office/2018/10/relationships/authors" Target="authors.xml" /><Relationship Id="rId23" Type="http://schemas.openxmlformats.org/officeDocument/2006/relationships/tableStyles" Target="tableStyles.xml" /><Relationship Id="rId19" Type="http://schemas.openxmlformats.org/officeDocument/2006/relationships/commentAuthors" Target="commentAuthors.xml" /><Relationship Id="rId22" Type="http://schemas.openxmlformats.org/officeDocument/2006/relationships/theme" Target="theme/theme1.xml" /><Relationship Id="itmoSlide1" Type="http://schemas.openxmlformats.org/officeDocument/2006/relationships/slide" Target="slides/itmoSlide1.xml" /><Relationship Id="itmoSlide2" Type="http://schemas.openxmlformats.org/officeDocument/2006/relationships/slide" Target="slides/itmoSlide2.xml" /><Relationship Id="itmoSlide3" Type="http://schemas.openxmlformats.org/officeDocument/2006/relationships/slide" Target="slides/itmoSlide3.xml" /><Relationship Id="itmoSlide4" Type="http://schemas.openxmlformats.org/officeDocument/2006/relationships/slide" Target="slides/itmoSlide4.xml" /><Relationship Id="itmoSlide5" Type="http://schemas.openxmlformats.org/officeDocument/2006/relationships/slide" Target="slides/itmoSlide5.xml" /><Relationship Id="itmoSlide6" Type="http://schemas.openxmlformats.org/officeDocument/2006/relationships/slide" Target="slides/itmoSlide6.xml" /><Relationship Id="itmoSlide7" Type="http://schemas.openxmlformats.org/officeDocument/2006/relationships/slide" Target="slides/itmoSlide7.xml" /><Relationship Id="itmoSlide8" Type="http://schemas.openxmlformats.org/officeDocument/2006/relationships/slide" Target="slides/itmoSlide8.xml" /><Relationship Id="itmoSlide9" Type="http://schemas.openxmlformats.org/officeDocument/2006/relationships/slide" Target="slides/itmoSlide9.xml" /><Relationship Id="itmoSlide10" Type="http://schemas.openxmlformats.org/officeDocument/2006/relationships/slide" Target="slides/itmoSlide10.xml" /><Relationship Id="itmoSlide11" Type="http://schemas.openxmlformats.org/officeDocument/2006/relationships/slide" Target="slides/itmoSlide11.xml" /><Relationship Id="itmoSlide12" Type="http://schemas.openxmlformats.org/officeDocument/2006/relationships/slide" Target="slides/itmoSlide12.xml" /><Relationship Id="overlay_notesMaster_R4efd63b17fdc4795" Type="http://schemas.openxmlformats.org/officeDocument/2006/relationships/notesMaster" Target="overlay/ppt/notesMasters/notesMaster1.xml" /></Relationships>
</file>

<file path=ppt/handoutMasters/_rels/handoutMaster1.xml.rels><?xml version='1.0' encoding='utf-8'?>
<Relationships xmlns="http://schemas.openxmlformats.org/package/2006/relationships"><Relationship Id="rId1" Type="http://schemas.openxmlformats.org/officeDocument/2006/relationships/theme" Target="../theme/theme3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9/9/2022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?>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9/9/2022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overlay/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ppt/overlay/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2026-10-08T13:29:56.9180000Z</dcterms:created>
  <dcterms:modified xsi:type="dcterms:W3CDTF">2026-10-08T13:29:56.9180000Z</dcterms:modified>
</coreProperties>
</file>

<file path=ppt/overlay/ppt/_rels/presentation.xml.rels><?xml version='1.0' encoding='utf-8'?>
<Relationships xmlns="http://schemas.openxmlformats.org/package/2006/relationships"><Relationship Type="http://schemas.openxmlformats.org/officeDocument/2006/relationships/theme" Target="theme/theme1.xml" Id="R07e9be08664a4798" /><Relationship Type="http://schemas.openxmlformats.org/officeDocument/2006/relationships/slideMaster" Target="slideMasters/slideMaster1.xml" Id="R11b01f24e5cb4246" /><Relationship Type="http://schemas.openxmlformats.org/officeDocument/2006/relationships/notesMaster" Target="notesMasters/notesMaster1.xml" Id="R4efd63b17fdc4795" /><Relationship Type="http://schemas.openxmlformats.org/officeDocument/2006/relationships/presProps" Target="presProps.xml" Id="R5633c4a4b9414b64" /><Relationship Type="http://schemas.openxmlformats.org/officeDocument/2006/relationships/tableStyles" Target="tableStyles.xml" Id="Rde5cb782e18a4ff3" /><Relationship Type="http://schemas.openxmlformats.org/officeDocument/2006/relationships/slide" Target="../../slides/itmoSlide1.xml" Id="Rcb511158731c42ba" /><Relationship Type="http://schemas.openxmlformats.org/officeDocument/2006/relationships/slide" Target="../../slides/itmoSlide2.xml" Id="Rbc992b0acdbb4842" /><Relationship Type="http://schemas.openxmlformats.org/officeDocument/2006/relationships/slide" Target="../../slides/itmoSlide3.xml" Id="Rea08ec333da24ca1" /><Relationship Type="http://schemas.openxmlformats.org/officeDocument/2006/relationships/slide" Target="../../slides/itmoSlide4.xml" Id="R8f2fedc7dd514bc6" /><Relationship Type="http://schemas.openxmlformats.org/officeDocument/2006/relationships/slide" Target="../../slides/itmoSlide5.xml" Id="Re54b9a13210d4675" /><Relationship Type="http://schemas.openxmlformats.org/officeDocument/2006/relationships/slide" Target="../../slides/itmoSlide6.xml" Id="R23ab42e58d6e45e2" /><Relationship Type="http://schemas.openxmlformats.org/officeDocument/2006/relationships/slide" Target="../../slides/itmoSlide7.xml" Id="R7ecffab31e554b77" /><Relationship Type="http://schemas.openxmlformats.org/officeDocument/2006/relationships/slide" Target="../../slides/itmoSlide8.xml" Id="R37f58887ff504ad8" /><Relationship Type="http://schemas.openxmlformats.org/officeDocument/2006/relationships/slide" Target="../../slides/itmoSlide9.xml" Id="R7e6af26a607d4ece" /><Relationship Type="http://schemas.openxmlformats.org/officeDocument/2006/relationships/slide" Target="../../slides/itmoSlide10.xml" Id="R47abee6c7b83422f" /><Relationship Type="http://schemas.openxmlformats.org/officeDocument/2006/relationships/slide" Target="../../slides/itmoSlide11.xml" Id="R2e89ab1c86de483d" /><Relationship Type="http://schemas.openxmlformats.org/officeDocument/2006/relationships/slide" Target="../../slides/itmoSlide12.xml" Id="Reb746afd4819459e" /></Relationships>
</file>

<file path=ppt/overlay/ppt/notesMasters/_rels/notesMaster1.xml.rels><?xml version='1.0' encoding='utf-8'?>
<Relationships xmlns="http://schemas.openxmlformats.org/package/2006/relationships"><Relationship Type="http://schemas.openxmlformats.org/officeDocument/2006/relationships/theme" Target="theme/theme3.xml" Id="R4a4c294c2c1e4d1a" /></Relationships>
</file>

<file path=ppt/overlay/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overlay/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overlay/ppt/notesSlides/_rels/notesSlide1.xml.rels><?xml version='1.0' encoding='utf-8'?>
<Relationships xmlns="http://schemas.openxmlformats.org/package/2006/relationships"><Relationship Type="http://schemas.openxmlformats.org/officeDocument/2006/relationships/slide" Target="../../../slides/itmoSlide1.xml" Id="R2f15de6ea15c4909" /><Relationship Type="http://schemas.openxmlformats.org/officeDocument/2006/relationships/notesMaster" Target="../notesMasters/notesMaster1.xml" Id="Re2f72f4cd7b24d24" /></Relationships>
</file>

<file path=ppt/overlay/ppt/notesSlides/_rels/notesSlide2.xml.rels><?xml version='1.0' encoding='utf-8'?>
<Relationships xmlns="http://schemas.openxmlformats.org/package/2006/relationships"><Relationship Type="http://schemas.openxmlformats.org/officeDocument/2006/relationships/slide" Target="../../../slides/itmoSlide2.xml" Id="R8a2538b19f4f44fe" /><Relationship Type="http://schemas.openxmlformats.org/officeDocument/2006/relationships/notesMaster" Target="../notesMasters/notesMaster1.xml" Id="R4387b10bb76f4601" /></Relationships>
</file>

<file path=ppt/overlay/ppt/notesSlides/_rels/notesSlide3.xml.rels><?xml version='1.0' encoding='utf-8'?>
<Relationships xmlns="http://schemas.openxmlformats.org/package/2006/relationships"><Relationship Type="http://schemas.openxmlformats.org/officeDocument/2006/relationships/slide" Target="../../../slides/itmoSlide3.xml" Id="Rd49cbbfb98b3406e" /><Relationship Type="http://schemas.openxmlformats.org/officeDocument/2006/relationships/notesMaster" Target="../notesMasters/notesMaster1.xml" Id="R1fb85d37cb734c5d" /></Relationships>
</file>

<file path=ppt/overlay/ppt/notesSlides/_rels/notesSlide4.xml.rels><?xml version='1.0' encoding='utf-8'?>
<Relationships xmlns="http://schemas.openxmlformats.org/package/2006/relationships"><Relationship Type="http://schemas.openxmlformats.org/officeDocument/2006/relationships/slide" Target="../../../slides/itmoSlide4.xml" Id="R58365259794744ea" /><Relationship Type="http://schemas.openxmlformats.org/officeDocument/2006/relationships/notesMaster" Target="../notesMasters/notesMaster1.xml" Id="Rbafe0caf9ce14247" /></Relationships>
</file>

<file path=ppt/overlay/ppt/notesSlides/_rels/notesSlide5.xml.rels><?xml version='1.0' encoding='utf-8'?>
<Relationships xmlns="http://schemas.openxmlformats.org/package/2006/relationships"><Relationship Type="http://schemas.openxmlformats.org/officeDocument/2006/relationships/slide" Target="../../../slides/itmoSlide5.xml" Id="Re3be9198edce44b0" /><Relationship Type="http://schemas.openxmlformats.org/officeDocument/2006/relationships/notesMaster" Target="../notesMasters/notesMaster1.xml" Id="R73dfa9a3db344172" /></Relationships>
</file>

<file path=ppt/overlay/ppt/notesSlides/_rels/notesSlide6.xml.rels><?xml version='1.0' encoding='utf-8'?>
<Relationships xmlns="http://schemas.openxmlformats.org/package/2006/relationships"><Relationship Type="http://schemas.openxmlformats.org/officeDocument/2006/relationships/slide" Target="../../../slides/itmoSlide6.xml" Id="Rd826253b198147fc" /><Relationship Type="http://schemas.openxmlformats.org/officeDocument/2006/relationships/notesMaster" Target="../notesMasters/notesMaster1.xml" Id="R1575b5f549f049bc" /></Relationships>
</file>

<file path=ppt/overlay/ppt/notesSlides/_rels/notesSlide7.xml.rels><?xml version='1.0' encoding='utf-8'?>
<Relationships xmlns="http://schemas.openxmlformats.org/package/2006/relationships"><Relationship Type="http://schemas.openxmlformats.org/officeDocument/2006/relationships/slide" Target="../../../slides/itmoSlide7.xml" Id="R74eccbd3273943c5" /><Relationship Type="http://schemas.openxmlformats.org/officeDocument/2006/relationships/notesMaster" Target="../notesMasters/notesMaster1.xml" Id="Rf60e1544cad84b57" /></Relationships>
</file>

<file path=ppt/overlay/ppt/notesSlides/_rels/notesSlide8.xml.rels><?xml version='1.0' encoding='utf-8'?>
<Relationships xmlns="http://schemas.openxmlformats.org/package/2006/relationships"><Relationship Type="http://schemas.openxmlformats.org/officeDocument/2006/relationships/slide" Target="../../../slides/itmoSlide8.xml" Id="Re29b6e46f9874550" /><Relationship Type="http://schemas.openxmlformats.org/officeDocument/2006/relationships/notesMaster" Target="../notesMasters/notesMaster1.xml" Id="R8e78e1a0a9424084" /></Relationships>
</file>

<file path=ppt/overlay/ppt/notesSlides/_rels/notesSlide9.xml.rels><?xml version='1.0' encoding='utf-8'?>
<Relationships xmlns="http://schemas.openxmlformats.org/package/2006/relationships"><Relationship Type="http://schemas.openxmlformats.org/officeDocument/2006/relationships/slide" Target="../../../slides/itmoSlide9.xml" Id="R9b3e227251f34a46" /><Relationship Type="http://schemas.openxmlformats.org/officeDocument/2006/relationships/notesMaster" Target="../notesMasters/notesMaster1.xml" Id="Rf36c613fe2fe4b68" /></Relationships>
</file>

<file path=ppt/overlay/ppt/notesSlides/_rels/notesSlide10.xml.rels><?xml version='1.0' encoding='utf-8'?>
<Relationships xmlns="http://schemas.openxmlformats.org/package/2006/relationships"><Relationship Type="http://schemas.openxmlformats.org/officeDocument/2006/relationships/slide" Target="../../../slides/itmoSlide10.xml" Id="R5aadd65b80ad4f1f" /><Relationship Type="http://schemas.openxmlformats.org/officeDocument/2006/relationships/notesMaster" Target="../notesMasters/notesMaster1.xml" Id="R6ce311d73e6247b3" /></Relationships>
</file>

<file path=ppt/overlay/ppt/notesSlides/_rels/notesSlide11.xml.rels><?xml version='1.0' encoding='utf-8'?>
<Relationships xmlns="http://schemas.openxmlformats.org/package/2006/relationships"><Relationship Type="http://schemas.openxmlformats.org/officeDocument/2006/relationships/slide" Target="../../../slides/itmoSlide11.xml" Id="R3ede32e74a924f35" /><Relationship Type="http://schemas.openxmlformats.org/officeDocument/2006/relationships/notesMaster" Target="../notesMasters/notesMaster1.xml" Id="Rbe9cef9225614309" /></Relationships>
</file>

<file path=ppt/overlay/ppt/notesSlides/_rels/notesSlide12.xml.rels><?xml version='1.0' encoding='utf-8'?>
<Relationships xmlns="http://schemas.openxmlformats.org/package/2006/relationships"><Relationship Type="http://schemas.openxmlformats.org/officeDocument/2006/relationships/slide" Target="../../../slides/itmoSlide12.xml" Id="R28581c161ddc4c23" /><Relationship Type="http://schemas.openxmlformats.org/officeDocument/2006/relationships/notesMaster" Target="../notesMasters/notesMaster1.xml" Id="R0428e6244dac48a7" /></Relationships>
</file>

<file path=ppt/overlay/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Здравствуйте! Мы представляем функциональную модель АИС «Сервис поиска и возврата потерянных вещей». Работу выполнили Фадеев Данил Вячеславович, Мосин Александр Павлович и Гурылев Денис Артемович, группа K3239.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Сервис поиска и возврата потерянных вещей. Авторы: Фадеев Данил Вячеславович, Мосин Александр Павлович, Гурылев Денис Артемович. Группа K3239. Преподаватель Говорова Марина Михайловна.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Предметная область проекта — поиск и возврат потерянных вещей. Сведения о потерях и находках часто разрознены: владелец и нашедший публикуют информацию в разных местах и могут не найти друг друга.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нашем сервисе пользователь размещает объявление о потере или находке, ищет подходящие объявления и связывается с их авторами. Один человек может выступать в обеих ролях. Модератор проверяет объявления и рассматривает жалобы. Передачу вещи участники организуют самостоятельно вне информационной системы.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Сведения о потерянных и найденных вещах разрознены. Пользователи публикуют объявления, ищут совпадения и связываются друг с другом. Один человек может быть потерявшим и нашедшим. Модератор проверяет объявления и жалобы. Возврат вещи происходит по договорённости участников вне АИС.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Цель проекта — спроектировать функциональную модель АИС «Сервис поиска и возврата потерянных вещей». Модель должна показать основные процессы системы, какие данные поступают на вход, как они обрабатываются и какие результаты возвращаются пользователю. Также она отражает связи процессов и накопителей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Цель проекта — спроектировать функциональную модель АИС «Сервис поиска и возврата потерянных вещей», отражающую основные процессы, входные и выходные данные и их взаимодействие.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Задачи соответствуют семи этапам полного задания. Сначала нужно определить назначение системы, основной процесс и внешние сущности. Затем выделить входные и выходные потоки и построить контекстную диаграмму A−0.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Следующие этапы — проанализировать события, составить матрицу и построить A0 с процессами и накопителями. Последняя задача — детализировать хотя бы один процесс. Мы выбрали управление пользователями и раскрыли его на A1.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Семь этапов из полного задания ЛР-1: назначение ИС, основной процесс и внешние сущности, внешние потоки, A−0, анализ событий и матрица, A0, детализация одного процесса. Источник: https://docs.google.com/document/d/18c8riU2zEFsQlzyrH5qqtZyxtQ6p3vyp/edit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использовали методологию диаграмм потоков данных DFD и нотацию Gane–Sarson. Процесс обрабатывает информацию, внешняя сущность передаёт или получает данные, накопитель хранит их, а подписанные стрелки показывают обмен.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Средство DFD-моделирования — diagrams.net. Редактируемая модель сохранена в формате drawio. Figma используется для визуального оформления, а PowerPoint — для презентации результатов. Девять накопителей обозначают логические наборы данных; их количество не задаёт число физических баз данных или таблиц.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Методология DFD, нотация Gane–Sarson. Основные элементы: процесс, внешняя сущность, поток данных и накопитель. Средство моделирования diagrams.net: редактируемая модель в формате drawio. Figma — визуальное оформление схем. PowerPoint — презентация результатов. В качестве аналога CA ERwin Process Modeler используется средство построения DFD; автоматическая проверка модели выполнена отдельно.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Матрица связывает событие с его источником, процессом обработки, входными и выходными данными. Первая часть охватывает управление пользователями, объявлениями и поиск.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Например, пользователь передаёт описание вещи, фотографии и место. Система сохраняет объявление и возвращает его карточку и статус. Для поиска пользователь задаёт запрос и фильтры, а система возвращает опубликованные объявления. Матрица также показывает данные, которые процессы читают из накопителей или передают другим процессам.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Каждая строка связывает событие, его источник, процесс, входные и выходные данные. Чтение и запись накопителей указаны явно.</a:t>
            </a:r>
          </a:p>
          <a:p xmlns:a="http://schemas.openxmlformats.org/drawingml/2006/main">
            <a:r>
              <a:t>Регистрация, вход,</a:t>
            </a:r>
          </a:p>
          <a:p xmlns:a="http://schemas.openxmlformats.org/drawingml/2006/main">
            <a:r>
              <a:t>изменение профиля | Пользователь | 1. Управлять</a:t>
            </a:r>
          </a:p>
          <a:p xmlns:a="http://schemas.openxmlformats.org/drawingml/2006/main">
            <a:r>
              <a:t>пользователями | Учётные данные, профиль;</a:t>
            </a:r>
          </a:p>
          <a:p xmlns:a="http://schemas.openxmlformats.org/drawingml/2006/main">
            <a:r>
              <a:t>данные D1 и D9 | Профиль и результат входа;</a:t>
            </a:r>
          </a:p>
          <a:p xmlns:a="http://schemas.openxmlformats.org/drawingml/2006/main">
            <a:r>
              <a:t>запись D1</a:t>
            </a:r>
          </a:p>
          <a:p xmlns:a="http://schemas.openxmlformats.org/drawingml/2006/main">
            <a:r>
              <a:t>Создание, изменение,</a:t>
            </a:r>
          </a:p>
          <a:p xmlns:a="http://schemas.openxmlformats.org/drawingml/2006/main">
            <a:r>
              <a:t>закрытие объявления;</a:t>
            </a:r>
          </a:p>
          <a:p xmlns:a="http://schemas.openxmlformats.org/drawingml/2006/main">
            <a:r>
              <a:t>решение модерации | Пользователь,</a:t>
            </a:r>
          </a:p>
          <a:p xmlns:a="http://schemas.openxmlformats.org/drawingml/2006/main">
            <a:r>
              <a:t>процесс 6 | 2. Управлять</a:t>
            </a:r>
          </a:p>
          <a:p xmlns:a="http://schemas.openxmlformats.org/drawingml/2006/main">
            <a:r>
              <a:t>объявлениями | Данные объявления;</a:t>
            </a:r>
          </a:p>
          <a:p xmlns:a="http://schemas.openxmlformats.org/drawingml/2006/main">
            <a:r>
              <a:t>данные D2–D4 и D9;</a:t>
            </a:r>
          </a:p>
          <a:p xmlns:a="http://schemas.openxmlformats.org/drawingml/2006/main">
            <a:r>
              <a:t>решение модерации | Карточка и статус;</a:t>
            </a:r>
          </a:p>
          <a:p xmlns:a="http://schemas.openxmlformats.org/drawingml/2006/main">
            <a:r>
              <a:t>запись D2–D4;</a:t>
            </a:r>
          </a:p>
          <a:p xmlns:a="http://schemas.openxmlformats.org/drawingml/2006/main">
            <a:r>
              <a:t>материалы → 6;</a:t>
            </a:r>
          </a:p>
          <a:p xmlns:a="http://schemas.openxmlformats.org/drawingml/2006/main">
            <a:r>
              <a:t>данные → 4</a:t>
            </a:r>
          </a:p>
          <a:p xmlns:a="http://schemas.openxmlformats.org/drawingml/2006/main">
            <a:r>
              <a:t>Запрос поиска | Пользователь | 3. Искать</a:t>
            </a:r>
          </a:p>
          <a:p xmlns:a="http://schemas.openxmlformats.org/drawingml/2006/main">
            <a:r>
              <a:t>и фильтровать</a:t>
            </a:r>
          </a:p>
          <a:p xmlns:a="http://schemas.openxmlformats.org/drawingml/2006/main">
            <a:r>
              <a:t>объявления | Поисковый запрос, фильтры;</a:t>
            </a:r>
          </a:p>
          <a:p xmlns:a="http://schemas.openxmlformats.org/drawingml/2006/main">
            <a:r>
              <a:t>данные D2–D4 | Результаты поиска:</a:t>
            </a:r>
          </a:p>
          <a:p xmlns:a="http://schemas.openxmlformats.org/drawingml/2006/main">
            <a:r>
              <a:t>только PUBLISHED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 второй части представлены сопоставление, взаимодействие и модерация. Изменение объявления запускает обновление возможных совпадений. Новое совпадение передаётся процессу взаимодействия, который обеспечивает сообщения, контакты и уведомления.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Модерация получает материалы объявлений, жалобы и решения модератора. Она сохраняет сведения о жалобах и блокировках и передаёт решение процессу управления объявлениями. Эти результаты отражены на A0.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Каждая строка связывает событие, его источник, процесс, входные и выходные данные. Чтение и запись накопителей указаны явно.</a:t>
            </a:r>
          </a:p>
          <a:p xmlns:a="http://schemas.openxmlformats.org/drawingml/2006/main">
            <a:r>
              <a:t>Изменение</a:t>
            </a:r>
          </a:p>
          <a:p xmlns:a="http://schemas.openxmlformats.org/drawingml/2006/main">
            <a:r>
              <a:t>объявления | Процесс 2 | 4. Сопоставлять</a:t>
            </a:r>
          </a:p>
          <a:p xmlns:a="http://schemas.openxmlformats.org/drawingml/2006/main">
            <a:r>
              <a:t>объявления | Данные объявления;</a:t>
            </a:r>
          </a:p>
          <a:p xmlns:a="http://schemas.openxmlformats.org/drawingml/2006/main">
            <a:r>
              <a:t>данные D2, D4 и D5 | Совпадения и состояния → D5;</a:t>
            </a:r>
          </a:p>
          <a:p xmlns:a="http://schemas.openxmlformats.org/drawingml/2006/main">
            <a:r>
              <a:t>новое совпадение → 5</a:t>
            </a:r>
          </a:p>
          <a:p xmlns:a="http://schemas.openxmlformats.org/drawingml/2006/main">
            <a:r>
              <a:t>Сообщение, запрос</a:t>
            </a:r>
          </a:p>
          <a:p xmlns:a="http://schemas.openxmlformats.org/drawingml/2006/main">
            <a:r>
              <a:t>истории или контакта;</a:t>
            </a:r>
          </a:p>
          <a:p xmlns:a="http://schemas.openxmlformats.org/drawingml/2006/main">
            <a:r>
              <a:t>новое совпадение | Пользователь,</a:t>
            </a:r>
          </a:p>
          <a:p xmlns:a="http://schemas.openxmlformats.org/drawingml/2006/main">
            <a:r>
              <a:t>процесс 4 | 5. Организовывать</a:t>
            </a:r>
          </a:p>
          <a:p xmlns:a="http://schemas.openxmlformats.org/drawingml/2006/main">
            <a:r>
              <a:t>взаимодействие | Запрос взаимодействия;</a:t>
            </a:r>
          </a:p>
          <a:p xmlns:a="http://schemas.openxmlformats.org/drawingml/2006/main">
            <a:r>
              <a:t>новое совпадение;</a:t>
            </a:r>
          </a:p>
          <a:p xmlns:a="http://schemas.openxmlformats.org/drawingml/2006/main">
            <a:r>
              <a:t>данные D1, D6, D7 и D9 | Сообщения, контакты,</a:t>
            </a:r>
          </a:p>
          <a:p xmlns:a="http://schemas.openxmlformats.org/drawingml/2006/main">
            <a:r>
              <a:t>уведомления;</a:t>
            </a:r>
          </a:p>
          <a:p xmlns:a="http://schemas.openxmlformats.org/drawingml/2006/main">
            <a:r>
              <a:t>запись D6 и D7</a:t>
            </a:r>
          </a:p>
          <a:p xmlns:a="http://schemas.openxmlformats.org/drawingml/2006/main">
            <a:r>
              <a:t>Объявление</a:t>
            </a:r>
          </a:p>
          <a:p xmlns:a="http://schemas.openxmlformats.org/drawingml/2006/main">
            <a:r>
              <a:t>на проверку; жалоба;</a:t>
            </a:r>
          </a:p>
          <a:p xmlns:a="http://schemas.openxmlformats.org/drawingml/2006/main">
            <a:r>
              <a:t>решение модератора | Пользователь,</a:t>
            </a:r>
          </a:p>
          <a:p xmlns:a="http://schemas.openxmlformats.org/drawingml/2006/main">
            <a:r>
              <a:t>модератор,</a:t>
            </a:r>
          </a:p>
          <a:p xmlns:a="http://schemas.openxmlformats.org/drawingml/2006/main">
            <a:r>
              <a:t>процесс 2 | 6. Обеспечивать</a:t>
            </a:r>
          </a:p>
          <a:p xmlns:a="http://schemas.openxmlformats.org/drawingml/2006/main">
            <a:r>
              <a:t>модерацию</a:t>
            </a:r>
          </a:p>
          <a:p xmlns:a="http://schemas.openxmlformats.org/drawingml/2006/main">
            <a:r>
              <a:t>и безопасность | Материалы, жалоба, решение;</a:t>
            </a:r>
          </a:p>
          <a:p xmlns:a="http://schemas.openxmlformats.org/drawingml/2006/main">
            <a:r>
              <a:t>данные D1–D4, D8 и D9 | Материалы → модератору;</a:t>
            </a:r>
          </a:p>
          <a:p xmlns:a="http://schemas.openxmlformats.org/drawingml/2006/main">
            <a:r>
              <a:t>статус жалобы;</a:t>
            </a:r>
          </a:p>
          <a:p xmlns:a="http://schemas.openxmlformats.org/drawingml/2006/main">
            <a:r>
              <a:t>запись D8, D9;</a:t>
            </a:r>
          </a:p>
          <a:p xmlns:a="http://schemas.openxmlformats.org/drawingml/2006/main">
            <a:r>
              <a:t>решение →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A−0 вся АИС представлена одним процессом. Внешние сущности — пользователь и модератор. Пользователь передаёт данные регистрации и профиля, объявления, поисковые запросы, сообщения и жалобы. В ответ получает результаты входа, объявления и их статусы, результаты поиска, сообщения и уведомления.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Модератор получает материалы проверки и возвращает решения. Повторное изображение пользователя обозначает ту же внешнюю сущность. Внутренние накопители на этом уровне не показаны.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Один процесс 0, две логические внешние сущности: Пользователь и Модератор. Пользователь повторён для удобства чтения. На контексте нет внутренних накопителей. Пять входов пользователя и пять выходов, по одному потоку в каждую сторону у модератора. Все 12 потоков сохранены на A0.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A0 система раскрыта на шесть процессов: управление пользователями и объявлениями, поиск, сопоставление, взаимодействие, модерация и безопасность.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Девять логических накопителей содержат данные пользователей, объявлений, фотографий, мест, совпадений, сообщений, уведомлений, жалоб и блокировок. Некоторые накопители повторены рядом с процессами для удобства чтения. Совпадение обозначает возможную пару потери и находки и требует проверки участниками. Внешние потоки согласованы с A−0, а входы и выходы процессов отражены в матрице.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Полная DFD A0: 6 процессов, 9 логических накопителей; все 12 внешних потоков и 4 межпроцессных потока сохранены. Полные подписи доступны в отдельном PDF с диаграммами.</a:t>
            </a:r>
          </a:p>
          <a:p xmlns:a="http://schemas.openxmlformats.org/drawingml/2006/main">
            <a:r>
              <a:t>u-1 → 1: Данные регистрации, входа и профиля</a:t>
            </a:r>
          </a:p>
          <a:p xmlns:a="http://schemas.openxmlformats.org/drawingml/2006/main">
            <a:r>
              <a:t>1 → u-1: Данные профиля и результат входа</a:t>
            </a:r>
          </a:p>
          <a:p xmlns:a="http://schemas.openxmlformats.org/drawingml/2006/main">
            <a:r>
              <a:t>1 → D1-1: Профиль и настройки</a:t>
            </a:r>
          </a:p>
          <a:p xmlns:a="http://schemas.openxmlformats.org/drawingml/2006/main">
            <a:r>
              <a:t>D1-1 → 1: Учётные данные и профиль</a:t>
            </a:r>
          </a:p>
          <a:p xmlns:a="http://schemas.openxmlformats.org/drawingml/2006/main">
            <a:r>
              <a:t>D9-1 → 1: Действующие блокировки</a:t>
            </a:r>
          </a:p>
          <a:p xmlns:a="http://schemas.openxmlformats.org/drawingml/2006/main">
            <a:r>
              <a:t>u-2 → 2: Данные объявления и изменения</a:t>
            </a:r>
          </a:p>
          <a:p xmlns:a="http://schemas.openxmlformats.org/drawingml/2006/main">
            <a:r>
              <a:t>2 → u-2: Объявление и статус обработки</a:t>
            </a:r>
          </a:p>
          <a:p xmlns:a="http://schemas.openxmlformats.org/drawingml/2006/main">
            <a:r>
              <a:t>2 → D2-2: Объявление и статус</a:t>
            </a:r>
          </a:p>
          <a:p xmlns:a="http://schemas.openxmlformats.org/drawingml/2006/main">
            <a:r>
              <a:t>D2-2 → 2: Объявление и статус</a:t>
            </a:r>
          </a:p>
          <a:p xmlns:a="http://schemas.openxmlformats.org/drawingml/2006/main">
            <a:r>
              <a:t>2 → D3-2: Фотографии</a:t>
            </a:r>
          </a:p>
          <a:p xmlns:a="http://schemas.openxmlformats.org/drawingml/2006/main">
            <a:r>
              <a:t>D3-2 → 2: Сохранённые фотографии</a:t>
            </a:r>
          </a:p>
          <a:p xmlns:a="http://schemas.openxmlformats.org/drawingml/2006/main">
            <a:r>
              <a:t>2 → D4-2: Место</a:t>
            </a:r>
          </a:p>
          <a:p xmlns:a="http://schemas.openxmlformats.org/drawingml/2006/main">
            <a:r>
              <a:t>D4-2 → 2: Сохранённое место</a:t>
            </a:r>
          </a:p>
          <a:p xmlns:a="http://schemas.openxmlformats.org/drawingml/2006/main">
            <a:r>
              <a:t>D9-2 → 2: Действующие блокировки</a:t>
            </a:r>
          </a:p>
          <a:p xmlns:a="http://schemas.openxmlformats.org/drawingml/2006/main">
            <a:r>
              <a:t>u-3 → 3: Поисковый запрос и фильтры</a:t>
            </a:r>
          </a:p>
          <a:p xmlns:a="http://schemas.openxmlformats.org/drawingml/2006/main">
            <a:r>
              <a:t>3 → u-3: Результаты поиска</a:t>
            </a:r>
          </a:p>
          <a:p xmlns:a="http://schemas.openxmlformats.org/drawingml/2006/main">
            <a:r>
              <a:t>D2-3 → 3: Опубликованные объявления</a:t>
            </a:r>
          </a:p>
          <a:p xmlns:a="http://schemas.openxmlformats.org/drawingml/2006/main">
            <a:r>
              <a:t>D3-3 → 3: Фотографии</a:t>
            </a:r>
          </a:p>
          <a:p xmlns:a="http://schemas.openxmlformats.org/drawingml/2006/main">
            <a:r>
              <a:t>D4-3 → 3: Места</a:t>
            </a:r>
          </a:p>
          <a:p xmlns:a="http://schemas.openxmlformats.org/drawingml/2006/main">
            <a:r>
              <a:t>D2-4 → 4: Объявления и статусы</a:t>
            </a:r>
          </a:p>
          <a:p xmlns:a="http://schemas.openxmlformats.org/drawingml/2006/main">
            <a:r>
              <a:t>D4-4 → 4: Места</a:t>
            </a:r>
          </a:p>
          <a:p xmlns:a="http://schemas.openxmlformats.org/drawingml/2006/main">
            <a:r>
              <a:t>4 → D5-4: Совпадения и состояния</a:t>
            </a:r>
          </a:p>
          <a:p xmlns:a="http://schemas.openxmlformats.org/drawingml/2006/main">
            <a:r>
              <a:t>D5-4 → 4: Сохранённые совпадения</a:t>
            </a:r>
          </a:p>
          <a:p xmlns:a="http://schemas.openxmlformats.org/drawingml/2006/main">
            <a:r>
              <a:t>u-5 → 5: Сообщения и запросы взаимодействия</a:t>
            </a:r>
          </a:p>
          <a:p xmlns:a="http://schemas.openxmlformats.org/drawingml/2006/main">
            <a:r>
              <a:t>5 → u-5: Сообщения, контакты и уведомления</a:t>
            </a:r>
          </a:p>
          <a:p xmlns:a="http://schemas.openxmlformats.org/drawingml/2006/main">
            <a:r>
              <a:t>D1-5 → 5: Разрешённые контакты</a:t>
            </a:r>
          </a:p>
          <a:p xmlns:a="http://schemas.openxmlformats.org/drawingml/2006/main">
            <a:r>
              <a:t>5 → D6-5: Сообщения</a:t>
            </a:r>
          </a:p>
          <a:p xmlns:a="http://schemas.openxmlformats.org/drawingml/2006/main">
            <a:r>
              <a:t>D6-5 → 5: История сообщений</a:t>
            </a:r>
          </a:p>
          <a:p xmlns:a="http://schemas.openxmlformats.org/drawingml/2006/main">
            <a:r>
              <a:t>5 → D7-5: Уведомления и прочтение</a:t>
            </a:r>
          </a:p>
          <a:p xmlns:a="http://schemas.openxmlformats.org/drawingml/2006/main">
            <a:r>
              <a:t>D7-5 → 5: Уведомления</a:t>
            </a:r>
          </a:p>
          <a:p xmlns:a="http://schemas.openxmlformats.org/drawingml/2006/main">
            <a:r>
              <a:t>D9-5 → 5: Действующие блокировки</a:t>
            </a:r>
          </a:p>
          <a:p xmlns:a="http://schemas.openxmlformats.org/drawingml/2006/main">
            <a:r>
              <a:t>u-6 → 6: Данные жалобы</a:t>
            </a:r>
          </a:p>
          <a:p xmlns:a="http://schemas.openxmlformats.org/drawingml/2006/main">
            <a:r>
              <a:t>6 → u-6: Статус жалобы</a:t>
            </a:r>
          </a:p>
          <a:p xmlns:a="http://schemas.openxmlformats.org/drawingml/2006/main">
            <a:r>
              <a:t>D2-6 → 6: Объявления и статусы</a:t>
            </a:r>
          </a:p>
          <a:p xmlns:a="http://schemas.openxmlformats.org/drawingml/2006/main">
            <a:r>
              <a:t>D3-6 → 6: Фотографии</a:t>
            </a:r>
          </a:p>
          <a:p xmlns:a="http://schemas.openxmlformats.org/drawingml/2006/main">
            <a:r>
              <a:t>D4-6 → 6: Места</a:t>
            </a:r>
          </a:p>
          <a:p xmlns:a="http://schemas.openxmlformats.org/drawingml/2006/main">
            <a:r>
              <a:t>6 → D8-6: Жалобы и решения</a:t>
            </a:r>
          </a:p>
          <a:p xmlns:a="http://schemas.openxmlformats.org/drawingml/2006/main">
            <a:r>
              <a:t>D8-6 → 6: Жалобы и решения</a:t>
            </a:r>
          </a:p>
          <a:p xmlns:a="http://schemas.openxmlformats.org/drawingml/2006/main">
            <a:r>
              <a:t>6 → D9-6: Блокировки и сроки</a:t>
            </a:r>
          </a:p>
          <a:p xmlns:a="http://schemas.openxmlformats.org/drawingml/2006/main">
            <a:r>
              <a:t>D9-6 → 6: Блокировки и сроки</a:t>
            </a:r>
          </a:p>
          <a:p xmlns:a="http://schemas.openxmlformats.org/drawingml/2006/main">
            <a:r>
              <a:t>D1-6 → 6: Профиль и роль модератора</a:t>
            </a:r>
          </a:p>
          <a:p xmlns:a="http://schemas.openxmlformats.org/drawingml/2006/main">
            <a:r>
              <a:t>6 → m: Объявления, жалобы и сведения о нарушениях</a:t>
            </a:r>
          </a:p>
          <a:p xmlns:a="http://schemas.openxmlformats.org/drawingml/2006/main">
            <a:r>
              <a:t>m → 6: Решения по объявлениям и жалобам</a:t>
            </a:r>
          </a:p>
          <a:p xmlns:a="http://schemas.openxmlformats.org/drawingml/2006/main">
            <a:r>
              <a:t>2 → 4: Данные объявления для сопоставления</a:t>
            </a:r>
          </a:p>
          <a:p xmlns:a="http://schemas.openxmlformats.org/drawingml/2006/main">
            <a:r>
              <a:t>2 → 6: Материалы объявления</a:t>
            </a:r>
          </a:p>
          <a:p xmlns:a="http://schemas.openxmlformats.org/drawingml/2006/main">
            <a:r>
              <a:t>6 → 2: Решение модерации</a:t>
            </a:r>
          </a:p>
          <a:p xmlns:a="http://schemas.openxmlformats.org/drawingml/2006/main">
            <a:r>
              <a:t>4 → 5: Новое совпадение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Управление пользователями раскрыто на четыре подпроцесса. Первый проверяет запрос и ограничения с использованием учётных данных и сведений о блокировках. Далее система сохраняет профиль и настройки либо выполняет аутентификацию. Последний подпроцесс формирует результат и сессию.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D1 обеспечивает чтение и сохранение данных пользователя. D9 передаёт действующие блокировки. Входные и выходные потоки A1 соответствуют границе процесса 1 на A0.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Полная граница процесса 1 соответствует A0: три входных и два выходных потока. Четыре подпроцесса 1.1–1.4 проверяют запрос, сохраняют профиль, аутентифицируют пользователя и формируют результат. D1 повторён для чтения и записи; D9 на этом уровне читается, а изменяется процессом 6 на A0.</a:t>
            </a:r>
          </a:p>
          <a:p xmlns:a="http://schemas.openxmlformats.org/drawingml/2006/main">
            <a:r>
              <a:t>u → 1.1: Данные регистрации, входа и профиля</a:t>
            </a:r>
          </a:p>
          <a:p xmlns:a="http://schemas.openxmlformats.org/drawingml/2006/main">
            <a:r>
              <a:t>D1-read → 1.1: Учётные данные и профиль</a:t>
            </a:r>
          </a:p>
          <a:p xmlns:a="http://schemas.openxmlformats.org/drawingml/2006/main">
            <a:r>
              <a:t>D9 → 1.1: Действующие блокировки</a:t>
            </a:r>
          </a:p>
          <a:p xmlns:a="http://schemas.openxmlformats.org/drawingml/2006/main">
            <a:r>
              <a:t>1.1 → 1.2: Проверенные данные регистрации и изменения профиля</a:t>
            </a:r>
          </a:p>
          <a:p xmlns:a="http://schemas.openxmlformats.org/drawingml/2006/main">
            <a:r>
              <a:t>1.1 → 1.3: Данные для аутентификации</a:t>
            </a:r>
          </a:p>
          <a:p xmlns:a="http://schemas.openxmlformats.org/drawingml/2006/main">
            <a:r>
              <a:t>1.1 → 1.4: Ошибка проверки</a:t>
            </a:r>
          </a:p>
          <a:p xmlns:a="http://schemas.openxmlformats.org/drawingml/2006/main">
            <a:r>
              <a:t>1.2 → D1-write: Профиль и настройки</a:t>
            </a:r>
          </a:p>
          <a:p xmlns:a="http://schemas.openxmlformats.org/drawingml/2006/main">
            <a:r>
              <a:t>1.2 → 1.4: Сохранённый профиль</a:t>
            </a:r>
          </a:p>
          <a:p xmlns:a="http://schemas.openxmlformats.org/drawingml/2006/main">
            <a:r>
              <a:t>1.3 → 1.4: Результат аутентификации</a:t>
            </a:r>
          </a:p>
          <a:p xmlns:a="http://schemas.openxmlformats.org/drawingml/2006/main">
            <a:r>
              <a:t>1.4 → u-copy: Данные профиля и результат входа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достигли цели: спроектировали функциональную модель АИС поиска и возврата потерянных вещей. Определили её назначение, границы и участников, составили матрицу событий и построили A−0, A0 и A1.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A0 выделили шесть процессов и девять логических накопителей. Управление пользователями раскрыли на четыре подпроцесса. Проверили согласованность уровней и обмен данными с накопителями. Результат описывает функциональные требования и может использоваться на следующем этапе проектирования системы.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спроектировали функциональную модель АИС поиска и возврата потерянных вещей. Определили назначение, границы и участников. Составили матрицу событий и построили A−0, A0 и A1. На A0 выделили шесть процессов и девять логических накопителей, на A1 раскрыли управление пользователями на четыре подпроцесса. Проверили согласованность внешних потоков и чтение/запись накопителей.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Спасибо за внимание! Готовы ответить на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Спасибо за внимание. Ответы на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overlay/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b01f24e5cb4246"/>
  </p:sldMasterIdLst>
  <p:notesMasterIdLst>
    <p:notesMasterId xmlns:r="http://schemas.openxmlformats.org/officeDocument/2006/relationships" r:id="R4efd63b17fdc4795"/>
  </p:notesMasterIdLst>
  <p:sldIdLst>
    <p:sldId xmlns:r="http://schemas.openxmlformats.org/officeDocument/2006/relationships" id="256" r:id="Rcb511158731c42ba"/>
    <p:sldId xmlns:r="http://schemas.openxmlformats.org/officeDocument/2006/relationships" id="257" r:id="Rbc992b0acdbb4842"/>
    <p:sldId xmlns:r="http://schemas.openxmlformats.org/officeDocument/2006/relationships" id="258" r:id="Rea08ec333da24ca1"/>
    <p:sldId xmlns:r="http://schemas.openxmlformats.org/officeDocument/2006/relationships" id="259" r:id="R8f2fedc7dd514bc6"/>
    <p:sldId xmlns:r="http://schemas.openxmlformats.org/officeDocument/2006/relationships" id="260" r:id="Re54b9a13210d4675"/>
    <p:sldId xmlns:r="http://schemas.openxmlformats.org/officeDocument/2006/relationships" id="261" r:id="R23ab42e58d6e45e2"/>
    <p:sldId xmlns:r="http://schemas.openxmlformats.org/officeDocument/2006/relationships" id="262" r:id="R7ecffab31e554b77"/>
    <p:sldId xmlns:r="http://schemas.openxmlformats.org/officeDocument/2006/relationships" id="263" r:id="R37f58887ff504ad8"/>
    <p:sldId xmlns:r="http://schemas.openxmlformats.org/officeDocument/2006/relationships" id="264" r:id="R7e6af26a607d4ece"/>
    <p:sldId xmlns:r="http://schemas.openxmlformats.org/officeDocument/2006/relationships" id="265" r:id="R47abee6c7b83422f"/>
    <p:sldId xmlns:r="http://schemas.openxmlformats.org/officeDocument/2006/relationships" id="266" r:id="R2e89ab1c86de483d"/>
    <p:sldId xmlns:r="http://schemas.openxmlformats.org/officeDocument/2006/relationships" id="267" r:id="Reb746afd4819459e"/>
  </p:sldIdLst>
  <p:sldSz cx="9144000" cy="5143500"/>
  <p:notesSz cx="6858000" cy="9144000"/>
</p:presentation>
</file>

<file path=ppt/overlay/ppt/slideLayouts/_rels/slideLayout1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131f263cfd7e4352" /></Relationships>
</file>

<file path=ppt/overlay/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overlay/ppt/slideMasters/_rels/slideMaster1.xml.rels><?xml version='1.0' encoding='utf-8'?>
<Relationships xmlns="http://schemas.openxmlformats.org/package/2006/relationships"><Relationship Type="http://schemas.openxmlformats.org/officeDocument/2006/relationships/theme" Target="theme/theme2.xml" Id="Raedd2478f6d74677" /><Relationship Type="http://schemas.openxmlformats.org/officeDocument/2006/relationships/slideLayout" Target="../slideLayouts/slideLayout1.xml" Id="R2cd0ac8898954e87" /></Relationships>
</file>

<file path=ppt/overlay/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d0ac8898954e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overlay/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overlay/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f5c1948e7ddd46d8" /><Relationship Type="http://schemas.openxmlformats.org/officeDocument/2006/relationships/notesSlide" Target="../notesSlides/notesSlide1.xml" Id="Re20ac367996e49bc" /></Relationships>
</file>

<file path=ppt/overlay/ppt/slides/_rels/slide2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8667df76ddd84393" /><Relationship Type="http://schemas.openxmlformats.org/officeDocument/2006/relationships/notesSlide" Target="../notesSlides/notesSlide2.xml" Id="Rd3ba5b48ad18478b" /></Relationships>
</file>

<file path=ppt/overlay/ppt/slides/_rels/slide3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9c9c050558364944" /><Relationship Type="http://schemas.openxmlformats.org/officeDocument/2006/relationships/notesSlide" Target="../notesSlides/notesSlide3.xml" Id="Rdc48e42197d84f96" /></Relationships>
</file>

<file path=ppt/overlay/ppt/slides/_rels/slide4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341cc805cffa4e44" /><Relationship Type="http://schemas.openxmlformats.org/officeDocument/2006/relationships/notesSlide" Target="../notesSlides/notesSlide4.xml" Id="R9569e79d0196436f" /></Relationships>
</file>

<file path=ppt/overlay/ppt/slides/_rels/slide5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6230d710b3a44e18" /><Relationship Type="http://schemas.openxmlformats.org/officeDocument/2006/relationships/notesSlide" Target="../notesSlides/notesSlide5.xml" Id="R61c1151c2fda4f49" /></Relationships>
</file>

<file path=ppt/overlay/ppt/slides/_rels/slide6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67b9589c3ca74da3" /><Relationship Type="http://schemas.openxmlformats.org/officeDocument/2006/relationships/notesSlide" Target="../notesSlides/notesSlide6.xml" Id="Redf076d1bef74a87" /></Relationships>
</file>

<file path=ppt/overlay/ppt/slides/_rels/slide7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7c37718d485b4ab8" /><Relationship Type="http://schemas.openxmlformats.org/officeDocument/2006/relationships/notesSlide" Target="../notesSlides/notesSlide7.xml" Id="Rfae1638d10ac460d" /></Relationships>
</file>

<file path=ppt/overlay/ppt/slides/_rels/slide8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522ea4bef35743e8" /><Relationship Type="http://schemas.openxmlformats.org/officeDocument/2006/relationships/image" Target="../media/image.png" Id="Rad8267b5af934ca8" /><Relationship Type="http://schemas.openxmlformats.org/officeDocument/2006/relationships/notesSlide" Target="../notesSlides/notesSlide8.xml" Id="Re2b05715b8c4429c" /></Relationships>
</file>

<file path=ppt/overlay/ppt/slides/_rels/slide9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617ae933c7cc44ea" /><Relationship Type="http://schemas.openxmlformats.org/officeDocument/2006/relationships/image" Target="../media/image2.png" Id="R8e199d01cb28460a" /><Relationship Type="http://schemas.openxmlformats.org/officeDocument/2006/relationships/notesSlide" Target="../notesSlides/notesSlide9.xml" Id="Re97c9199b2e54fd0" /></Relationships>
</file>

<file path=ppt/overlay/ppt/slides/_rels/slide10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e9f67a63d8274e00" /><Relationship Type="http://schemas.openxmlformats.org/officeDocument/2006/relationships/image" Target="../media/image3.png" Id="R6e3c61d50bee4681" /><Relationship Type="http://schemas.openxmlformats.org/officeDocument/2006/relationships/notesSlide" Target="../notesSlides/notesSlide10.xml" Id="R357962c87eda42da" /></Relationships>
</file>

<file path=ppt/overlay/ppt/slides/_rels/slide11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6b157f96180e4b37" /><Relationship Type="http://schemas.openxmlformats.org/officeDocument/2006/relationships/notesSlide" Target="../notesSlides/notesSlide11.xml" Id="R623401ceb5ab4201" /></Relationships>
</file>

<file path=ppt/overlay/ppt/slides/_rels/slide12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b97e9189c68b48f5" /><Relationship Type="http://schemas.openxmlformats.org/officeDocument/2006/relationships/notesSlide" Target="../notesSlides/notesSlide12.xml" Id="R4dba6f3d4dc442cb" /></Relationships>
</file>

<file path=ppt/overlay/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XT1">
            <a:extLst xmlns:a="http://schemas.openxmlformats.org/drawingml/2006/main">
              <a:ext uri="{FF2B5EF4-FFF2-40B4-BE49-F238E27FC236}">
                <a16:creationId xmlns:a16="http://schemas.microsoft.com/office/drawing/2014/main" id="{89ABA71A-522A-4F21-904E-90091FD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7143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Сервис поиска и возврата</a:t>
            </a:r>
          </a:p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потерянных вещей</a:t>
            </a:r>
          </a:p>
        </p:txBody>
      </p:sp>
      <p:sp>
        <p:nvSpPr>
          <p:cNvPr id="2" name="TXT2">
            <a:extLst xmlns:a="http://schemas.openxmlformats.org/drawingml/2006/main">
              <a:ext uri="{FF2B5EF4-FFF2-40B4-BE49-F238E27FC236}">
                <a16:creationId xmlns:a16="http://schemas.microsoft.com/office/drawing/2014/main" id="{F6AF6D61-A44A-45E6-8A27-978E53A9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76600"/>
            <a:ext cx="714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Функциональная модель АИС</a:t>
            </a:r>
          </a:p>
        </p:txBody>
      </p:sp>
      <p:sp>
        <p:nvSpPr>
          <p:cNvPr id="3" name="TXT3">
            <a:extLst xmlns:a="http://schemas.openxmlformats.org/drawingml/2006/main">
              <a:ext uri="{FF2B5EF4-FFF2-40B4-BE49-F238E27FC236}">
                <a16:creationId xmlns:a16="http://schemas.microsoft.com/office/drawing/2014/main" id="{19EC4512-9F98-4A4E-93C6-5A7CA0B8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Фадеев Данил Вячеславович, Мосин Александр Павлович,</a:t>
            </a:r>
          </a:p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Гурылев Денис Артемович</a:t>
            </a:r>
          </a:p>
        </p:txBody>
      </p:sp>
      <p:sp>
        <p:nvSpPr>
          <p:cNvPr id="4" name="TXT4">
            <a:extLst xmlns:a="http://schemas.openxmlformats.org/drawingml/2006/main">
              <a:ext uri="{FF2B5EF4-FFF2-40B4-BE49-F238E27FC236}">
                <a16:creationId xmlns:a16="http://schemas.microsoft.com/office/drawing/2014/main" id="{6D0F1273-9CF3-491A-8599-462711AA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7672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Группа: K3239</a:t>
            </a:r>
          </a:p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Преподаватель: Говорова Марина Михайловна</a:t>
            </a:r>
          </a:p>
        </p:txBody>
      </p:sp>
    </p:spTree>
    <p:extLst>
      <p:ext uri="{BB962C8B-B14F-4D97-AF65-F5344CB8AC3E}">
        <p14:creationId xmlns:p14="http://schemas.microsoft.com/office/powerpoint/2010/main" val="308605466"/>
      </p:ext>
    </p:extLst>
  </p:cSld>
</p:sld>
</file>

<file path=ppt/overlay/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MPLATE-DECOR-MASK-2">
            <a:extLst xmlns:a="http://schemas.openxmlformats.org/drawingml/2006/main">
              <a:ext uri="{FF2B5EF4-FFF2-40B4-BE49-F238E27FC236}">
                <a16:creationId xmlns:a16="http://schemas.microsoft.com/office/drawing/2014/main" id="{6DF7686B-BC79-4FC6-8DBB-61566338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095375"/>
            <a:ext cx="6000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5">
            <a:extLst xmlns:a="http://schemas.openxmlformats.org/drawingml/2006/main">
              <a:ext uri="{FF2B5EF4-FFF2-40B4-BE49-F238E27FC236}">
                <a16:creationId xmlns:a16="http://schemas.microsoft.com/office/drawing/2014/main" id="{47220216-16A4-4922-9CC2-314AA080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162050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Предметная</a:t>
            </a:r>
          </a:p>
          <a:p xmlns:a="http://schemas.openxmlformats.org/drawingml/2006/main"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область</a:t>
            </a:r>
          </a:p>
        </p:txBody>
      </p:sp>
      <p:sp>
        <p:nvSpPr>
          <p:cNvPr id="3" name="TXT6">
            <a:extLst xmlns:a="http://schemas.openxmlformats.org/drawingml/2006/main">
              <a:ext uri="{FF2B5EF4-FFF2-40B4-BE49-F238E27FC236}">
                <a16:creationId xmlns:a16="http://schemas.microsoft.com/office/drawing/2014/main" id="{6F4F05CB-52C9-431B-85B2-4BCD0EBE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09775"/>
            <a:ext cx="2905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Проблема</a:t>
            </a:r>
          </a:p>
        </p:txBody>
      </p:sp>
      <p:sp>
        <p:nvSpPr>
          <p:cNvPr id="4" name="TXT7">
            <a:extLst xmlns:a="http://schemas.openxmlformats.org/drawingml/2006/main">
              <a:ext uri="{FF2B5EF4-FFF2-40B4-BE49-F238E27FC236}">
                <a16:creationId xmlns:a16="http://schemas.microsoft.com/office/drawing/2014/main" id="{635F53F3-7D9D-4755-AFAA-EF39A84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24100"/>
            <a:ext cx="290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Разрозненные сведения</a:t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 потерях и находках</a:t>
            </a:r>
          </a:p>
        </p:txBody>
      </p:sp>
      <p:sp>
        <p:nvSpPr>
          <p:cNvPr id="5" name="TXT8">
            <a:extLst xmlns:a="http://schemas.openxmlformats.org/drawingml/2006/main">
              <a:ext uri="{FF2B5EF4-FFF2-40B4-BE49-F238E27FC236}">
                <a16:creationId xmlns:a16="http://schemas.microsoft.com/office/drawing/2014/main" id="{BB3C7597-30FC-4161-8CA3-9C783FC2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2905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Участники</a:t>
            </a:r>
          </a:p>
        </p:txBody>
      </p:sp>
      <p:sp>
        <p:nvSpPr>
          <p:cNvPr id="6" name="TXT9">
            <a:extLst xmlns:a="http://schemas.openxmlformats.org/drawingml/2006/main">
              <a:ext uri="{FF2B5EF4-FFF2-40B4-BE49-F238E27FC236}">
                <a16:creationId xmlns:a16="http://schemas.microsoft.com/office/drawing/2014/main" id="{87735CA5-489D-47FA-93F3-4310459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267075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Потерявший, нашедший,</a:t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модератор</a:t>
            </a:r>
          </a:p>
        </p:txBody>
      </p:sp>
      <p:sp>
        <p:nvSpPr>
          <p:cNvPr id="7" name="TXT10">
            <a:extLst xmlns:a="http://schemas.openxmlformats.org/drawingml/2006/main">
              <a:ext uri="{FF2B5EF4-FFF2-40B4-BE49-F238E27FC236}">
                <a16:creationId xmlns:a16="http://schemas.microsoft.com/office/drawing/2014/main" id="{96BB58B2-7DB6-4922-BD2A-B16682CE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886200"/>
            <a:ext cx="2905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Основные действия</a:t>
            </a:r>
          </a:p>
        </p:txBody>
      </p:sp>
      <p:sp>
        <p:nvSpPr>
          <p:cNvPr id="8" name="TXT11">
            <a:extLst xmlns:a="http://schemas.openxmlformats.org/drawingml/2006/main">
              <a:ext uri="{FF2B5EF4-FFF2-40B4-BE49-F238E27FC236}">
                <a16:creationId xmlns:a16="http://schemas.microsoft.com/office/drawing/2014/main" id="{BB6B6619-8E83-4AE2-95C1-617B87C1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9100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Объявления, поиск,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сопоставление и переписка</a:t>
            </a:r>
          </a:p>
        </p:txBody>
      </p:sp>
    </p:spTree>
    <p:extLst>
      <p:ext uri="{BB962C8B-B14F-4D97-AF65-F5344CB8AC3E}">
        <p14:creationId xmlns:p14="http://schemas.microsoft.com/office/powerpoint/2010/main" val="734314457"/>
      </p:ext>
    </p:extLst>
  </p:cSld>
</p:sld>
</file>

<file path=ppt/overlay/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MPLATE-DECOR-MASK-3">
            <a:extLst xmlns:a="http://schemas.openxmlformats.org/drawingml/2006/main">
              <a:ext uri="{FF2B5EF4-FFF2-40B4-BE49-F238E27FC236}">
                <a16:creationId xmlns:a16="http://schemas.microsoft.com/office/drawing/2014/main" id="{3AB76CE9-014B-4D7A-AF91-954D5587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123950"/>
            <a:ext cx="54292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DFD"/>
          </a:solidFill>
          <a:ln xmlns:a="http://schemas.openxmlformats.org/drawingml/2006/main" w="0">
            <a:noFill/>
          </a:ln>
        </p:spPr>
      </p:sp>
      <p:sp>
        <p:nvSpPr>
          <p:cNvPr id="2" name="TXT12">
            <a:extLst xmlns:a="http://schemas.openxmlformats.org/drawingml/2006/main">
              <a:ext uri="{FF2B5EF4-FFF2-40B4-BE49-F238E27FC236}">
                <a16:creationId xmlns:a16="http://schemas.microsoft.com/office/drawing/2014/main" id="{78B511DA-1456-44A7-8B66-B4E6CBC7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633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Цель проекта</a:t>
            </a:r>
          </a:p>
        </p:txBody>
      </p:sp>
      <p:sp>
        <p:nvSpPr>
          <p:cNvPr id="3" name="TXT13">
            <a:extLst xmlns:a="http://schemas.openxmlformats.org/drawingml/2006/main">
              <a:ext uri="{FF2B5EF4-FFF2-40B4-BE49-F238E27FC236}">
                <a16:creationId xmlns:a16="http://schemas.microsoft.com/office/drawing/2014/main" id="{44222FB3-7E3C-4602-A5AC-F1B6675C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44291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Спроектировать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функциональную модель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АИС «Сервис поиска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возврата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потерянных вещей»</a:t>
            </a:r>
          </a:p>
        </p:txBody>
      </p:sp>
      <p:sp>
        <p:nvSpPr>
          <p:cNvPr id="4" name="TXT14">
            <a:extLst xmlns:a="http://schemas.openxmlformats.org/drawingml/2006/main">
              <a:ext uri="{FF2B5EF4-FFF2-40B4-BE49-F238E27FC236}">
                <a16:creationId xmlns:a16="http://schemas.microsoft.com/office/drawing/2014/main" id="{EB061349-4E73-4153-B4AC-A9740475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219200"/>
            <a:ext cx="276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Содержание модели</a:t>
            </a:r>
          </a:p>
        </p:txBody>
      </p:sp>
      <p:sp>
        <p:nvSpPr>
          <p:cNvPr id="5" name="TXT15">
            <a:extLst xmlns:a="http://schemas.openxmlformats.org/drawingml/2006/main">
              <a:ext uri="{FF2B5EF4-FFF2-40B4-BE49-F238E27FC236}">
                <a16:creationId xmlns:a16="http://schemas.microsoft.com/office/drawing/2014/main" id="{441676B3-BFB8-4FF5-A846-8C94A048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038350"/>
            <a:ext cx="2686050" cy="2447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Основные процессы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системы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Входные и выходные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данные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Связи процессов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накопителей</a:t>
            </a:r>
          </a:p>
        </p:txBody>
      </p:sp>
    </p:spTree>
    <p:extLst>
      <p:ext uri="{BB962C8B-B14F-4D97-AF65-F5344CB8AC3E}">
        <p14:creationId xmlns:p14="http://schemas.microsoft.com/office/powerpoint/2010/main" val="663398204"/>
      </p:ext>
    </p:extLst>
  </p:cSld>
</p:sld>
</file>

<file path=ppt/overlay/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4">
            <a:extLst xmlns:a="http://schemas.openxmlformats.org/drawingml/2006/main">
              <a:ext uri="{FF2B5EF4-FFF2-40B4-BE49-F238E27FC236}">
                <a16:creationId xmlns:a16="http://schemas.microsoft.com/office/drawing/2014/main" id="{5EDE7C9C-E416-4FA5-ACBD-20056594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16">
            <a:extLst xmlns:a="http://schemas.openxmlformats.org/drawingml/2006/main">
              <a:ext uri="{FF2B5EF4-FFF2-40B4-BE49-F238E27FC236}">
                <a16:creationId xmlns:a16="http://schemas.microsoft.com/office/drawing/2014/main" id="{C4C86D13-4D07-4B04-8298-EF3998F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Задачи проекта</a:t>
            </a:r>
          </a:p>
        </p:txBody>
      </p:sp>
      <p:sp>
        <p:nvSpPr>
          <p:cNvPr id="3" name="TXT17">
            <a:extLst xmlns:a="http://schemas.openxmlformats.org/drawingml/2006/main">
              <a:ext uri="{FF2B5EF4-FFF2-40B4-BE49-F238E27FC236}">
                <a16:creationId xmlns:a16="http://schemas.microsoft.com/office/drawing/2014/main" id="{ED18DD9A-F6D5-4AF5-A754-173CE50D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314450"/>
            <a:ext cx="772477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1. Определить назначение АИС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2. Выделить основной процесс и внешние сущности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3. Определить входные и выходные потоки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4. Построить контекстную диаграмму A−0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5. Проанализировать события и составить матрицу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6. Построить диаграмму A0 с процессами и накопителями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7. Детализировать управление пользователями на A1</a:t>
            </a:r>
          </a:p>
        </p:txBody>
      </p:sp>
    </p:spTree>
    <p:extLst>
      <p:ext uri="{BB962C8B-B14F-4D97-AF65-F5344CB8AC3E}">
        <p14:creationId xmlns:p14="http://schemas.microsoft.com/office/powerpoint/2010/main" val="1685183951"/>
      </p:ext>
    </p:extLst>
  </p:cSld>
</p:sld>
</file>

<file path=ppt/overlay/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MPLATE-DECOR-MASK-5">
            <a:extLst xmlns:a="http://schemas.openxmlformats.org/drawingml/2006/main">
              <a:ext uri="{FF2B5EF4-FFF2-40B4-BE49-F238E27FC236}">
                <a16:creationId xmlns:a16="http://schemas.microsoft.com/office/drawing/2014/main" id="{BA5B825A-C3B8-4647-ADA0-B1467518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MPLATE-DECOR-MASK-5">
            <a:extLst xmlns:a="http://schemas.openxmlformats.org/drawingml/2006/main">
              <a:ext uri="{FF2B5EF4-FFF2-40B4-BE49-F238E27FC236}">
                <a16:creationId xmlns:a16="http://schemas.microsoft.com/office/drawing/2014/main" id="{7D02FC77-7BC4-4B4B-A717-036E7526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4098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" name="TXT18">
            <a:extLst xmlns:a="http://schemas.openxmlformats.org/drawingml/2006/main">
              <a:ext uri="{FF2B5EF4-FFF2-40B4-BE49-F238E27FC236}">
                <a16:creationId xmlns:a16="http://schemas.microsoft.com/office/drawing/2014/main" id="{33A5B1DE-0759-406A-BCAD-EE6D3591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Методология и инструменты</a:t>
            </a:r>
          </a:p>
        </p:txBody>
      </p:sp>
      <p:sp>
        <p:nvSpPr>
          <p:cNvPr id="4" name="TXT19">
            <a:extLst xmlns:a="http://schemas.openxmlformats.org/drawingml/2006/main">
              <a:ext uri="{FF2B5EF4-FFF2-40B4-BE49-F238E27FC236}">
                <a16:creationId xmlns:a16="http://schemas.microsoft.com/office/drawing/2014/main" id="{8618D20C-CCC4-4033-B865-17BCB96D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3381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Методология</a:t>
            </a:r>
          </a:p>
        </p:txBody>
      </p:sp>
      <p:sp>
        <p:nvSpPr>
          <p:cNvPr id="5" name="TXT20">
            <a:extLst xmlns:a="http://schemas.openxmlformats.org/drawingml/2006/main">
              <a:ext uri="{FF2B5EF4-FFF2-40B4-BE49-F238E27FC236}">
                <a16:creationId xmlns:a16="http://schemas.microsoft.com/office/drawing/2014/main" id="{0D701875-D732-4419-AB20-4717C4DF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3718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DFD, Gane–Sarson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Уровни A−0, A0, 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Процессы, сущности,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потоки и накопители</a:t>
            </a:r>
          </a:p>
        </p:txBody>
      </p:sp>
      <p:sp>
        <p:nvSpPr>
          <p:cNvPr id="6" name="TXT21">
            <a:extLst xmlns:a="http://schemas.openxmlformats.org/drawingml/2006/main">
              <a:ext uri="{FF2B5EF4-FFF2-40B4-BE49-F238E27FC236}">
                <a16:creationId xmlns:a16="http://schemas.microsoft.com/office/drawing/2014/main" id="{5A057462-5FE3-4A47-876F-19CEAA37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24125"/>
            <a:ext cx="328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CASE-средство</a:t>
            </a:r>
          </a:p>
        </p:txBody>
      </p:sp>
      <p:sp>
        <p:nvSpPr>
          <p:cNvPr id="7" name="TXT22">
            <a:extLst xmlns:a="http://schemas.openxmlformats.org/drawingml/2006/main">
              <a:ext uri="{FF2B5EF4-FFF2-40B4-BE49-F238E27FC236}">
                <a16:creationId xmlns:a16="http://schemas.microsoft.com/office/drawing/2014/main" id="{CFD68F7E-C62D-4F0B-ACCB-D7503BAA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48000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diagrams.net</a:t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DFD-моделирование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Figma — оформление</a:t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PowerPoint — презентация</a:t>
            </a:r>
          </a:p>
        </p:txBody>
      </p:sp>
    </p:spTree>
    <p:extLst>
      <p:ext uri="{BB962C8B-B14F-4D97-AF65-F5344CB8AC3E}">
        <p14:creationId xmlns:p14="http://schemas.microsoft.com/office/powerpoint/2010/main" val="379811754"/>
      </p:ext>
    </p:extLst>
  </p:cSld>
</p:sld>
</file>

<file path=ppt/overlay/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MPLATE-DECOR-MASK-6">
            <a:extLst xmlns:a="http://schemas.openxmlformats.org/drawingml/2006/main">
              <a:ext uri="{FF2B5EF4-FFF2-40B4-BE49-F238E27FC236}">
                <a16:creationId xmlns:a16="http://schemas.microsoft.com/office/drawing/2014/main" id="{1E14E124-583F-4ACC-9024-E0F6E906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3">
            <a:extLst xmlns:a="http://schemas.openxmlformats.org/drawingml/2006/main">
              <a:ext uri="{FF2B5EF4-FFF2-40B4-BE49-F238E27FC236}">
                <a16:creationId xmlns:a16="http://schemas.microsoft.com/office/drawing/2014/main" id="{D87CD4E7-BF2C-4038-AC32-05E324EA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1–3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14350" y="1219200"/>
          <a:ext xmlns:a="http://schemas.openxmlformats.org/drawingml/2006/main" cx="81153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Регистрация, вход,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изменение профиля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1.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пользователями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Учётные данные, профиль;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 и D9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Профиль и результат входа;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Создание, изменение,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закрытие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модерации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6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2.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объявлениями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D2–D4 и D9;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модерации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Карточка и статус;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D2–D4;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материалы → 6;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→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 поиска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3. Искать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фильтровать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Поисковый запрос, фильтры;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D2–D4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Результаты поиска: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только PUBLISHED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XT24">
            <a:extLst xmlns:a="http://schemas.openxmlformats.org/drawingml/2006/main">
              <a:ext uri="{FF2B5EF4-FFF2-40B4-BE49-F238E27FC236}">
                <a16:creationId xmlns:a16="http://schemas.microsoft.com/office/drawing/2014/main" id="{35258801-CE3C-40A5-AEBB-97ACEFD7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80676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p14:creationId xmlns:p14="http://schemas.microsoft.com/office/powerpoint/2010/main" val="466597842"/>
      </p:ext>
    </p:extLst>
  </p:cSld>
</p:sld>
</file>

<file path=ppt/overlay/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MPLATE-DECOR-MASK-7">
            <a:extLst xmlns:a="http://schemas.openxmlformats.org/drawingml/2006/main">
              <a:ext uri="{FF2B5EF4-FFF2-40B4-BE49-F238E27FC236}">
                <a16:creationId xmlns:a16="http://schemas.microsoft.com/office/drawing/2014/main" id="{F6033D60-BBEC-4E67-A485-CB75B805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5">
            <a:extLst xmlns:a="http://schemas.openxmlformats.org/drawingml/2006/main">
              <a:ext uri="{FF2B5EF4-FFF2-40B4-BE49-F238E27FC236}">
                <a16:creationId xmlns:a16="http://schemas.microsoft.com/office/drawing/2014/main" id="{A7910876-EFE5-4A62-A1CF-FF506E82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4–6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14350" y="1219200"/>
          <a:ext xmlns:a="http://schemas.openxmlformats.org/drawingml/2006/main" cx="81153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Изменение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4. Сопоставлять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D2, D4 и D5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Совпадения и состояния → D5;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совпадение → 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Сообщение, запрос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истории или контакта;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совпадение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5. Организовывать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взаимодействие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 взаимодействия;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совпадение;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D1, D6, D7 и D9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Сообщения, контакты,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уведомления;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D6 и D7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проверку; жалоба;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модератора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модератор,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6. Обеспечивать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модерацию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безопасность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Материалы, жалоба, решение;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D1–D4, D8 и D9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Материалы → модератору;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статус жалобы;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D8, D9;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→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XT26">
            <a:extLst xmlns:a="http://schemas.openxmlformats.org/drawingml/2006/main">
              <a:ext uri="{FF2B5EF4-FFF2-40B4-BE49-F238E27FC236}">
                <a16:creationId xmlns:a16="http://schemas.microsoft.com/office/drawing/2014/main" id="{3DA4043F-A0D3-4B77-8DBA-37AC99D3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80676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p14:creationId xmlns:p14="http://schemas.microsoft.com/office/powerpoint/2010/main" val="604932690"/>
      </p:ext>
    </p:extLst>
  </p:cSld>
</p:sld>
</file>

<file path=ppt/overlay/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8">
            <a:extLst xmlns:a="http://schemas.openxmlformats.org/drawingml/2006/main">
              <a:ext uri="{FF2B5EF4-FFF2-40B4-BE49-F238E27FC236}">
                <a16:creationId xmlns:a16="http://schemas.microsoft.com/office/drawing/2014/main" id="{41DAC6F8-B566-4342-8000-75799DC2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7">
            <a:extLst xmlns:a="http://schemas.openxmlformats.org/drawingml/2006/main">
              <a:ext uri="{FF2B5EF4-FFF2-40B4-BE49-F238E27FC236}">
                <a16:creationId xmlns:a16="http://schemas.microsoft.com/office/drawing/2014/main" id="{31101D91-B7CC-4EE3-93A8-2052F44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A−0 · границы системы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267b5af934ca8"/>
          <a:stretch xmlns:a="http://schemas.openxmlformats.org/drawingml/2006/main"/>
        </p:blipFill>
        <p:spPr>
          <a:xfrm xmlns:a="http://schemas.openxmlformats.org/drawingml/2006/main">
            <a:off x="1139465" y="1123950"/>
            <a:ext cx="6922220" cy="3609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182694"/>
      </p:ext>
    </p:extLst>
  </p:cSld>
</p:sld>
</file>

<file path=ppt/overlay/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9">
            <a:extLst xmlns:a="http://schemas.openxmlformats.org/drawingml/2006/main">
              <a:ext uri="{FF2B5EF4-FFF2-40B4-BE49-F238E27FC236}">
                <a16:creationId xmlns:a16="http://schemas.microsoft.com/office/drawing/2014/main" id="{E9DA0419-46B6-402B-B09C-C4CF0951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8">
            <a:extLst xmlns:a="http://schemas.openxmlformats.org/drawingml/2006/main">
              <a:ext uri="{FF2B5EF4-FFF2-40B4-BE49-F238E27FC236}">
                <a16:creationId xmlns:a16="http://schemas.microsoft.com/office/drawing/2014/main" id="{BDFDD477-F433-44FC-ADA6-7E43539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A0 · функциональная модель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99d01cb28460a"/>
          <a:stretch xmlns:a="http://schemas.openxmlformats.org/drawingml/2006/main"/>
        </p:blipFill>
        <p:spPr>
          <a:xfrm xmlns:a="http://schemas.openxmlformats.org/drawingml/2006/main">
            <a:off x="875223" y="1095375"/>
            <a:ext cx="7450703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9982"/>
      </p:ext>
    </p:extLst>
  </p:cSld>
</p:sld>
</file>

<file path=ppt/overlay/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10">
            <a:extLst xmlns:a="http://schemas.openxmlformats.org/drawingml/2006/main">
              <a:ext uri="{FF2B5EF4-FFF2-40B4-BE49-F238E27FC236}">
                <a16:creationId xmlns:a16="http://schemas.microsoft.com/office/drawing/2014/main" id="{E260E527-A4B1-4A6D-9F5A-4CE568D3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9">
            <a:extLst xmlns:a="http://schemas.openxmlformats.org/drawingml/2006/main">
              <a:ext uri="{FF2B5EF4-FFF2-40B4-BE49-F238E27FC236}">
                <a16:creationId xmlns:a16="http://schemas.microsoft.com/office/drawing/2014/main" id="{78D78E10-179D-4F85-9ECC-C9856AB1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A1 · управление пользователями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c61d50bee4681"/>
          <a:stretch xmlns:a="http://schemas.openxmlformats.org/drawingml/2006/main"/>
        </p:blipFill>
        <p:spPr>
          <a:xfrm xmlns:a="http://schemas.openxmlformats.org/drawingml/2006/main">
            <a:off x="476250" y="1147780"/>
            <a:ext cx="8248650" cy="355278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757968"/>
      </p:ext>
    </p:extLst>
  </p:cSld>
</p:sld>
</file>

<file path=ppt/overlay/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XT30">
            <a:extLst xmlns:a="http://schemas.openxmlformats.org/drawingml/2006/main">
              <a:ext uri="{FF2B5EF4-FFF2-40B4-BE49-F238E27FC236}">
                <a16:creationId xmlns:a16="http://schemas.microsoft.com/office/drawing/2014/main" id="{69D35D1D-3FE2-44EF-A4CD-11049B14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Выводы</a:t>
            </a:r>
          </a:p>
        </p:txBody>
      </p:sp>
      <p:sp>
        <p:nvSpPr>
          <p:cNvPr id="2" name="TXT31">
            <a:extLst xmlns:a="http://schemas.openxmlformats.org/drawingml/2006/main">
              <a:ext uri="{FF2B5EF4-FFF2-40B4-BE49-F238E27FC236}">
                <a16:creationId xmlns:a16="http://schemas.microsoft.com/office/drawing/2014/main" id="{183FDA48-7916-4DE2-826B-8DD0D70D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19200"/>
            <a:ext cx="3381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Определили границы</a:t>
            </a:r>
          </a:p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и участников</a:t>
            </a:r>
          </a:p>
        </p:txBody>
      </p:sp>
      <p:sp>
        <p:nvSpPr>
          <p:cNvPr id="3" name="TXT32">
            <a:extLst xmlns:a="http://schemas.openxmlformats.org/drawingml/2006/main">
              <a:ext uri="{FF2B5EF4-FFF2-40B4-BE49-F238E27FC236}">
                <a16:creationId xmlns:a16="http://schemas.microsoft.com/office/drawing/2014/main" id="{577113A9-421B-4D66-9096-BC42A241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085975"/>
            <a:ext cx="338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Описали назначение</a:t>
            </a:r>
          </a:p>
          <a:p xmlns:a="http://schemas.openxmlformats.org/drawingml/2006/main"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обмен данными</a:t>
            </a:r>
          </a:p>
        </p:txBody>
      </p:sp>
      <p:sp>
        <p:nvSpPr>
          <p:cNvPr id="4" name="TXT33">
            <a:extLst xmlns:a="http://schemas.openxmlformats.org/drawingml/2006/main">
              <a:ext uri="{FF2B5EF4-FFF2-40B4-BE49-F238E27FC236}">
                <a16:creationId xmlns:a16="http://schemas.microsoft.com/office/drawing/2014/main" id="{EB530D13-45A0-413A-951D-E69200F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24200"/>
            <a:ext cx="338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Составили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матрицу событий</a:t>
            </a:r>
          </a:p>
        </p:txBody>
      </p:sp>
      <p:sp>
        <p:nvSpPr>
          <p:cNvPr id="5" name="TXT34">
            <a:extLst xmlns:a="http://schemas.openxmlformats.org/drawingml/2006/main">
              <a:ext uri="{FF2B5EF4-FFF2-40B4-BE49-F238E27FC236}">
                <a16:creationId xmlns:a16="http://schemas.microsoft.com/office/drawing/2014/main" id="{54EA06B6-572B-4447-820D-521BD126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00500"/>
            <a:ext cx="33813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Связали события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 входами и выходами</a:t>
            </a:r>
          </a:p>
        </p:txBody>
      </p:sp>
      <p:sp>
        <p:nvSpPr>
          <p:cNvPr id="6" name="TXT35">
            <a:extLst xmlns:a="http://schemas.openxmlformats.org/drawingml/2006/main">
              <a:ext uri="{FF2B5EF4-FFF2-40B4-BE49-F238E27FC236}">
                <a16:creationId xmlns:a16="http://schemas.microsoft.com/office/drawing/2014/main" id="{6C63DF3E-DBF7-4A24-A8B2-1DA0D8A2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1247775"/>
            <a:ext cx="34004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Модель АИС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спроектирована</a:t>
            </a:r>
          </a:p>
        </p:txBody>
      </p:sp>
      <p:sp>
        <p:nvSpPr>
          <p:cNvPr id="7" name="TXT36">
            <a:extLst xmlns:a="http://schemas.openxmlformats.org/drawingml/2006/main">
              <a:ext uri="{FF2B5EF4-FFF2-40B4-BE49-F238E27FC236}">
                <a16:creationId xmlns:a16="http://schemas.microsoft.com/office/drawing/2014/main" id="{BC912D7E-A63D-4581-A9D9-65688B69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371725"/>
            <a:ext cx="3343275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Построили A−0, A0 и 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Выделили 6 процессов</a:t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9 накопителей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Управление пользователями</a:t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раскрыли на 4 подпроцесса</a:t>
            </a:r>
          </a:p>
        </p:txBody>
      </p:sp>
    </p:spTree>
    <p:extLst>
      <p:ext uri="{BB962C8B-B14F-4D97-AF65-F5344CB8AC3E}">
        <p14:creationId xmlns:p14="http://schemas.microsoft.com/office/powerpoint/2010/main" val="1984487332"/>
      </p:ext>
    </p:extLst>
  </p:cSld>
</p:sld>
</file>

<file path=ppt/overlay/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XT37">
            <a:extLst xmlns:a="http://schemas.openxmlformats.org/drawingml/2006/main">
              <a:ext uri="{FF2B5EF4-FFF2-40B4-BE49-F238E27FC236}">
                <a16:creationId xmlns:a16="http://schemas.microsoft.com/office/drawing/2014/main" id="{293187DC-D221-429F-8C7E-203B7DF7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666875"/>
            <a:ext cx="65722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Спасибо</a:t>
            </a:r>
          </a:p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за внимание</a:t>
            </a:r>
          </a:p>
        </p:txBody>
      </p:sp>
      <p:sp>
        <p:nvSpPr>
          <p:cNvPr id="2" name="TXT38">
            <a:extLst xmlns:a="http://schemas.openxmlformats.org/drawingml/2006/main">
              <a:ext uri="{FF2B5EF4-FFF2-40B4-BE49-F238E27FC236}">
                <a16:creationId xmlns:a16="http://schemas.microsoft.com/office/drawing/2014/main" id="{60F6B3BC-5A23-4EAB-AC65-0D65AEC4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6242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1823624818"/>
      </p:ext>
    </p:extLst>
  </p:cSld>
</p:sld>
</file>

<file path=ppt/overlay/ppt/tableStyles.xml><?xml version="1.0" encoding="utf-8"?>
<a:tblStyleLst xmlns:a="http://schemas.openxmlformats.org/drawingml/2006/main" def="{5C22544A-7EE6-4342-B048-85BDC9FD1C3A}"/>
</file>

<file path=ppt/overlay/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?>
<Relationships xmlns="http://schemas.openxmlformats.org/package/2006/relationships"><Relationship Id="rId2" Type="http://schemas.openxmlformats.org/officeDocument/2006/relationships/image" Target="../media/image1.jpg" /><Relationship Id="rId1" Type="http://schemas.openxmlformats.org/officeDocument/2006/relationships/slideMaster" Target="../slideMasters/slideMaster1.xml" /></Relationships>
</file>

<file path=ppt/slideLayouts/_rels/slideLayout2.xml.rels><?xml version='1.0' encoding='utf-8'?>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Master" Target="../slideMasters/slideMaster1.xml" /></Relationships>
</file>

<file path=ppt/slideLayouts/_rels/slideLayout3.xml.rels><?xml version='1.0' encoding='utf-8'?>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Master" Target="../slideMasters/slideMaster1.xml" /></Relationships>
</file>

<file path=ppt/slideLayouts/_rels/slideLayout4.xml.rels><?xml version='1.0' encoding='utf-8'?>
<Relationships xmlns="http://schemas.openxmlformats.org/package/2006/relationships"><Relationship Id="rId2" Type="http://schemas.openxmlformats.org/officeDocument/2006/relationships/image" Target="../media/image4.jpg" /><Relationship Id="rId1" Type="http://schemas.openxmlformats.org/officeDocument/2006/relationships/slideMaster" Target="../slideMasters/slideMaster1.xml" /></Relationships>
</file>

<file path=ppt/slideLayouts/_rels/slideLayout5.xml.rels><?xml version='1.0' encoding='utf-8'?>
<Relationships xmlns="http://schemas.openxmlformats.org/package/2006/relationships"><Relationship Id="rId2" Type="http://schemas.openxmlformats.org/officeDocument/2006/relationships/image" Target="../media/image5.jpg" /><Relationship Id="rId1" Type="http://schemas.openxmlformats.org/officeDocument/2006/relationships/slideMaster" Target="../slideMasters/slideMaster1.xml" /></Relationships>
</file>

<file path=ppt/slideLayouts/_rels/slideLayout6.xml.rels><?xml version='1.0' encoding='utf-8'?>
<Relationships xmlns="http://schemas.openxmlformats.org/package/2006/relationships"><Relationship Id="rId2" Type="http://schemas.openxmlformats.org/officeDocument/2006/relationships/image" Target="../media/image6.jpg" /><Relationship Id="rId1" Type="http://schemas.openxmlformats.org/officeDocument/2006/relationships/slideMaster" Target="../slideMasters/slideMaster1.xml" /></Relationships>
</file>

<file path=ppt/slideLayouts/_rels/slideLayout7.xml.rels><?xml version='1.0' encoding='utf-8'?>
<Relationships xmlns="http://schemas.openxmlformats.org/package/2006/relationships"><Relationship Id="rId2" Type="http://schemas.openxmlformats.org/officeDocument/2006/relationships/image" Target="../media/image7.jpg" /><Relationship Id="rId1" Type="http://schemas.openxmlformats.org/officeDocument/2006/relationships/slideMaster" Target="../slideMasters/slideMaster1.xml" /></Relationships>
</file>

<file path=ppt/slideLayouts/_rels/slideLayout8.xml.rels><?xml version='1.0' encoding='utf-8'?>
<Relationships xmlns="http://schemas.openxmlformats.org/package/2006/relationships"><Relationship Id="rId2" Type="http://schemas.openxmlformats.org/officeDocument/2006/relationships/image" Target="../media/image8.jpg" /><Relationship Id="rId1" Type="http://schemas.openxmlformats.org/officeDocument/2006/relationships/slideMaster" Target="../slideMasters/slideMaster1.xml" /></Relationships>
</file>

<file path=ppt/slideLayouts/_rels/slideLayout9.xml.rels><?xml version='1.0' encoding='utf-8'?>
<Relationships xmlns="http://schemas.openxmlformats.org/package/2006/relationships"><Relationship Id="rId2" Type="http://schemas.openxmlformats.org/officeDocument/2006/relationships/image" Target="../media/image9.jpg" /><Relationship Id="rId1" Type="http://schemas.openxmlformats.org/officeDocument/2006/relationships/slideMaster" Target="../slideMasters/slideMaster1.xml" /></Relationships>
</file>

<file path=ppt/slideLayouts/_rels/slideLayout10.xml.rels><?xml version='1.0' encoding='utf-8'?>
<Relationships xmlns="http://schemas.openxmlformats.org/package/2006/relationships"><Relationship Id="rId2" Type="http://schemas.openxmlformats.org/officeDocument/2006/relationships/image" Target="../media/image10.jpg" /><Relationship Id="rId1" Type="http://schemas.openxmlformats.org/officeDocument/2006/relationships/slideMaster" Target="../slideMasters/slideMaster1.xml" /></Relationships>
</file>

<file path=ppt/slideLayouts/_rels/slideLayout11.xml.rels><?xml version='1.0' encoding='utf-8'?>
<Relationships xmlns="http://schemas.openxmlformats.org/package/2006/relationships"><Relationship Id="rId2" Type="http://schemas.openxmlformats.org/officeDocument/2006/relationships/image" Target="../media/image11.jpg" /><Relationship Id="rId1" Type="http://schemas.openxmlformats.org/officeDocument/2006/relationships/slideMaster" Target="../slideMasters/slideMaster1.xml" /></Relationships>
</file>

<file path=ppt/slideLayouts/_rels/slideLayout12.xml.rels><?xml version='1.0' encoding='utf-8'?>
<Relationships xmlns="http://schemas.openxmlformats.org/package/2006/relationships"><Relationship Id="rId2" Type="http://schemas.openxmlformats.org/officeDocument/2006/relationships/image" Target="../media/image12.jpg" /><Relationship Id="rId1" Type="http://schemas.openxmlformats.org/officeDocument/2006/relationships/slideMaster" Target="../slideMasters/slideMaster1.xml" /></Relationships>
</file>

<file path=ppt/slideLayouts/_rels/slideLayout13.xml.rels><?xml version='1.0' encoding='utf-8'?>
<Relationships xmlns="http://schemas.openxmlformats.org/package/2006/relationships"><Relationship Id="rId2" Type="http://schemas.openxmlformats.org/officeDocument/2006/relationships/image" Target="../media/image13.jpg" /><Relationship Id="rId1" Type="http://schemas.openxmlformats.org/officeDocument/2006/relationships/slideMaster" Target="../slideMasters/slideMaster1.xml" /></Relationships>
</file>

<file path=ppt/slideLayouts/_rels/slideLayout14.xml.rels><?xml version='1.0' encoding='utf-8'?>
<Relationships xmlns="http://schemas.openxmlformats.org/package/2006/relationships"><Relationship Id="rId2" Type="http://schemas.openxmlformats.org/officeDocument/2006/relationships/image" Target="../media/image14.jpg" /><Relationship Id="rId1" Type="http://schemas.openxmlformats.org/officeDocument/2006/relationships/slideMaster" Target="../slideMasters/slideMaster1.xml" /></Relationships>
</file>

<file path=ppt/slideLayouts/_rels/slideLayout15.xml.rels><?xml version='1.0' encoding='utf-8'?>
<Relationships xmlns="http://schemas.openxmlformats.org/package/2006/relationships"><Relationship Id="rId2" Type="http://schemas.openxmlformats.org/officeDocument/2006/relationships/image" Target="../media/image15.jpg" /><Relationship Id="rId1" Type="http://schemas.openxmlformats.org/officeDocument/2006/relationships/slideMaster" Target="../slideMasters/slideMaster1.xml" /></Relationships>
</file>

<file path=ppt/slideLayouts/_rels/slideLayout16.xml.rels><?xml version='1.0' encoding='utf-8'?>
<Relationships xmlns="http://schemas.openxmlformats.org/package/2006/relationships"><Relationship Id="rId2" Type="http://schemas.openxmlformats.org/officeDocument/2006/relationships/image" Target="../media/image16.jpg" /><Relationship Id="rId1" Type="http://schemas.openxmlformats.org/officeDocument/2006/relationships/slideMaster" Target="../slideMasters/slideMaster1.xml" /></Relationships>
</file>

<file path=ppt/slideLayouts/_rels/slideLayout17.xml.rels><?xml version='1.0' encoding='utf-8'?>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Master" Target="../slideMasters/slideMaster1.xml" /></Relationships>
</file>

<file path=ppt/slideLayouts/_rels/slideLayout18.xml.rels><?xml version='1.0' encoding='utf-8'?>
<Relationships xmlns="http://schemas.openxmlformats.org/package/2006/relationships"><Relationship Id="rId2" Type="http://schemas.openxmlformats.org/officeDocument/2006/relationships/image" Target="../media/image18.jpg" /><Relationship Id="rId1" Type="http://schemas.openxmlformats.org/officeDocument/2006/relationships/slideMaster" Target="../slideMasters/slideMaster1.xml" /></Relationships>
</file>

<file path=ppt/slideLayouts/_rels/slideLayout19.xml.rels><?xml version='1.0' encoding='utf-8'?>
<Relationships xmlns="http://schemas.openxmlformats.org/package/2006/relationships"><Relationship Id="rId2" Type="http://schemas.openxmlformats.org/officeDocument/2006/relationships/image" Target="../media/image1.jpg" /><Relationship Id="rId1" Type="http://schemas.openxmlformats.org/officeDocument/2006/relationships/slideMaster" Target="../slideMasters/slideMaster1.xml" /></Relationships>
</file>

<file path=ppt/slideLayouts/_rels/slideLayout20.xml.rels><?xml version='1.0' encoding='utf-8'?>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Master" Target="../slideMasters/slideMaster1.xml" /></Relationships>
</file>

<file path=ppt/slideLayouts/_rels/slideLayout21.xml.rels><?xml version='1.0' encoding='utf-8'?>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Master" Target="../slideMasters/slideMaster1.xml" /></Relationships>
</file>

<file path=ppt/slideLayouts/_rels/slideLayout22.xml.rels><?xml version='1.0' encoding='utf-8'?>
<Relationships xmlns="http://schemas.openxmlformats.org/package/2006/relationships"><Relationship Id="rId2" Type="http://schemas.openxmlformats.org/officeDocument/2006/relationships/image" Target="../media/image1.jpg" /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18" Type="http://schemas.openxmlformats.org/officeDocument/2006/relationships/slideLayout" Target="../slideLayouts/slideLayout18.xml" /><Relationship Id="rId3" Type="http://schemas.openxmlformats.org/officeDocument/2006/relationships/slideLayout" Target="../slideLayouts/slideLayout3.xml" /><Relationship Id="rId21" Type="http://schemas.openxmlformats.org/officeDocument/2006/relationships/slideLayout" Target="../slideLayouts/slideLayout21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17" Type="http://schemas.openxmlformats.org/officeDocument/2006/relationships/slideLayout" Target="../slideLayouts/slideLayout17.xml" /><Relationship Id="rId2" Type="http://schemas.openxmlformats.org/officeDocument/2006/relationships/slideLayout" Target="../slideLayouts/slideLayout2.xml" /><Relationship Id="rId16" Type="http://schemas.openxmlformats.org/officeDocument/2006/relationships/slideLayout" Target="../slideLayouts/slideLayout16.xml" /><Relationship Id="rId20" Type="http://schemas.openxmlformats.org/officeDocument/2006/relationships/slideLayout" Target="../slideLayouts/slideLayout20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23" Type="http://schemas.openxmlformats.org/officeDocument/2006/relationships/theme" Target="../theme/theme1.xml" /><Relationship Id="rId10" Type="http://schemas.openxmlformats.org/officeDocument/2006/relationships/slideLayout" Target="../slideLayouts/slideLayout10.xml" /><Relationship Id="rId19" Type="http://schemas.openxmlformats.org/officeDocument/2006/relationships/slideLayout" Target="../slideLayouts/slideLayout19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Relationship Id="rId22" Type="http://schemas.openxmlformats.org/officeDocument/2006/relationships/slideLayout" Target="../slideLayouts/slideLayout2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itmoSlide1.xml.rels><?xml version='1.0' encoding='utf-8'?>
<Relationships xmlns="http://schemas.openxmlformats.org/package/2006/relationships"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1.xml" /><Relationship Type="http://schemas.openxmlformats.org/officeDocument/2006/relationships/notesSlide" Target="../overlay/ppt/notesSlides/notesSlide1.xml" Id="overlay_Re20ac367996e49bc" /></Relationships>
</file>

<file path=ppt/slides/_rels/itmoSlide2.xml.rels><?xml version='1.0' encoding='utf-8'?>
<Relationships xmlns="http://schemas.openxmlformats.org/package/2006/relationships"><Relationship Id="rId2" Type="http://schemas.openxmlformats.org/officeDocument/2006/relationships/image" Target="../media/itmo-domain.png" /><Relationship Id="rId1" Type="http://schemas.openxmlformats.org/officeDocument/2006/relationships/slideLayout" Target="../slideLayouts/slideLayout4.xml" /><Relationship Type="http://schemas.openxmlformats.org/officeDocument/2006/relationships/notesSlide" Target="../overlay/ppt/notesSlides/notesSlide2.xml" Id="overlay_Rd3ba5b48ad18478b" /></Relationships>
</file>

<file path=ppt/slides/_rels/itmo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6.xml" /><Relationship Type="http://schemas.openxmlformats.org/officeDocument/2006/relationships/notesSlide" Target="../overlay/ppt/notesSlides/notesSlide3.xml" Id="overlay_Rdc48e42197d84f96" /></Relationships>
</file>

<file path=ppt/slides/_rels/itmo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notesSlide" Target="../overlay/ppt/notesSlides/notesSlide4.xml" Id="overlay_R9569e79d0196436f" /></Relationships>
</file>

<file path=ppt/slides/_rels/itmo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Type="http://schemas.openxmlformats.org/officeDocument/2006/relationships/notesSlide" Target="../overlay/ppt/notesSlides/notesSlide5.xml" Id="overlay_R61c1151c2fda4f49" /></Relationships>
</file>

<file path=ppt/slides/_rels/itmo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notesSlide" Target="../overlay/ppt/notesSlides/notesSlide6.xml" Id="overlay_Redf076d1bef74a87" /></Relationships>
</file>

<file path=ppt/slides/_rels/itmo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notesSlide" Target="../overlay/ppt/notesSlides/notesSlide7.xml" Id="overlay_Rfae1638d10ac460d" /></Relationships>
</file>

<file path=ppt/slides/_rels/itmo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image" Target="../overlay/ppt/media/image.png" Id="overlay_Rad8267b5af934ca8" /><Relationship Type="http://schemas.openxmlformats.org/officeDocument/2006/relationships/notesSlide" Target="../overlay/ppt/notesSlides/notesSlide8.xml" Id="overlay_Re2b05715b8c4429c" /></Relationships>
</file>

<file path=ppt/slides/_rels/itmo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image" Target="../overlay/ppt/media/image2.png" Id="overlay_R8e199d01cb28460a" /><Relationship Type="http://schemas.openxmlformats.org/officeDocument/2006/relationships/notesSlide" Target="../overlay/ppt/notesSlides/notesSlide9.xml" Id="overlay_Re97c9199b2e54fd0" /></Relationships>
</file>

<file path=ppt/slides/_rels/itmo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image" Target="../overlay/ppt/media/image3.png" Id="overlay_R6e3c61d50bee4681" /><Relationship Type="http://schemas.openxmlformats.org/officeDocument/2006/relationships/notesSlide" Target="../overlay/ppt/notesSlides/notesSlide10.xml" Id="overlay_R357962c87eda42da" /></Relationships>
</file>

<file path=ppt/slides/_rels/itmo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8.xml" /><Relationship Type="http://schemas.openxmlformats.org/officeDocument/2006/relationships/notesSlide" Target="../overlay/ppt/notesSlides/notesSlide11.xml" Id="overlay_R623401ceb5ab4201" /></Relationships>
</file>

<file path=ppt/slides/_rels/itmoSlide12.xml.rels><?xml version='1.0' encoding='utf-8'?>
<Relationships xmlns="http://schemas.openxmlformats.org/package/2006/relationships"><Relationship Id="rId2" Type="http://schemas.openxmlformats.org/officeDocument/2006/relationships/image" Target="../media/image21.jpg" /><Relationship Id="rId1" Type="http://schemas.openxmlformats.org/officeDocument/2006/relationships/slideLayout" Target="../slideLayouts/slideLayout14.xml" /><Relationship Type="http://schemas.openxmlformats.org/officeDocument/2006/relationships/notesSlide" Target="../overlay/ppt/notesSlides/notesSlide12.xml" Id="overlay_R4dba6f3d4dc442cb" /></Relationships>
</file>

<file path=ppt/slides/_rels/slide1.xml.rels><?xml version='1.0' encoding='utf-8'?>
<Relationships xmlns="http://schemas.openxmlformats.org/package/2006/relationships"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6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4.xml" />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17.xml" 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19.xml" /></Relationships>
</file>

<file path=ppt/slides/_rels/slide10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21.xml" /></Relationships>
</file>

<file path=ppt/slides/_rels/slide11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22.xml" /></Relationships>
</file>

<file path=ppt/slides/_rels/slide12.xml.rels><?xml version='1.0' encoding='utf-8'?>
<Relationships xmlns="http://schemas.openxmlformats.org/package/2006/relationships"><Relationship Id="rId2" Type="http://schemas.openxmlformats.org/officeDocument/2006/relationships/image" Target="../media/image21.jpg" /><Relationship Id="rId1" Type="http://schemas.openxmlformats.org/officeDocument/2006/relationships/slideLayout" Target="../slideLayouts/slideLayout14.xml" /></Relationships>
</file>

<file path=ppt/slides/_rels/slide13.xml.rels><?xml version='1.0' encoding='utf-8'?>
<Relationships xmlns="http://schemas.openxmlformats.org/package/2006/relationships"><Relationship Id="rId2" Type="http://schemas.openxmlformats.org/officeDocument/2006/relationships/image" Target="../media/image22.png" /><Relationship Id="rId1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8" Type="http://schemas.openxmlformats.org/officeDocument/2006/relationships/image" Target="../media/image29.jpg" /><Relationship Id="rId3" Type="http://schemas.openxmlformats.org/officeDocument/2006/relationships/image" Target="../media/image24.png" /><Relationship Id="rId7" Type="http://schemas.openxmlformats.org/officeDocument/2006/relationships/image" Target="../media/image28.png" /><Relationship Id="rId2" Type="http://schemas.openxmlformats.org/officeDocument/2006/relationships/image" Target="../media/image23.png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27.png" /><Relationship Id="rId5" Type="http://schemas.openxmlformats.org/officeDocument/2006/relationships/image" Target="../media/image26.jpg" /><Relationship Id="rId4" Type="http://schemas.openxmlformats.org/officeDocument/2006/relationships/image" Target="../media/image25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itmo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1">
            <a:extLst>
              <a:ext uri="{FF2B5EF4-FFF2-40B4-BE49-F238E27FC236}">
                <ns3:creationId id="{89ABA71A-522A-4F21-904E-90091FD99E60}"/>
              </a:ext>
            </a:extLst>
          </p:cNvPr>
          <p:cNvSpPr>
            <a:spLocks noGrp="1"/>
          </p:cNvSpPr>
          <p:nvPr/>
        </p:nvSpPr>
        <p:spPr>
          <a:xfrm>
            <a:off x="1000125" y="2247900"/>
            <a:ext cx="714375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Сервис поиска и возврата</a:t>
            </a:r>
          </a:p>
          <a:p>
            <a:pPr algn="ctr">
              <a:def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6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потерянных вещей</a:t>
            </a:r>
          </a:p>
        </p:txBody>
      </p:sp>
      <p:sp>
        <p:nvSpPr>
          <p:cNvPr id="3" name="TXT2">
            <a:extLst>
              <a:ext uri="{FF2B5EF4-FFF2-40B4-BE49-F238E27FC236}">
                <ns3:creationId id="{F6AF6D61-A44A-45E6-8A27-978E53A9B8D4}"/>
              </a:ext>
            </a:extLst>
          </p:cNvPr>
          <p:cNvSpPr>
            <a:spLocks noGrp="1"/>
          </p:cNvSpPr>
          <p:nvPr/>
        </p:nvSpPr>
        <p:spPr>
          <a:xfrm>
            <a:off x="1000125" y="3276600"/>
            <a:ext cx="714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Функциональная модель АИС</a:t>
            </a:r>
          </a:p>
        </p:txBody>
      </p:sp>
      <p:sp>
        <p:nvSpPr>
          <p:cNvPr id="4" name="TXT3">
            <a:extLst>
              <a:ext uri="{FF2B5EF4-FFF2-40B4-BE49-F238E27FC236}">
                <ns3:creationId id="{19EC4512-9F98-4A4E-93C6-5A7CA0B852F7}"/>
              </a:ext>
            </a:extLst>
          </p:cNvPr>
          <p:cNvSpPr>
            <a:spLocks noGrp="1"/>
          </p:cNvSpPr>
          <p:nvPr/>
        </p:nvSpPr>
        <p:spPr>
          <a:xfrm>
            <a:off x="857250" y="3609975"/>
            <a:ext cx="74295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Фадеев Данил Вячеславович, Мосин Александр Павлович,</a:t>
            </a:r>
          </a:p>
          <a:p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Гурылев Денис Артемович</a:t>
            </a:r>
          </a:p>
        </p:txBody>
      </p:sp>
      <p:sp>
        <p:nvSpPr>
          <p:cNvPr id="5" name="TXT4">
            <a:extLst>
              <a:ext uri="{FF2B5EF4-FFF2-40B4-BE49-F238E27FC236}">
                <ns3:creationId id="{6D0F1273-9CF3-491A-8599-462711AA5B9A}"/>
              </a:ext>
            </a:extLst>
          </p:cNvPr>
          <p:cNvSpPr>
            <a:spLocks noGrp="1"/>
          </p:cNvSpPr>
          <p:nvPr/>
        </p:nvSpPr>
        <p:spPr>
          <a:xfrm>
            <a:off x="1000125" y="4276725"/>
            <a:ext cx="7143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Группа: K3239</a:t>
            </a:r>
          </a:p>
          <a:p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Преподаватель: Говорова Марина Михайловна</a:t>
            </a:r>
          </a:p>
        </p:txBody>
      </p:sp>
    </p:spTree>
    <p:extLst>
      <p:ext uri="{BB962C8B-B14F-4D97-AF65-F5344CB8AC3E}">
        <ns4:creationId val="87172503"/>
      </p:ext>
    </p:extLst>
  </p:cSld>
  <p:clrMapOvr>
    <a:masterClrMapping/>
  </p:clrMapOvr>
</p:sld>
</file>

<file path=ppt/slides/itmo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Предметная область: поиск и возврат вещей">
            <a:extLst>
              <a:ext uri="{FF2B5EF4-FFF2-40B4-BE49-F238E27FC236}">
                <ns2:creationId id="{B39C447F-7789-D914-2682-159AE68208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586" b="586"/>
          <a:stretch>
            <a:fillRect/>
          </a:stretch>
        </p:blipFill>
        <p:spPr/>
      </p:pic>
      <p:sp>
        <p:nvSpPr>
          <p:cNvPr id="7" name="TEMPLATE-DECOR-MASK-2">
            <a:extLst>
              <a:ext uri="{FF2B5EF4-FFF2-40B4-BE49-F238E27FC236}">
                <ns2:creationId id="{6DF7686B-BC79-4FC6-8DBB-61566338E58B}"/>
              </a:ext>
            </a:extLst>
          </p:cNvPr>
          <p:cNvSpPr>
            <a:spLocks noGrp="1"/>
          </p:cNvSpPr>
          <p:nvPr/>
        </p:nvSpPr>
        <p:spPr>
          <a:xfrm>
            <a:off x="8029575" y="1095375"/>
            <a:ext cx="600075" cy="381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TXT5">
            <a:extLst>
              <a:ext uri="{FF2B5EF4-FFF2-40B4-BE49-F238E27FC236}">
                <ns2:creationId id="{47220216-16A4-4922-9CC2-314AA080244D}"/>
              </a:ext>
            </a:extLst>
          </p:cNvPr>
          <p:cNvSpPr>
            <a:spLocks noGrp="1"/>
          </p:cNvSpPr>
          <p:nvPr/>
        </p:nvSpPr>
        <p:spPr>
          <a:xfrm>
            <a:off x="5572125" y="1162050"/>
            <a:ext cx="295275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Предметная</a:t>
            </a:r>
          </a:p>
          <a:p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область</a:t>
            </a:r>
          </a:p>
        </p:txBody>
      </p:sp>
      <p:sp>
        <p:nvSpPr>
          <p:cNvPr id="9" name="TXT6">
            <a:extLst>
              <a:ext uri="{FF2B5EF4-FFF2-40B4-BE49-F238E27FC236}">
                <ns2:creationId id="{6F4F05CB-52C9-431B-85B2-4BCD0EBE6140}"/>
              </a:ext>
            </a:extLst>
          </p:cNvPr>
          <p:cNvSpPr>
            <a:spLocks noGrp="1"/>
          </p:cNvSpPr>
          <p:nvPr/>
        </p:nvSpPr>
        <p:spPr>
          <a:xfrm>
            <a:off x="5572125" y="2009775"/>
            <a:ext cx="2905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Проблема</a:t>
            </a:r>
          </a:p>
        </p:txBody>
      </p:sp>
      <p:sp>
        <p:nvSpPr>
          <p:cNvPr id="10" name="TXT7">
            <a:extLst>
              <a:ext uri="{FF2B5EF4-FFF2-40B4-BE49-F238E27FC236}">
                <ns2:creationId id="{635F53F3-7D9D-4755-AFAA-EF39A8448BD7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290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Разрозненные сведения</a:t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 потерях и находках</a:t>
            </a:r>
          </a:p>
        </p:txBody>
      </p:sp>
      <p:sp>
        <p:nvSpPr>
          <p:cNvPr id="11" name="TXT8">
            <a:extLst>
              <a:ext uri="{FF2B5EF4-FFF2-40B4-BE49-F238E27FC236}">
                <ns2:creationId id="{BB3C7597-30FC-4161-8CA3-9C783FC2E3D0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2905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Участники</a:t>
            </a:r>
          </a:p>
        </p:txBody>
      </p:sp>
      <p:sp>
        <p:nvSpPr>
          <p:cNvPr id="12" name="TXT9">
            <a:extLst>
              <a:ext uri="{FF2B5EF4-FFF2-40B4-BE49-F238E27FC236}">
                <ns2:creationId id="{87735CA5-489D-47FA-93F3-4310459FD288}"/>
              </a:ext>
            </a:extLst>
          </p:cNvPr>
          <p:cNvSpPr>
            <a:spLocks noGrp="1"/>
          </p:cNvSpPr>
          <p:nvPr/>
        </p:nvSpPr>
        <p:spPr>
          <a:xfrm>
            <a:off x="5572125" y="3267075"/>
            <a:ext cx="290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Потерявший, нашедший,</a:t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модератор</a:t>
            </a:r>
          </a:p>
        </p:txBody>
      </p:sp>
      <p:sp>
        <p:nvSpPr>
          <p:cNvPr id="13" name="TXT10">
            <a:extLst>
              <a:ext uri="{FF2B5EF4-FFF2-40B4-BE49-F238E27FC236}">
                <ns2:creationId id="{96BB58B2-7DB6-4922-BD2A-B16682CE26C5}"/>
              </a:ext>
            </a:extLst>
          </p:cNvPr>
          <p:cNvSpPr>
            <a:spLocks noGrp="1"/>
          </p:cNvSpPr>
          <p:nvPr/>
        </p:nvSpPr>
        <p:spPr>
          <a:xfrm>
            <a:off x="5572125" y="3886200"/>
            <a:ext cx="2905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Основные действия</a:t>
            </a:r>
          </a:p>
        </p:txBody>
      </p:sp>
      <p:sp>
        <p:nvSpPr>
          <p:cNvPr id="14" name="TXT11">
            <a:extLst>
              <a:ext uri="{FF2B5EF4-FFF2-40B4-BE49-F238E27FC236}">
                <ns2:creationId id="{BB6B6619-8E83-4AE2-95C1-617B87C1BBFE}"/>
              </a:ext>
            </a:extLst>
          </p:cNvPr>
          <p:cNvSpPr>
            <a:spLocks noGrp="1"/>
          </p:cNvSpPr>
          <p:nvPr/>
        </p:nvSpPr>
        <p:spPr>
          <a:xfrm>
            <a:off x="5572125" y="4191000"/>
            <a:ext cx="290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Объявления, поиск,</a:t>
            </a:r>
          </a:p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сопоставление и переписка</a:t>
            </a:r>
          </a:p>
        </p:txBody>
      </p:sp>
    </p:spTree>
    <p:extLst>
      <p:ext uri="{BB962C8B-B14F-4D97-AF65-F5344CB8AC3E}">
        <ns4:creationId val="3833283629"/>
      </p:ext>
    </p:extLst>
  </p:cSld>
  <p:clrMapOvr>
    <a:masterClrMapping/>
  </p:clrMapOvr>
</p:sld>
</file>

<file path=ppt/slides/itmo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3">
            <a:extLst>
              <a:ext uri="{FF2B5EF4-FFF2-40B4-BE49-F238E27FC236}">
                <ns2:creationId id="{3AB76CE9-014B-4D7A-AF91-954D5587C8FE}"/>
              </a:ext>
            </a:extLst>
          </p:cNvPr>
          <p:cNvSpPr>
            <a:spLocks noGrp="1"/>
          </p:cNvSpPr>
          <p:nvPr/>
        </p:nvSpPr>
        <p:spPr>
          <a:xfrm>
            <a:off x="8105775" y="1123950"/>
            <a:ext cx="542925" cy="276225"/>
          </a:xfrm>
          <a:prstGeom prst="rect">
            <a:avLst/>
          </a:prstGeom>
          <a:solidFill>
            <a:srgbClr val="FDFDFD"/>
          </a:solidFill>
          <a:ln w="0">
            <a:noFill/>
          </a:ln>
        </p:spPr>
      </p:sp>
      <p:sp>
        <p:nvSpPr>
          <p:cNvPr id="3" name="TXT12">
            <a:extLst>
              <a:ext uri="{FF2B5EF4-FFF2-40B4-BE49-F238E27FC236}">
                <ns2:creationId id="{78B511DA-1456-44A7-8B66-B4E6CBC7FFF3}"/>
              </a:ext>
            </a:extLst>
          </p:cNvPr>
          <p:cNvSpPr>
            <a:spLocks noGrp="1"/>
          </p:cNvSpPr>
          <p:nvPr/>
        </p:nvSpPr>
        <p:spPr>
          <a:xfrm>
            <a:off x="523875" y="428625"/>
            <a:ext cx="6334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Цель проекта</a:t>
            </a:r>
          </a:p>
        </p:txBody>
      </p:sp>
      <p:sp>
        <p:nvSpPr>
          <p:cNvPr id="4" name="TXT13">
            <a:extLst>
              <a:ext uri="{FF2B5EF4-FFF2-40B4-BE49-F238E27FC236}">
                <ns2:creationId id="{44222FB3-7E3C-4602-A5AC-F1B6675C05DF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429125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Спроектировать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функциональную модель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АИС «Сервис поиска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возврата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потерянных вещей»</a:t>
            </a:r>
          </a:p>
        </p:txBody>
      </p:sp>
      <p:sp>
        <p:nvSpPr>
          <p:cNvPr id="5" name="TXT14">
            <a:extLst>
              <a:ext uri="{FF2B5EF4-FFF2-40B4-BE49-F238E27FC236}">
                <ns2:creationId id="{EB061349-4E73-4153-B4AC-A97404750D6C}"/>
              </a:ext>
            </a:extLst>
          </p:cNvPr>
          <p:cNvSpPr>
            <a:spLocks noGrp="1"/>
          </p:cNvSpPr>
          <p:nvPr/>
        </p:nvSpPr>
        <p:spPr>
          <a:xfrm>
            <a:off x="5667375" y="1219200"/>
            <a:ext cx="27622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Содержание модели</a:t>
            </a:r>
          </a:p>
        </p:txBody>
      </p:sp>
      <p:sp>
        <p:nvSpPr>
          <p:cNvPr id="6" name="TXT15">
            <a:extLst>
              <a:ext uri="{FF2B5EF4-FFF2-40B4-BE49-F238E27FC236}">
                <ns2:creationId id="{441676B3-BFB8-4FF5-A846-8C94A0481293}"/>
              </a:ext>
            </a:extLst>
          </p:cNvPr>
          <p:cNvSpPr>
            <a:spLocks noGrp="1"/>
          </p:cNvSpPr>
          <p:nvPr/>
        </p:nvSpPr>
        <p:spPr>
          <a:xfrm>
            <a:off x="5667375" y="2038350"/>
            <a:ext cx="2686050" cy="2447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Основные процессы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системы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Входные и выходные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данные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Связи процессов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накопителей</a:t>
            </a:r>
          </a:p>
        </p:txBody>
      </p:sp>
    </p:spTree>
    <p:extLst>
      <p:ext uri="{BB962C8B-B14F-4D97-AF65-F5344CB8AC3E}">
        <ns3:creationId val="3998376298"/>
      </p:ext>
    </p:extLst>
  </p:cSld>
  <p:clrMapOvr>
    <a:masterClrMapping/>
  </p:clrMapOvr>
</p:sld>
</file>

<file path=ppt/slides/itmo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4">
            <a:extLst>
              <a:ext uri="{FF2B5EF4-FFF2-40B4-BE49-F238E27FC236}">
                <ns2:creationId id="{5EDE7C9C-E416-4FA5-ACBD-20056594445F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16">
            <a:extLst>
              <a:ext uri="{FF2B5EF4-FFF2-40B4-BE49-F238E27FC236}">
                <ns2:creationId id="{C4C86D13-4D07-4B04-8298-EF3998FD4201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Задачи проекта</a:t>
            </a:r>
          </a:p>
        </p:txBody>
      </p:sp>
      <p:sp>
        <p:nvSpPr>
          <p:cNvPr id="4" name="TXT17">
            <a:extLst>
              <a:ext uri="{FF2B5EF4-FFF2-40B4-BE49-F238E27FC236}">
                <ns2:creationId id="{ED18DD9A-F6D5-4AF5-A754-173CE50D9349}"/>
              </a:ext>
            </a:extLst>
          </p:cNvPr>
          <p:cNvSpPr>
            <a:spLocks noGrp="1"/>
          </p:cNvSpPr>
          <p:nvPr/>
        </p:nvSpPr>
        <p:spPr>
          <a:xfrm>
            <a:off x="657225" y="1314450"/>
            <a:ext cx="7724775" cy="3333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1. Определить назначение АИС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2. Выделить основной процесс и внешние сущности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3. Определить входные и выходные потоки данных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4. Построить контекстную диаграмму A−0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5. Проанализировать события и составить матрицу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6. Построить диаграмму A0 с процессами и накопителями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7. Детализировать управление пользователями на A1</a:t>
            </a:r>
          </a:p>
        </p:txBody>
      </p:sp>
    </p:spTree>
    <p:extLst>
      <p:ext uri="{BB962C8B-B14F-4D97-AF65-F5344CB8AC3E}">
        <ns3:creationId val="4287535555"/>
      </p:ext>
    </p:extLst>
  </p:cSld>
  <p:clrMapOvr>
    <a:masterClrMapping/>
  </p:clrMapOvr>
</p:sld>
</file>

<file path=ppt/slides/itmo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5">
            <a:extLst>
              <a:ext uri="{FF2B5EF4-FFF2-40B4-BE49-F238E27FC236}">
                <ns2:creationId id="{BA5B825A-C3B8-4647-ADA0-B146751843E3}"/>
              </a:ext>
            </a:extLst>
          </p:cNvPr>
          <p:cNvSpPr>
            <a:spLocks noGrp="1"/>
          </p:cNvSpPr>
          <p:nvPr/>
        </p:nvSpPr>
        <p:spPr>
          <a:xfrm>
            <a:off x="3505200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EMPLATE-DECOR-MASK-5">
            <a:extLst>
              <a:ext uri="{FF2B5EF4-FFF2-40B4-BE49-F238E27FC236}">
                <ns2:creationId id="{7D02FC77-7BC4-4B4B-A717-036E75269805}"/>
              </a:ext>
            </a:extLst>
          </p:cNvPr>
          <p:cNvSpPr>
            <a:spLocks noGrp="1"/>
          </p:cNvSpPr>
          <p:nvPr/>
        </p:nvSpPr>
        <p:spPr>
          <a:xfrm>
            <a:off x="8029575" y="24098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TXT18">
            <a:extLst>
              <a:ext uri="{FF2B5EF4-FFF2-40B4-BE49-F238E27FC236}">
                <ns2:creationId id="{33A5B1DE-0759-406A-BCAD-EE6D35910B24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Методология и инструменты</a:t>
            </a:r>
          </a:p>
        </p:txBody>
      </p:sp>
      <p:sp>
        <p:nvSpPr>
          <p:cNvPr id="5" name="TXT19">
            <a:extLst>
              <a:ext uri="{FF2B5EF4-FFF2-40B4-BE49-F238E27FC236}">
                <ns2:creationId id="{8618D20C-CCC4-4033-B865-17BCB96DD2F8}"/>
              </a:ext>
            </a:extLst>
          </p:cNvPr>
          <p:cNvSpPr>
            <a:spLocks noGrp="1"/>
          </p:cNvSpPr>
          <p:nvPr/>
        </p:nvSpPr>
        <p:spPr>
          <a:xfrm>
            <a:off x="609600" y="1219200"/>
            <a:ext cx="338137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Методология</a:t>
            </a:r>
          </a:p>
        </p:txBody>
      </p:sp>
      <p:sp>
        <p:nvSpPr>
          <p:cNvPr id="6" name="TXT20">
            <a:extLst>
              <a:ext uri="{FF2B5EF4-FFF2-40B4-BE49-F238E27FC236}">
                <ns2:creationId id="{0D701875-D732-4419-AB20-4717C4DF3517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3371850" cy="1552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DFD, Gane–Sarson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Уровни A−0, A0, A1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Процессы, сущности,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потоки и накопители</a:t>
            </a:r>
          </a:p>
        </p:txBody>
      </p:sp>
      <p:sp>
        <p:nvSpPr>
          <p:cNvPr id="7" name="TXT21">
            <a:extLst>
              <a:ext uri="{FF2B5EF4-FFF2-40B4-BE49-F238E27FC236}">
                <ns2:creationId id="{5A057462-5FE3-4A47-876F-19CEAA3707A7}"/>
              </a:ext>
            </a:extLst>
          </p:cNvPr>
          <p:cNvSpPr>
            <a:spLocks noGrp="1"/>
          </p:cNvSpPr>
          <p:nvPr/>
        </p:nvSpPr>
        <p:spPr>
          <a:xfrm>
            <a:off x="5219700" y="2524125"/>
            <a:ext cx="3286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CASE-средство</a:t>
            </a:r>
          </a:p>
        </p:txBody>
      </p:sp>
      <p:sp>
        <p:nvSpPr>
          <p:cNvPr id="8" name="TXT22">
            <a:extLst>
              <a:ext uri="{FF2B5EF4-FFF2-40B4-BE49-F238E27FC236}">
                <ns2:creationId id="{CFD68F7E-C62D-4F0B-ACCB-D7503BAA8567}"/>
              </a:ext>
            </a:extLst>
          </p:cNvPr>
          <p:cNvSpPr>
            <a:spLocks noGrp="1"/>
          </p:cNvSpPr>
          <p:nvPr/>
        </p:nvSpPr>
        <p:spPr>
          <a:xfrm>
            <a:off x="5219700" y="3048000"/>
            <a:ext cx="3190875" cy="154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diagrams.net</a:t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DFD-моделирование</a:t>
            </a:r>
          </a:p>
          <a:p>
            <a:r>
              <a:t/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Figma — оформление</a:t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PowerPoint — презентация</a:t>
            </a:r>
          </a:p>
        </p:txBody>
      </p:sp>
    </p:spTree>
    <p:extLst>
      <p:ext uri="{BB962C8B-B14F-4D97-AF65-F5344CB8AC3E}">
        <ns3:creationId val="1043540765"/>
      </p:ext>
    </p:extLst>
  </p:cSld>
  <p:clrMapOvr>
    <a:masterClrMapping/>
  </p:clrMapOvr>
</p:sld>
</file>

<file path=ppt/slides/itmo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6">
            <a:extLst>
              <a:ext uri="{FF2B5EF4-FFF2-40B4-BE49-F238E27FC236}">
                <ns2:creationId id="{1E14E124-583F-4ACC-9024-E0F6E906CFC6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3">
            <a:extLst>
              <a:ext uri="{FF2B5EF4-FFF2-40B4-BE49-F238E27FC236}">
                <ns2:creationId id="{D87CD4E7-BF2C-4038-AC32-05E324EA5D9F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1–3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514350" y="1219200"/>
          <a:ext cx="8115300" cy="3238500"/>
        </p:xfrm>
        <a:graphic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Регистрация, вход,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изменение профиля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1.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пользователями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Учётные данные, профиль;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 и D9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Профиль и результат входа;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Создание, изменение,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закрытие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модерации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6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2.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объявлениями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D2–D4 и D9;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модерации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Карточка и статус;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D2–D4;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материалы → 6;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→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 поиска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3. Искать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фильтровать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Поисковый запрос, фильтры;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D2–D4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Результаты поиска: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только PUBLISHED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XT24">
            <a:extLst>
              <a:ext uri="{FF2B5EF4-FFF2-40B4-BE49-F238E27FC236}">
                <ns2:creationId id="{35258801-CE3C-40A5-AEBB-97ACEFD7D76A}"/>
              </a:ext>
            </a:extLst>
          </p:cNvPr>
          <p:cNvSpPr>
            <a:spLocks noGrp="1"/>
          </p:cNvSpPr>
          <p:nvPr/>
        </p:nvSpPr>
        <p:spPr>
          <a:xfrm>
            <a:off x="533400" y="4543425"/>
            <a:ext cx="8067675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ns3:creationId val="4287535555"/>
      </p:ext>
    </p:extLst>
  </p:cSld>
  <p:clrMapOvr>
    <a:masterClrMapping/>
  </p:clrMapOvr>
</p:sld>
</file>

<file path=ppt/slides/itmo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7">
            <a:extLst>
              <a:ext uri="{FF2B5EF4-FFF2-40B4-BE49-F238E27FC236}">
                <ns2:creationId id="{F6033D60-BBEC-4E67-A485-CB75B80579F2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5">
            <a:extLst>
              <a:ext uri="{FF2B5EF4-FFF2-40B4-BE49-F238E27FC236}">
                <ns2:creationId id="{A7910876-EFE5-4A62-A1CF-FF506E820DD2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4–6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514350" y="1219200"/>
          <a:ext cx="8115300" cy="3238500"/>
        </p:xfrm>
        <a:graphic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Изменение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4. Сопоставлять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D2, D4 и D5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Совпадения и состояния → D5;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совпадение → 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Сообщение, запрос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истории или контакта;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совпадение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5. Организовывать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взаимодействие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 взаимодействия;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совпадение;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D1, D6, D7 и D9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Сообщения, контакты,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уведомления;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D6 и D7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проверку; жалоба;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модератора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модератор,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6. Обеспечивать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модерацию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безопасность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Материалы, жалоба, решение;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D1–D4, D8 и D9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Материалы → модератору;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статус жалобы;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D8, D9;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 →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XT26">
            <a:extLst>
              <a:ext uri="{FF2B5EF4-FFF2-40B4-BE49-F238E27FC236}">
                <ns2:creationId id="{3DA4043F-A0D3-4B77-8DBA-37AC99D36559}"/>
              </a:ext>
            </a:extLst>
          </p:cNvPr>
          <p:cNvSpPr>
            <a:spLocks noGrp="1"/>
          </p:cNvSpPr>
          <p:nvPr/>
        </p:nvSpPr>
        <p:spPr>
          <a:xfrm>
            <a:off x="533400" y="4543425"/>
            <a:ext cx="8067675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ns3:creationId val="4287535555"/>
      </p:ext>
    </p:extLst>
  </p:cSld>
  <p:clrMapOvr>
    <a:masterClrMapping/>
  </p:clrMapOvr>
</p:sld>
</file>

<file path=ppt/slides/itmo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8">
            <a:extLst>
              <a:ext uri="{FF2B5EF4-FFF2-40B4-BE49-F238E27FC236}">
                <ns2:creationId id="{41DAC6F8-B566-4342-8000-75799DC274C8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7">
            <a:extLst>
              <a:ext uri="{FF2B5EF4-FFF2-40B4-BE49-F238E27FC236}">
                <ns2:creationId id="{31101D91-B7CC-4EE3-93A8-2052F4448D9B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A−0 · границы системы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overlay_Rad8267b5af934ca8"/>
          <a:stretch/>
        </p:blipFill>
        <p:spPr>
          <a:xfrm>
            <a:off x="1139465" y="1123950"/>
            <a:ext cx="6922220" cy="3609975"/>
          </a:xfrm>
          <a:prstGeom prst="rect">
            <a:avLst/>
          </a:prstGeom>
        </p:spPr>
      </p:pic>
    </p:spTree>
    <p:extLst>
      <p:ext uri="{BB962C8B-B14F-4D97-AF65-F5344CB8AC3E}">
        <ns4:creationId val="4287535555"/>
      </p:ext>
    </p:extLst>
  </p:cSld>
  <p:clrMapOvr>
    <a:masterClrMapping/>
  </p:clrMapOvr>
</p:sld>
</file>

<file path=ppt/slides/itmo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9">
            <a:extLst>
              <a:ext uri="{FF2B5EF4-FFF2-40B4-BE49-F238E27FC236}">
                <ns2:creationId id="{E9DA0419-46B6-402B-B09C-C4CF09517B70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8">
            <a:extLst>
              <a:ext uri="{FF2B5EF4-FFF2-40B4-BE49-F238E27FC236}">
                <ns2:creationId id="{BDFDD477-F433-44FC-ADA6-7E435397A659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A0 · функциональная модель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overlay_R8e199d01cb28460a"/>
          <a:stretch/>
        </p:blipFill>
        <p:spPr>
          <a:xfrm>
            <a:off x="875223" y="1095375"/>
            <a:ext cx="7450703" cy="3657600"/>
          </a:xfrm>
          <a:prstGeom prst="rect">
            <a:avLst/>
          </a:prstGeom>
        </p:spPr>
      </p:pic>
    </p:spTree>
    <p:extLst>
      <p:ext uri="{BB962C8B-B14F-4D97-AF65-F5344CB8AC3E}">
        <ns4:creationId val="4287535555"/>
      </p:ext>
    </p:extLst>
  </p:cSld>
  <p:clrMapOvr>
    <a:masterClrMapping/>
  </p:clrMapOvr>
</p:sld>
</file>

<file path=ppt/slides/itmoSlide1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10">
            <a:extLst>
              <a:ext uri="{FF2B5EF4-FFF2-40B4-BE49-F238E27FC236}">
                <ns2:creationId id="{E260E527-A4B1-4A6D-9F5A-4CE568D33C0E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9">
            <a:extLst>
              <a:ext uri="{FF2B5EF4-FFF2-40B4-BE49-F238E27FC236}">
                <ns2:creationId id="{78D78E10-179D-4F85-9ECC-C9856AB1CA2C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A1 · управление пользователями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overlay_R6e3c61d50bee4681"/>
          <a:stretch/>
        </p:blipFill>
        <p:spPr>
          <a:xfrm>
            <a:off x="476250" y="1147780"/>
            <a:ext cx="8248650" cy="3552789"/>
          </a:xfrm>
          <a:prstGeom prst="rect">
            <a:avLst/>
          </a:prstGeom>
        </p:spPr>
      </p:pic>
    </p:spTree>
    <p:extLst>
      <p:ext uri="{BB962C8B-B14F-4D97-AF65-F5344CB8AC3E}">
        <ns4:creationId val="4287535555"/>
      </p:ext>
    </p:extLst>
  </p:cSld>
  <p:clrMapOvr>
    <a:masterClrMapping/>
  </p:clrMapOvr>
</p:sld>
</file>

<file path=ppt/slides/itmo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0">
            <a:extLst>
              <a:ext uri="{FF2B5EF4-FFF2-40B4-BE49-F238E27FC236}">
                <ns2:creationId id="{69D35D1D-3FE2-44EF-A4CD-11049B147DAF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Выводы</a:t>
            </a:r>
          </a:p>
        </p:txBody>
      </p:sp>
      <p:sp>
        <p:nvSpPr>
          <p:cNvPr id="3" name="TXT31">
            <a:extLst>
              <a:ext uri="{FF2B5EF4-FFF2-40B4-BE49-F238E27FC236}">
                <ns2:creationId id="{183FDA48-7916-4DE2-826B-8DD0D70D721F}"/>
              </a:ext>
            </a:extLst>
          </p:cNvPr>
          <p:cNvSpPr>
            <a:spLocks noGrp="1"/>
          </p:cNvSpPr>
          <p:nvPr/>
        </p:nvSpPr>
        <p:spPr>
          <a:xfrm>
            <a:off x="657225" y="1219200"/>
            <a:ext cx="3381375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Определили границы</a:t>
            </a:r>
          </a:p>
          <a:p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и участников</a:t>
            </a:r>
          </a:p>
        </p:txBody>
      </p:sp>
      <p:sp>
        <p:nvSpPr>
          <p:cNvPr id="4" name="TXT32">
            <a:extLst>
              <a:ext uri="{FF2B5EF4-FFF2-40B4-BE49-F238E27FC236}">
                <ns2:creationId id="{577113A9-421B-4D66-9096-BC42A2418382}"/>
              </a:ext>
            </a:extLst>
          </p:cNvPr>
          <p:cNvSpPr>
            <a:spLocks noGrp="1"/>
          </p:cNvSpPr>
          <p:nvPr/>
        </p:nvSpPr>
        <p:spPr>
          <a:xfrm>
            <a:off x="657225" y="2085975"/>
            <a:ext cx="338137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Описали назначение</a:t>
            </a:r>
          </a:p>
          <a:p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обмен данными</a:t>
            </a:r>
          </a:p>
        </p:txBody>
      </p:sp>
      <p:sp>
        <p:nvSpPr>
          <p:cNvPr id="5" name="TXT33">
            <a:extLst>
              <a:ext uri="{FF2B5EF4-FFF2-40B4-BE49-F238E27FC236}">
                <ns2:creationId id="{EB530D13-45A0-413A-951D-E69200F6E8CA}"/>
              </a:ext>
            </a:extLst>
          </p:cNvPr>
          <p:cNvSpPr>
            <a:spLocks noGrp="1"/>
          </p:cNvSpPr>
          <p:nvPr/>
        </p:nvSpPr>
        <p:spPr>
          <a:xfrm>
            <a:off x="657225" y="3124200"/>
            <a:ext cx="33813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Составили</a:t>
            </a:r>
          </a:p>
          <a:p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матрицу событий</a:t>
            </a:r>
          </a:p>
        </p:txBody>
      </p:sp>
      <p:sp>
        <p:nvSpPr>
          <p:cNvPr id="6" name="TXT34">
            <a:extLst>
              <a:ext uri="{FF2B5EF4-FFF2-40B4-BE49-F238E27FC236}">
                <ns2:creationId id="{54EA06B6-572B-4447-820D-521BD1267623}"/>
              </a:ext>
            </a:extLst>
          </p:cNvPr>
          <p:cNvSpPr>
            <a:spLocks noGrp="1"/>
          </p:cNvSpPr>
          <p:nvPr/>
        </p:nvSpPr>
        <p:spPr>
          <a:xfrm>
            <a:off x="657225" y="4000500"/>
            <a:ext cx="3381375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Связали события</a:t>
            </a:r>
          </a:p>
          <a:p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 входами и выходами</a:t>
            </a:r>
          </a:p>
        </p:txBody>
      </p:sp>
      <p:sp>
        <p:nvSpPr>
          <p:cNvPr id="7" name="TXT35">
            <a:extLst>
              <a:ext uri="{FF2B5EF4-FFF2-40B4-BE49-F238E27FC236}">
                <ns2:creationId id="{6C63DF3E-DBF7-4A24-A8B2-1DA0D8A2571B}"/>
              </a:ext>
            </a:extLst>
          </p:cNvPr>
          <p:cNvSpPr>
            <a:spLocks noGrp="1"/>
          </p:cNvSpPr>
          <p:nvPr/>
        </p:nvSpPr>
        <p:spPr>
          <a:xfrm>
            <a:off x="5038725" y="1247775"/>
            <a:ext cx="3400425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Модель АИС</a:t>
            </a:r>
          </a:p>
          <a:p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спроектирована</a:t>
            </a:r>
          </a:p>
        </p:txBody>
      </p:sp>
      <p:sp>
        <p:nvSpPr>
          <p:cNvPr id="8" name="TXT36">
            <a:extLst>
              <a:ext uri="{FF2B5EF4-FFF2-40B4-BE49-F238E27FC236}">
                <ns2:creationId id="{BC912D7E-A63D-4581-A9D9-65688B69BE76}"/>
              </a:ext>
            </a:extLst>
          </p:cNvPr>
          <p:cNvSpPr>
            <a:spLocks noGrp="1"/>
          </p:cNvSpPr>
          <p:nvPr/>
        </p:nvSpPr>
        <p:spPr>
          <a:xfrm>
            <a:off x="5038725" y="2371725"/>
            <a:ext cx="3343275" cy="2133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Построили A−0, A0 и A1</a:t>
            </a:r>
          </a:p>
          <a:p>
            <a:r>
              <a:t/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Выделили 6 процессов</a:t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9 накопителей</a:t>
            </a:r>
          </a:p>
          <a:p>
            <a:r>
              <a:t/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Управление пользователями</a:t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раскрыли на 4 подпроцесса</a:t>
            </a:r>
          </a:p>
        </p:txBody>
      </p:sp>
    </p:spTree>
    <p:extLst>
      <p:ext uri="{BB962C8B-B14F-4D97-AF65-F5344CB8AC3E}">
        <ns3:creationId val="568716978"/>
      </p:ext>
    </p:extLst>
  </p:cSld>
  <p:clrMapOvr>
    <a:masterClrMapping/>
  </p:clrMapOvr>
</p:sld>
</file>

<file path=ppt/slides/itmo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7">
            <a:extLst>
              <a:ext uri="{FF2B5EF4-FFF2-40B4-BE49-F238E27FC236}">
                <ns3:creationId id="{293187DC-D221-429F-8C7E-203B7DF7E1D4}"/>
              </a:ext>
            </a:extLst>
          </p:cNvPr>
          <p:cNvSpPr>
            <a:spLocks noGrp="1"/>
          </p:cNvSpPr>
          <p:nvPr/>
        </p:nvSpPr>
        <p:spPr>
          <a:xfrm>
            <a:off x="1285875" y="1666875"/>
            <a:ext cx="6572250" cy="1323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Спасибо</a:t>
            </a:r>
          </a:p>
          <a:p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за внимание</a:t>
            </a:r>
          </a:p>
        </p:txBody>
      </p:sp>
      <p:sp>
        <p:nvSpPr>
          <p:cNvPr id="3" name="TXT38">
            <a:extLst>
              <a:ext uri="{FF2B5EF4-FFF2-40B4-BE49-F238E27FC236}">
                <ns3:creationId id="{60F6B3BC-5A23-4EAB-AC65-0D65AEC4358F}"/>
              </a:ext>
            </a:extLst>
          </p:cNvPr>
          <p:cNvSpPr>
            <a:spLocks noGrp="1"/>
          </p:cNvSpPr>
          <p:nvPr/>
        </p:nvSpPr>
        <p:spPr>
          <a:xfrm>
            <a:off x="1285875" y="4162425"/>
            <a:ext cx="6572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Вопросы?</a:t>
            </a:r>
          </a:p>
        </p:txBody>
      </p:sp>
    </p:spTree>
    <p:extLst>
      <p:ext uri="{BB962C8B-B14F-4D97-AF65-F5344CB8AC3E}">
        <ns4:creationId val="1864942597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2442525"/>
            <a:ext cx="6400800" cy="704850"/>
          </a:xfrm>
        </p:spPr>
        <p:txBody>
          <a:bodyPr>
            <a:no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Название</a:t>
            </a:r>
            <a:br>
              <a:rPr lang="ru-RU" sz="4400" dirty="0">
                <a:solidFill>
                  <a:schemeClr val="bg1"/>
                </a:solidFill>
              </a:rPr>
            </a:br>
            <a:r>
              <a:rPr lang="ru-RU" sz="4400" dirty="0">
                <a:solidFill>
                  <a:schemeClr val="bg1"/>
                </a:solidFill>
              </a:rPr>
              <a:t>презентации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2BEA39AC-0C16-00A4-A7D1-16251640B1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D6F04732-FA0C-6214-4E09-404CAC7C88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69534-90B7-5774-2306-1A9DD2D6F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95D14C-0749-B366-DF60-831456AD6E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8376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59C3AC6-6CD1-C215-A3EB-1B669F1857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2A005B5-E37E-D5F7-C74B-2628D4CDB8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683ECEF-C126-4F4F-2B77-7FC63C7D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07358EA-8600-ADBA-52DF-6AC12A92CA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6774C3B-FC5A-185E-8092-889B7F24F4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3540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B75BB7E-5242-607C-D973-5C88E2FAB3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922D73-8950-E8DA-530F-B7973DB0EC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22F25C4-7663-582D-5776-E7C30E76E2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D6CCC61-BB2F-AF7A-925F-8FDA44CDA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8716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B39C447F-7789-D914-2682-159AE68208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586" b="586"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A915A35-EC87-76A1-7F8F-9378EFC6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F7CD16-D4EE-5D1A-67C6-8FC838F976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283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EC9FE03F-277F-A8A4-C0C6-0727AF17B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9A927D3-D22C-72D3-9160-2A7238153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7D6E8493-F34E-A3DE-5CC9-A51F7FEAAC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pic>
        <p:nvPicPr>
          <p:cNvPr id="14" name="Рисунок 13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55CAB40C-5337-8BF0-0625-E685F899AA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5924" b="592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60398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14035420-BC7F-2B5B-9DC7-253E9700DE0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1B7B10-8BE9-0D4B-4BEE-4D9FECFAD7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30AEA4-B064-F849-E3CD-DAD6A93B84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F843F57-4FDA-9C25-01A0-9142B2AC0C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3DB4739-E298-9FB8-621A-63B5AD7B16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044626B9-CC56-F5AC-20ED-9D24FFDB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4EA0E19-5F7D-AE8D-E253-F58186F00CD1}"/>
              </a:ext>
            </a:extLst>
          </p:cNvPr>
          <p:cNvSpPr>
            <a:spLocks noGrp="1"/>
          </p:cNvSpPr>
          <p:nvPr>
            <p:ph sz="half" idx="26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3" name="Рисунок 12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D789FEA7-5AC2-99BA-BB98-5D94990238D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11" b="6711"/>
          <a:stretch>
            <a:fillRect/>
          </a:stretch>
        </p:blipFill>
        <p:spPr/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98BE48A4-EBBB-156D-739A-E7D0659C950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/>
      </p:sp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96B9C87A-1CB9-8548-2E75-F473D1DB0B0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/>
      </p:sp>
    </p:spTree>
    <p:extLst>
      <p:ext uri="{BB962C8B-B14F-4D97-AF65-F5344CB8AC3E}">
        <p14:creationId xmlns:p14="http://schemas.microsoft.com/office/powerpoint/2010/main" val="2935888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20DBFC-6C80-6C49-5394-0A6FB6DA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4B8CD1-C0D2-3E0D-BEF2-7B51C67BD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Рисунок 9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1350F252-A57D-E561-C9FF-C567FEE1DFB1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t="5924" b="5924"/>
          <a:stretch>
            <a:fillRect/>
          </a:stretch>
        </p:blipFill>
        <p:spPr/>
      </p:pic>
      <p:sp>
        <p:nvSpPr>
          <p:cNvPr id="5" name="Рисунок 4">
            <a:extLst>
              <a:ext uri="{FF2B5EF4-FFF2-40B4-BE49-F238E27FC236}">
                <a16:creationId xmlns:a16="http://schemas.microsoft.com/office/drawing/2014/main" id="{635C7FA0-CA3F-99C6-A092-B8AB77EF3EE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8BD1F05A-4D93-BBD5-5092-281EBB8326D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965F9921-F51F-C17A-7697-90CCBA75BC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435074E3-2EE0-D6EC-E4D4-936FD11A5ED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/>
      </p:sp>
    </p:spTree>
    <p:extLst>
      <p:ext uri="{BB962C8B-B14F-4D97-AF65-F5344CB8AC3E}">
        <p14:creationId xmlns:p14="http://schemas.microsoft.com/office/powerpoint/2010/main" val="3358523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96C84A0-6805-22CC-8370-4BB5276FE4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1A8490-1FF6-0E6E-8A8F-4B88094CBE8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E856410-4EF1-AD81-1ABA-060749F7BDF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BC0C6B6-A6AC-5C98-DFAB-E1AA4CC8B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pic>
        <p:nvPicPr>
          <p:cNvPr id="16" name="Рисунок 15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766C9A8E-4928-9833-EF09-D6BAA450CA17}"/>
              </a:ext>
            </a:extLst>
          </p:cNvPr>
          <p:cNvPicPr>
            <a:picLocks noGrp="1" noChangeAspect="1"/>
          </p:cNvPicPr>
          <p:nvPr>
            <p:ph type="pic" sz="quarter" idx="31"/>
          </p:nvPr>
        </p:nvPicPr>
        <p:blipFill rotWithShape="1">
          <a:blip r:embed="rId2"/>
          <a:srcRect l="-243" t="8890" r="243" b="31362"/>
          <a:stretch/>
        </p:blipFill>
        <p:spPr>
          <a:xfrm>
            <a:off x="454050" y="952607"/>
            <a:ext cx="2589213" cy="1304294"/>
          </a:xfrm>
        </p:spPr>
      </p:pic>
      <p:sp>
        <p:nvSpPr>
          <p:cNvPr id="7" name="Рисунок 6">
            <a:extLst>
              <a:ext uri="{FF2B5EF4-FFF2-40B4-BE49-F238E27FC236}">
                <a16:creationId xmlns:a16="http://schemas.microsoft.com/office/drawing/2014/main" id="{85978689-CD89-E96E-2201-F9A2214F8C5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/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BE87A544-55FB-1C80-6A79-70F4E704BF42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D057E28-B633-327F-9C42-D2CC507D781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020292B5-6AA1-44D1-C318-6077FB03E6C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E189EAC7-D2DA-00C2-DBDF-A7C6CFF1D02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924ACE34-10A6-1C8E-8DAD-9AA9B4250EA3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/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7435FDD6-FF73-314F-0ECA-07ACCB2459D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</p:sp>
      <p:sp>
        <p:nvSpPr>
          <p:cNvPr id="14" name="Рисунок 13">
            <a:extLst>
              <a:ext uri="{FF2B5EF4-FFF2-40B4-BE49-F238E27FC236}">
                <a16:creationId xmlns:a16="http://schemas.microsoft.com/office/drawing/2014/main" id="{9CAB6ECF-A625-86F0-2A87-1E656A6B5A7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</p:spTree>
    <p:extLst>
      <p:ext uri="{BB962C8B-B14F-4D97-AF65-F5344CB8AC3E}">
        <p14:creationId xmlns:p14="http://schemas.microsoft.com/office/powerpoint/2010/main" val="509741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Golos Text" panose="020B0503020202020204" pitchFamily="34" charset="-52"/>
                <a:cs typeface="Golos Text" panose="020B0503020202020204" pitchFamily="34" charset="-52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6E865-1779-C1D3-8C2B-CE6D381F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A86CA11-FF94-52CB-154C-7057EE646FD8}"/>
              </a:ext>
            </a:extLst>
          </p:cNvPr>
          <p:cNvSpPr txBox="1">
            <a:spLocks/>
          </p:cNvSpPr>
          <p:nvPr/>
        </p:nvSpPr>
        <p:spPr>
          <a:xfrm>
            <a:off x="436728" y="1021377"/>
            <a:ext cx="4327219" cy="2042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На слайдах должно быть как можно меньше текста. Не бойтесь оставлять свободное место, ведь оно имеет такую же ценность, как картинка или текст. </a:t>
            </a:r>
            <a:endParaRPr lang="ru-RU" sz="1200" b="0" i="0" dirty="0">
              <a:effectLst/>
              <a:latin typeface="Golos Text" panose="020B0503020202020204"/>
            </a:endParaRP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/>
              <a:t>Текст должен быть читабельным.</a:t>
            </a:r>
            <a:endParaRPr lang="ru-RU" sz="1200" dirty="0">
              <a:latin typeface="Golos Text" panose="020B0503020202020204"/>
            </a:endParaRP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>
                <a:latin typeface="Golos Text" panose="020B0503020202020204" pitchFamily="34" charset="0"/>
                <a:ea typeface="Golos Text" panose="020B0503020202020204" pitchFamily="34" charset="0"/>
              </a:rPr>
              <a:t>Делайте акцент на самом важном, выделяя слова, например, другим цветом либо цветными плашками, или </a:t>
            </a:r>
            <a:r>
              <a:rPr lang="ru-RU" sz="1200" dirty="0">
                <a:effectLst/>
                <a:latin typeface="Golos Text" panose="020B0503020202020204" pitchFamily="34" charset="0"/>
                <a:ea typeface="Golos Text" panose="020B0503020202020204" pitchFamily="34" charset="0"/>
              </a:rPr>
              <a:t>же используя жирное или курсивное начертание.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Не оставляйте «висячие» предлоги, их нужно переносить на следующую строку. 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0A31D99C-9EE7-7438-A8F6-8A255AD5CCD2}"/>
              </a:ext>
            </a:extLst>
          </p:cNvPr>
          <p:cNvSpPr txBox="1">
            <a:spLocks/>
          </p:cNvSpPr>
          <p:nvPr/>
        </p:nvSpPr>
        <p:spPr>
          <a:xfrm>
            <a:off x="4795120" y="1051995"/>
            <a:ext cx="2031707" cy="29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00" i="1" dirty="0"/>
              <a:t>Пример оформления слайда:</a:t>
            </a:r>
          </a:p>
        </p:txBody>
      </p:sp>
      <p:pic>
        <p:nvPicPr>
          <p:cNvPr id="5" name="Рисунок 4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30100B6D-2EAC-D80B-983A-F420D977B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787" y="1344079"/>
            <a:ext cx="3247278" cy="182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3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6E865-1779-C1D3-8C2B-CE6D381F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251CB0-746D-A717-9B37-016B96D921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28" y="974866"/>
            <a:ext cx="8253351" cy="257168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</a:pPr>
            <a:r>
              <a:rPr lang="ru-RU" sz="1200" dirty="0"/>
              <a:t>В шаблоне презентации представлено несколько вариантов фонов.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endParaRPr lang="ru-RU" sz="1800" dirty="0"/>
          </a:p>
        </p:txBody>
      </p:sp>
      <p:pic>
        <p:nvPicPr>
          <p:cNvPr id="11" name="Рисунок 10" descr="Изображение выглядит как стрела&#10;&#10;Автоматически созданное описание">
            <a:extLst>
              <a:ext uri="{FF2B5EF4-FFF2-40B4-BE49-F238E27FC236}">
                <a16:creationId xmlns:a16="http://schemas.microsoft.com/office/drawing/2014/main" id="{2CAC1882-B83E-E295-975B-04CCF92AD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265" y="2863302"/>
            <a:ext cx="1854220" cy="1060711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A0B55B04-6B68-F1FD-0C61-09A647061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138" y="2560072"/>
            <a:ext cx="1807636" cy="104985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F1A216D-6E3A-375D-D799-488E9A560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657" y="3956648"/>
            <a:ext cx="1815042" cy="1040979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0386C1B8-7B5C-45A6-C667-01CB24B81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545" y="3961949"/>
            <a:ext cx="1854220" cy="106345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5F919F3-5767-C579-9FFB-76AF9EDFA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89" y="2232422"/>
            <a:ext cx="1806219" cy="1016439"/>
          </a:xfrm>
          <a:prstGeom prst="rect">
            <a:avLst/>
          </a:prstGeom>
        </p:spPr>
      </p:pic>
      <p:pic>
        <p:nvPicPr>
          <p:cNvPr id="34" name="Рисунок 33" descr="Изображение выглядит как текст, электроника, дисплей&#10;&#10;Автоматически созданное описание">
            <a:extLst>
              <a:ext uri="{FF2B5EF4-FFF2-40B4-BE49-F238E27FC236}">
                <a16:creationId xmlns:a16="http://schemas.microsoft.com/office/drawing/2014/main" id="{E9645F72-2EEB-F09D-15A0-B072862DA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771" y="1538719"/>
            <a:ext cx="2148725" cy="124795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97861AD1-B11F-2C41-6D57-28BBC7F374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045" y="2823712"/>
            <a:ext cx="1806218" cy="101401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79ADAFAC-5582-2823-5477-B9FC9ED692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533" y="2589779"/>
            <a:ext cx="1806219" cy="1016439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AE4CC287-7E2C-12D7-7703-09A4F157F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990" y="2093237"/>
            <a:ext cx="1806219" cy="1016439"/>
          </a:xfrm>
          <a:prstGeom prst="rect">
            <a:avLst/>
          </a:prstGeom>
        </p:spPr>
      </p:pic>
      <p:pic>
        <p:nvPicPr>
          <p:cNvPr id="39" name="Рисунок 38" descr="Изображение выглядит как текст, электроника, дисплей&#10;&#10;Автоматически созданное описание">
            <a:extLst>
              <a:ext uri="{FF2B5EF4-FFF2-40B4-BE49-F238E27FC236}">
                <a16:creationId xmlns:a16="http://schemas.microsoft.com/office/drawing/2014/main" id="{7F4F129D-D192-D5EC-4045-6FF69EE454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9123" y="1502150"/>
            <a:ext cx="2148725" cy="1247950"/>
          </a:xfrm>
          <a:prstGeom prst="rect">
            <a:avLst/>
          </a:prstGeom>
        </p:spPr>
      </p:pic>
      <p:sp>
        <p:nvSpPr>
          <p:cNvPr id="40" name="Объект 2">
            <a:extLst>
              <a:ext uri="{FF2B5EF4-FFF2-40B4-BE49-F238E27FC236}">
                <a16:creationId xmlns:a16="http://schemas.microsoft.com/office/drawing/2014/main" id="{1142AB3C-C9FB-88F2-21DE-8C13C3A0649D}"/>
              </a:ext>
            </a:extLst>
          </p:cNvPr>
          <p:cNvSpPr txBox="1">
            <a:spLocks/>
          </p:cNvSpPr>
          <p:nvPr/>
        </p:nvSpPr>
        <p:spPr>
          <a:xfrm>
            <a:off x="430355" y="1239334"/>
            <a:ext cx="3377369" cy="29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dirty="0"/>
              <a:t>Их можно </a:t>
            </a:r>
            <a:r>
              <a:rPr lang="ru-RU" sz="1200" dirty="0" err="1"/>
              <a:t>миксовать</a:t>
            </a:r>
            <a:r>
              <a:rPr lang="ru-RU" sz="1200" dirty="0"/>
              <a:t>: </a:t>
            </a:r>
          </a:p>
        </p:txBody>
      </p:sp>
      <p:sp>
        <p:nvSpPr>
          <p:cNvPr id="41" name="Объект 2">
            <a:extLst>
              <a:ext uri="{FF2B5EF4-FFF2-40B4-BE49-F238E27FC236}">
                <a16:creationId xmlns:a16="http://schemas.microsoft.com/office/drawing/2014/main" id="{2CE85022-AA2F-E141-4234-EEBCC6A41382}"/>
              </a:ext>
            </a:extLst>
          </p:cNvPr>
          <p:cNvSpPr txBox="1">
            <a:spLocks/>
          </p:cNvSpPr>
          <p:nvPr/>
        </p:nvSpPr>
        <p:spPr>
          <a:xfrm>
            <a:off x="4385980" y="1216089"/>
            <a:ext cx="4251716" cy="292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dirty="0"/>
              <a:t>А можно выбрать один цвет для всей презентации:</a:t>
            </a:r>
          </a:p>
        </p:txBody>
      </p:sp>
    </p:spTree>
    <p:extLst>
      <p:ext uri="{BB962C8B-B14F-4D97-AF65-F5344CB8AC3E}">
        <p14:creationId xmlns:p14="http://schemas.microsoft.com/office/powerpoint/2010/main" val="4031685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34C1837-1767-690C-EEDD-0863FF186E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005763"/>
            <a:ext cx="8347587" cy="282848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Для того чтобы ваша презентация вызывала у аудитории эмоциональный отклик, используйте подходящие изображения.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Выбирайте фотографии только высокого разрешения.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Любые фотографии могут быть использованы в презентации только с соблюдением авторских прав.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/>
              <a:t>Таблицы и списки по возможности заменяйте инфографикой и диаграммами. Если же необходима таблица, то делайте ее максимально простой и понятной для аудитории.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endParaRPr lang="ru-RU" sz="1200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8D7015-8078-E895-F588-5053D801C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</p:spTree>
    <p:extLst>
      <p:ext uri="{BB962C8B-B14F-4D97-AF65-F5344CB8AC3E}">
        <p14:creationId xmlns:p14="http://schemas.microsoft.com/office/powerpoint/2010/main" val="35018288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5343</TotalTime>
  <Words>209</Words>
  <Application>Microsoft Office PowerPoint</Application>
  <PresentationFormat>Экран (16:9)</PresentationFormat>
  <Paragraphs>24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Название презентации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  <vt:lpstr>Рекомендации по оформлению слайдов</vt:lpstr>
      <vt:lpstr>Рекомендации по оформлению слайдов</vt:lpstr>
      <vt:lpstr>Рекомендации по оформлению слайдов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Сервис поиска и возврата потерянных вещей</dc:title>
  <dc:creator/>
  <ns0:lastModifiedBy/>
  <ns0:revision>103</ns0:revision>
  <ns2:created xsi:type="dcterms:W3CDTF">2014-06-27T12:30:22Z</ns2:created>
  <ns2:modified xsi:type="dcterms:W3CDTF">2022-09-09T13:21:46Z</ns2:modified>
</ns0:coreProperties>
</file>