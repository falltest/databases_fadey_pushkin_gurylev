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overlay/docProps/app.xml" ContentType="application/vnd.openxmlformats-officedocument.extended-properties+xml"/>
  <Override PartName="/ppt/overlay/ppt/presentation.xml" ContentType="application/vnd.openxmlformats-officedocument.presentationml.presentation.main+xml"/>
  <Override PartName="/ppt/overlay/ppt/theme/theme1.xml" ContentType="application/vnd.openxmlformats-officedocument.theme+xml"/>
  <Override PartName="/ppt/overlay/ppt/slideMasters/slideMaster1.xml" ContentType="application/vnd.openxmlformats-officedocument.presentationml.slideMaster+xml"/>
  <Override PartName="/ppt/overlay/ppt/slideMasters/theme/theme2.xml" ContentType="application/vnd.openxmlformats-officedocument.theme+xml"/>
  <Override PartName="/ppt/overlay/ppt/slideLayouts/slideLayout1.xml" ContentType="application/vnd.openxmlformats-officedocument.presentationml.slideLayout+xml"/>
  <Override PartName="/ppt/overlay/ppt/notesMasters/notesMaster1.xml" ContentType="application/vnd.openxmlformats-officedocument.presentationml.notesMaster+xml"/>
  <Override PartName="/ppt/overlay/ppt/notesMasters/theme/theme3.xml" ContentType="application/vnd.openxmlformats-officedocument.theme+xml"/>
  <Override PartName="/ppt/overlay/ppt/presProps.xml" ContentType="application/vnd.openxmlformats-officedocument.presentationml.presProps+xml"/>
  <Override PartName="/ppt/overlay/ppt/tableStyles.xml" ContentType="application/vnd.openxmlformats-officedocument.presentationml.tableStyles+xml"/>
  <Override PartName="/ppt/overlay/ppt/slides/slide1.xml" ContentType="application/vnd.openxmlformats-officedocument.presentationml.slide+xml"/>
  <Override PartName="/ppt/overlay/ppt/notesSlides/notesSlide1.xml" ContentType="application/vnd.openxmlformats-officedocument.presentationml.notesSlide+xml"/>
  <Override PartName="/ppt/overlay/ppt/slides/slide2.xml" ContentType="application/vnd.openxmlformats-officedocument.presentationml.slide+xml"/>
  <Override PartName="/ppt/overlay/ppt/notesSlides/notesSlide2.xml" ContentType="application/vnd.openxmlformats-officedocument.presentationml.notesSlide+xml"/>
  <Override PartName="/ppt/overlay/ppt/slides/slide3.xml" ContentType="application/vnd.openxmlformats-officedocument.presentationml.slide+xml"/>
  <Override PartName="/ppt/overlay/ppt/notesSlides/notesSlide3.xml" ContentType="application/vnd.openxmlformats-officedocument.presentationml.notesSlide+xml"/>
  <Override PartName="/ppt/overlay/ppt/slides/slide4.xml" ContentType="application/vnd.openxmlformats-officedocument.presentationml.slide+xml"/>
  <Override PartName="/ppt/overlay/ppt/notesSlides/notesSlide4.xml" ContentType="application/vnd.openxmlformats-officedocument.presentationml.notesSlide+xml"/>
  <Override PartName="/ppt/overlay/ppt/slides/slide5.xml" ContentType="application/vnd.openxmlformats-officedocument.presentationml.slide+xml"/>
  <Override PartName="/ppt/overlay/ppt/notesSlides/notesSlide5.xml" ContentType="application/vnd.openxmlformats-officedocument.presentationml.notesSlide+xml"/>
  <Override PartName="/ppt/overlay/ppt/slides/slide6.xml" ContentType="application/vnd.openxmlformats-officedocument.presentationml.slide+xml"/>
  <Override PartName="/ppt/overlay/ppt/notesSlides/notesSlide6.xml" ContentType="application/vnd.openxmlformats-officedocument.presentationml.notesSlide+xml"/>
  <Override PartName="/ppt/overlay/ppt/slides/slide7.xml" ContentType="application/vnd.openxmlformats-officedocument.presentationml.slide+xml"/>
  <Override PartName="/ppt/overlay/ppt/notesSlides/notesSlide7.xml" ContentType="application/vnd.openxmlformats-officedocument.presentationml.notesSlide+xml"/>
  <Override PartName="/ppt/overlay/ppt/slides/slide8.xml" ContentType="application/vnd.openxmlformats-officedocument.presentationml.slide+xml"/>
  <Override PartName="/ppt/overlay/ppt/notesSlides/notesSlide8.xml" ContentType="application/vnd.openxmlformats-officedocument.presentationml.notesSlide+xml"/>
  <Override PartName="/ppt/overlay/ppt/slides/slide9.xml" ContentType="application/vnd.openxmlformats-officedocument.presentationml.slide+xml"/>
  <Override PartName="/ppt/overlay/ppt/notesSlides/notesSlide9.xml" ContentType="application/vnd.openxmlformats-officedocument.presentationml.notesSlide+xml"/>
  <Override PartName="/ppt/overlay/ppt/slides/slide10.xml" ContentType="application/vnd.openxmlformats-officedocument.presentationml.slide+xml"/>
  <Override PartName="/ppt/overlay/ppt/notesSlides/notesSlide10.xml" ContentType="application/vnd.openxmlformats-officedocument.presentationml.notesSlide+xml"/>
  <Override PartName="/ppt/overlay/ppt/slides/slide11.xml" ContentType="application/vnd.openxmlformats-officedocument.presentationml.slide+xml"/>
  <Override PartName="/ppt/overlay/ppt/notesSlides/notesSlide11.xml" ContentType="application/vnd.openxmlformats-officedocument.presentationml.notesSlide+xml"/>
  <Override PartName="/ppt/slides/itmoSlide1.xml" ContentType="application/vnd.openxmlformats-officedocument.presentationml.slide+xml"/>
  <Override PartName="/ppt/slides/itmoSlide2.xml" ContentType="application/vnd.openxmlformats-officedocument.presentationml.slide+xml"/>
  <Override PartName="/ppt/slides/itmoSlide3.xml" ContentType="application/vnd.openxmlformats-officedocument.presentationml.slide+xml"/>
  <Override PartName="/ppt/slides/itmoSlide4.xml" ContentType="application/vnd.openxmlformats-officedocument.presentationml.slide+xml"/>
  <Override PartName="/ppt/slides/itmoSlide5.xml" ContentType="application/vnd.openxmlformats-officedocument.presentationml.slide+xml"/>
  <Override PartName="/ppt/slides/itmoSlide6.xml" ContentType="application/vnd.openxmlformats-officedocument.presentationml.slide+xml"/>
  <Override PartName="/ppt/slides/itmoSlide7.xml" ContentType="application/vnd.openxmlformats-officedocument.presentationml.slide+xml"/>
  <Override PartName="/ppt/slides/itmoSlide8.xml" ContentType="application/vnd.openxmlformats-officedocument.presentationml.slide+xml"/>
  <Override PartName="/ppt/slides/itmoSlide9.xml" ContentType="application/vnd.openxmlformats-officedocument.presentationml.slide+xml"/>
  <Override PartName="/ppt/slides/itmoSlide10.xml" ContentType="application/vnd.openxmlformats-officedocument.presentationml.slide+xml"/>
  <Override PartName="/ppt/slides/itmoSlide11.xml" ContentType="application/vnd.openxmlformats-officedocument.presentationml.slide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870" r:id="rId1"/>
  </p:sldMasterIdLst>
  <p:notesMasterIdLst>
    <p:notesMasterId r:id="rId17"/>
    <p:notesMasterId r:id="overlay_notesMaster_R8e5d950a755447e6"/>
  </p:notesMasterIdLst>
  <p:handoutMasterIdLst>
    <p:handoutMasterId r:id="rId18"/>
  </p:handoutMasterIdLst>
  <p:sldIdLst>
    <p:sldId id="257" r:id="itmoSlide1"/>
    <p:sldId id="258" r:id="itmoSlide2"/>
    <p:sldId id="259" r:id="itmoSlide3"/>
    <p:sldId id="260" r:id="itmoSlide4"/>
    <p:sldId id="261" r:id="itmoSlide5"/>
    <p:sldId id="262" r:id="itmoSlide6"/>
    <p:sldId id="263" r:id="itmoSlide7"/>
    <p:sldId id="264" r:id="itmoSlide8"/>
    <p:sldId id="265" r:id="itmoSlide9"/>
    <p:sldId id="266" r:id="itmoSlide10"/>
    <p:sldId id="267" r:id="itmoSlide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1611">
          <ns3:clr>
            <a:srgbClr val="A4A3A4"/>
          </ns3:clr>
        </ns3:guide>
        <ns3:guide id="2" pos="2874">
          <ns3:clr>
            <a:srgbClr val="A4A3A4"/>
          </ns3:clr>
        </ns3:guide>
      </ns3:sldGuideLst>
    </p:ext>
    <p:ext uri="{2D200454-40CA-4A62-9FC3-DE9A4176ACB9}">
      <ns3:notesGuideLst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72" autoAdjust="0"/>
  </p:normalViewPr>
  <p:slideViewPr>
    <p:cSldViewPr snapToGrid="0" snapToObjects="1" showGuides="1">
      <p:cViewPr varScale="1">
        <p:scale>
          <a:sx n="140" d="100"/>
          <a:sy n="140" d="100"/>
        </p:scale>
        <p:origin x="864" y="108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'1.0' encoding='utf-8'?>
<Relationships xmlns="http://schemas.openxmlformats.org/package/2006/relationships"><Relationship Id="rId18" Type="http://schemas.openxmlformats.org/officeDocument/2006/relationships/handoutMaster" Target="handoutMasters/handoutMaster1.xml" /><Relationship Id="rId21" Type="http://schemas.openxmlformats.org/officeDocument/2006/relationships/viewProps" Target="viewProps.xml" /><Relationship Id="rId17" Type="http://schemas.openxmlformats.org/officeDocument/2006/relationships/notesMaster" Target="notesMasters/notesMaster1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4" Type="http://schemas.microsoft.com/office/2018/10/relationships/authors" Target="authors.xml" /><Relationship Id="rId23" Type="http://schemas.openxmlformats.org/officeDocument/2006/relationships/tableStyles" Target="tableStyles.xml" /><Relationship Id="rId19" Type="http://schemas.openxmlformats.org/officeDocument/2006/relationships/commentAuthors" Target="commentAuthors.xml" /><Relationship Id="rId22" Type="http://schemas.openxmlformats.org/officeDocument/2006/relationships/theme" Target="theme/theme1.xml" /><Relationship Id="itmoSlide1" Type="http://schemas.openxmlformats.org/officeDocument/2006/relationships/slide" Target="slides/itmoSlide1.xml" /><Relationship Id="itmoSlide2" Type="http://schemas.openxmlformats.org/officeDocument/2006/relationships/slide" Target="slides/itmoSlide2.xml" /><Relationship Id="itmoSlide3" Type="http://schemas.openxmlformats.org/officeDocument/2006/relationships/slide" Target="slides/itmoSlide3.xml" /><Relationship Id="itmoSlide4" Type="http://schemas.openxmlformats.org/officeDocument/2006/relationships/slide" Target="slides/itmoSlide4.xml" /><Relationship Id="itmoSlide5" Type="http://schemas.openxmlformats.org/officeDocument/2006/relationships/slide" Target="slides/itmoSlide5.xml" /><Relationship Id="itmoSlide6" Type="http://schemas.openxmlformats.org/officeDocument/2006/relationships/slide" Target="slides/itmoSlide6.xml" /><Relationship Id="itmoSlide7" Type="http://schemas.openxmlformats.org/officeDocument/2006/relationships/slide" Target="slides/itmoSlide7.xml" /><Relationship Id="itmoSlide8" Type="http://schemas.openxmlformats.org/officeDocument/2006/relationships/slide" Target="slides/itmoSlide8.xml" /><Relationship Id="itmoSlide9" Type="http://schemas.openxmlformats.org/officeDocument/2006/relationships/slide" Target="slides/itmoSlide9.xml" /><Relationship Id="itmoSlide10" Type="http://schemas.openxmlformats.org/officeDocument/2006/relationships/slide" Target="slides/itmoSlide10.xml" /><Relationship Id="itmoSlide11" Type="http://schemas.openxmlformats.org/officeDocument/2006/relationships/slide" Target="slides/itmoSlide11.xml" /><Relationship Id="overlay_notesMaster_R8e5d950a755447e6" Type="http://schemas.openxmlformats.org/officeDocument/2006/relationships/notesMaster" Target="overlay/ppt/notesMasters/notesMaster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9/9/2022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9/9/2022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overlay/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ppt/overlay/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2026-10-07T15:52:41.0310000Z</dcterms:created>
  <dcterms:modified xsi:type="dcterms:W3CDTF">2026-10-07T15:52:41.0310000Z</dcterms:modified>
</coreProperties>
</file>

<file path=ppt/overlay/ppt/_rels/presentation.xml.rels><?xml version='1.0' encoding='utf-8'?>
<Relationships xmlns="http://schemas.openxmlformats.org/package/2006/relationships"><Relationship Type="http://schemas.openxmlformats.org/officeDocument/2006/relationships/theme" Target="theme/theme1.xml" Id="R6eed949cc2b741a3" /><Relationship Type="http://schemas.openxmlformats.org/officeDocument/2006/relationships/slideMaster" Target="slideMasters/slideMaster1.xml" Id="R3be96ed4de6b48ed" /><Relationship Type="http://schemas.openxmlformats.org/officeDocument/2006/relationships/notesMaster" Target="notesMasters/notesMaster1.xml" Id="R8e5d950a755447e6" /><Relationship Type="http://schemas.openxmlformats.org/officeDocument/2006/relationships/presProps" Target="presProps.xml" Id="Rd36e08c9ad0a47b0" /><Relationship Type="http://schemas.openxmlformats.org/officeDocument/2006/relationships/tableStyles" Target="tableStyles.xml" Id="Rf9297d22f3904410" /><Relationship Type="http://schemas.openxmlformats.org/officeDocument/2006/relationships/slide" Target="../../slides/itmoSlide1.xml" Id="Rca116cb344814c24" /><Relationship Type="http://schemas.openxmlformats.org/officeDocument/2006/relationships/slide" Target="../../slides/itmoSlide2.xml" Id="R25d633fe78b841ef" /><Relationship Type="http://schemas.openxmlformats.org/officeDocument/2006/relationships/slide" Target="../../slides/itmoSlide3.xml" Id="R7b867e7e75bb4a3d" /><Relationship Type="http://schemas.openxmlformats.org/officeDocument/2006/relationships/slide" Target="../../slides/itmoSlide4.xml" Id="Rc6aef9a465bb4d55" /><Relationship Type="http://schemas.openxmlformats.org/officeDocument/2006/relationships/slide" Target="../../slides/itmoSlide5.xml" Id="Ra12d52792f584bc4" /><Relationship Type="http://schemas.openxmlformats.org/officeDocument/2006/relationships/slide" Target="../../slides/itmoSlide6.xml" Id="Rd82950e3f0c74bfc" /><Relationship Type="http://schemas.openxmlformats.org/officeDocument/2006/relationships/slide" Target="../../slides/itmoSlide7.xml" Id="R5ecf8d34e42e4860" /><Relationship Type="http://schemas.openxmlformats.org/officeDocument/2006/relationships/slide" Target="../../slides/itmoSlide8.xml" Id="R747e4aadcbae43d6" /><Relationship Type="http://schemas.openxmlformats.org/officeDocument/2006/relationships/slide" Target="../../slides/itmoSlide9.xml" Id="R9b6e70fb61f543a9" /><Relationship Type="http://schemas.openxmlformats.org/officeDocument/2006/relationships/slide" Target="../../slides/itmoSlide10.xml" Id="R8d4283a8ce1e430c" /><Relationship Type="http://schemas.openxmlformats.org/officeDocument/2006/relationships/slide" Target="../../slides/itmoSlide11.xml" Id="R99507ce953514572" /></Relationships>
</file>

<file path=ppt/overlay/ppt/notesMasters/_rels/notesMaster1.xml.rels><?xml version='1.0' encoding='utf-8'?>
<Relationships xmlns="http://schemas.openxmlformats.org/package/2006/relationships"><Relationship Type="http://schemas.openxmlformats.org/officeDocument/2006/relationships/theme" Target="theme/theme3.xml" Id="R22c361b9581e4e0e" /></Relationships>
</file>

<file path=ppt/overlay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overlay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overlay/ppt/notesSlides/_rels/notesSlide1.xml.rels><?xml version='1.0' encoding='utf-8'?>
<Relationships xmlns="http://schemas.openxmlformats.org/package/2006/relationships"><Relationship Type="http://schemas.openxmlformats.org/officeDocument/2006/relationships/slide" Target="../../../slides/itmoSlide1.xml" Id="Rb1cc834bde6b4310" /><Relationship Type="http://schemas.openxmlformats.org/officeDocument/2006/relationships/notesMaster" Target="../notesMasters/notesMaster1.xml" Id="R7fa20348acf14f63" /></Relationships>
</file>

<file path=ppt/overlay/ppt/notesSlides/_rels/notesSlide2.xml.rels><?xml version='1.0' encoding='utf-8'?>
<Relationships xmlns="http://schemas.openxmlformats.org/package/2006/relationships"><Relationship Type="http://schemas.openxmlformats.org/officeDocument/2006/relationships/slide" Target="../../../slides/itmoSlide2.xml" Id="R50a1c537847246e8" /><Relationship Type="http://schemas.openxmlformats.org/officeDocument/2006/relationships/notesMaster" Target="../notesMasters/notesMaster1.xml" Id="R4749cd9c0b4649e4" /></Relationships>
</file>

<file path=ppt/overlay/ppt/notesSlides/_rels/notesSlide3.xml.rels><?xml version='1.0' encoding='utf-8'?>
<Relationships xmlns="http://schemas.openxmlformats.org/package/2006/relationships"><Relationship Type="http://schemas.openxmlformats.org/officeDocument/2006/relationships/slide" Target="../../../slides/itmoSlide3.xml" Id="Raccac1057c3548c5" /><Relationship Type="http://schemas.openxmlformats.org/officeDocument/2006/relationships/notesMaster" Target="../notesMasters/notesMaster1.xml" Id="R2ae5e33d9b28440e" /></Relationships>
</file>

<file path=ppt/overlay/ppt/notesSlides/_rels/notesSlide4.xml.rels><?xml version='1.0' encoding='utf-8'?>
<Relationships xmlns="http://schemas.openxmlformats.org/package/2006/relationships"><Relationship Type="http://schemas.openxmlformats.org/officeDocument/2006/relationships/slide" Target="../../../slides/itmoSlide4.xml" Id="R026cef01ce8246d0" /><Relationship Type="http://schemas.openxmlformats.org/officeDocument/2006/relationships/notesMaster" Target="../notesMasters/notesMaster1.xml" Id="R11a4424e72f24f05" /></Relationships>
</file>

<file path=ppt/overlay/ppt/notesSlides/_rels/notesSlide5.xml.rels><?xml version='1.0' encoding='utf-8'?>
<Relationships xmlns="http://schemas.openxmlformats.org/package/2006/relationships"><Relationship Type="http://schemas.openxmlformats.org/officeDocument/2006/relationships/slide" Target="../../../slides/itmoSlide5.xml" Id="Re3df1d9c4918408d" /><Relationship Type="http://schemas.openxmlformats.org/officeDocument/2006/relationships/notesMaster" Target="../notesMasters/notesMaster1.xml" Id="R027a8f96adb448d2" /></Relationships>
</file>

<file path=ppt/overlay/ppt/notesSlides/_rels/notesSlide6.xml.rels><?xml version='1.0' encoding='utf-8'?>
<Relationships xmlns="http://schemas.openxmlformats.org/package/2006/relationships"><Relationship Type="http://schemas.openxmlformats.org/officeDocument/2006/relationships/slide" Target="../../../slides/itmoSlide6.xml" Id="Rc44289e04f2649da" /><Relationship Type="http://schemas.openxmlformats.org/officeDocument/2006/relationships/notesMaster" Target="../notesMasters/notesMaster1.xml" Id="Ra0537e1f84994e01" /></Relationships>
</file>

<file path=ppt/overlay/ppt/notesSlides/_rels/notesSlide7.xml.rels><?xml version='1.0' encoding='utf-8'?>
<Relationships xmlns="http://schemas.openxmlformats.org/package/2006/relationships"><Relationship Type="http://schemas.openxmlformats.org/officeDocument/2006/relationships/slide" Target="../../../slides/itmoSlide7.xml" Id="Rc6177665ddd74239" /><Relationship Type="http://schemas.openxmlformats.org/officeDocument/2006/relationships/notesMaster" Target="../notesMasters/notesMaster1.xml" Id="R77417f2afb3c4c02" /></Relationships>
</file>

<file path=ppt/overlay/ppt/notesSlides/_rels/notesSlide8.xml.rels><?xml version='1.0' encoding='utf-8'?>
<Relationships xmlns="http://schemas.openxmlformats.org/package/2006/relationships"><Relationship Type="http://schemas.openxmlformats.org/officeDocument/2006/relationships/slide" Target="../../../slides/itmoSlide8.xml" Id="R19f005bc5c034672" /><Relationship Type="http://schemas.openxmlformats.org/officeDocument/2006/relationships/notesMaster" Target="../notesMasters/notesMaster1.xml" Id="R6475bc92f7bd4bf7" /></Relationships>
</file>

<file path=ppt/overlay/ppt/notesSlides/_rels/notesSlide9.xml.rels><?xml version='1.0' encoding='utf-8'?>
<Relationships xmlns="http://schemas.openxmlformats.org/package/2006/relationships"><Relationship Type="http://schemas.openxmlformats.org/officeDocument/2006/relationships/slide" Target="../../../slides/itmoSlide9.xml" Id="R5b060302ccc747f8" /><Relationship Type="http://schemas.openxmlformats.org/officeDocument/2006/relationships/notesMaster" Target="../notesMasters/notesMaster1.xml" Id="R69cc0a6a5c9a4d54" /></Relationships>
</file>

<file path=ppt/overlay/ppt/notesSlides/_rels/notesSlide10.xml.rels><?xml version='1.0' encoding='utf-8'?>
<Relationships xmlns="http://schemas.openxmlformats.org/package/2006/relationships"><Relationship Type="http://schemas.openxmlformats.org/officeDocument/2006/relationships/slide" Target="../../../slides/itmoSlide10.xml" Id="Rdcf9759fd04746a3" /><Relationship Type="http://schemas.openxmlformats.org/officeDocument/2006/relationships/notesMaster" Target="../notesMasters/notesMaster1.xml" Id="Rd29ccbc9ff8643d5" /></Relationships>
</file>

<file path=ppt/overlay/ppt/notesSlides/_rels/notesSlide11.xml.rels><?xml version='1.0' encoding='utf-8'?>
<Relationships xmlns="http://schemas.openxmlformats.org/package/2006/relationships"><Relationship Type="http://schemas.openxmlformats.org/officeDocument/2006/relationships/slide" Target="../../../slides/itmoSlide11.xml" Id="R1ac097a573304e02" /><Relationship Type="http://schemas.openxmlformats.org/officeDocument/2006/relationships/notesMaster" Target="../notesMasters/notesMaster1.xml" Id="R73a15dda5daf4849" /></Relationships>
</file>

<file path=ppt/overlay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Представляю функциональную модель сервиса поиска и возврата потерянных вещей. Работа выполнена на этапе анализа: определены участники, процессы, потоки и накопители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Сервис поиска и возврата потерянных и найденных вещей. Авторы: Фадеев Данил, Александр Мосин, Гурылев Денис.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Документация DFD:</a:t>
            </a:r>
          </a:p>
          <a:p xmlns:a="http://schemas.openxmlformats.org/drawingml/2006/main">
            <a:r>
              <a:t>https://docs.google.com/document/d/1qE-Dbf-1pub9TeAnGHLnhSrpdSB-ZXfH/edit</a:t>
            </a:r>
          </a:p>
          <a:p xmlns:a="http://schemas.openxmlformats.org/drawingml/2006/main">
            <a:r>
              <a:t>https://www.visual-paradigm.com/guide/data-flow-diagram/what-is-data-flow-diagram/</a:t>
            </a:r>
          </a:p>
          <a:p xmlns:a="http://schemas.openxmlformats.org/drawingml/2006/main">
            <a:r>
              <a:t>https://www.ibm.com/think/topics/data-flow-diagram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overlay/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Информация о потерях и находках появляется у разных людей. Задача сервиса — собрать объявления и помочь людям связаться. Один пользователь может быть и потерявшим, и нашедшим. Модератор отвечает за проверку и нарушения. Проверка принадлежности и передача самой вещи происходят вне информационной системы.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Люди публикуют сведения о потерянных и найденных вещах. Пользователь может быть потерявшим и нашедшим. Модератор проверяет содержание. Физическая передача вещи происходит вне сервиса. Изображение с ключами создано imagegen для предыдущей версии презентации; это иллюстрация, не реальное событие.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Документация DFD:</a:t>
            </a:r>
          </a:p>
          <a:p xmlns:a="http://schemas.openxmlformats.org/drawingml/2006/main">
            <a:r>
              <a:t>https://docs.google.com/document/d/1qE-Dbf-1pub9TeAnGHLnhSrpdSB-ZXfH/edit</a:t>
            </a:r>
          </a:p>
          <a:p xmlns:a="http://schemas.openxmlformats.org/drawingml/2006/main">
            <a:r>
              <a:t>https://www.visual-paradigm.com/guide/data-flow-diagram/what-is-data-flow-diagram/</a:t>
            </a:r>
          </a:p>
          <a:p xmlns:a="http://schemas.openxmlformats.org/drawingml/2006/main">
            <a:r>
              <a:t>https://www.ibm.com/think/topics/data-flow-diagram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overlay/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— описать функциональное поведение системы средствами DFD. Сначала определяем границы и внешний обмен, затем события, процессы и накопители. После построения A0 подробнее раскрываем управление пользователями. В завершение проверяем, что декомпозиция сохраняет данные родительского процесса и соблюдает правила DFD.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Цель — построить функциональную DFD-модель АИС поиска и возврата вещей. Задачи следуют этапам ЛР: назначение, границы, внешние потоки, контекст, события, A0, детализация процесса, проверка.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Документация DFD:</a:t>
            </a:r>
          </a:p>
          <a:p xmlns:a="http://schemas.openxmlformats.org/drawingml/2006/main">
            <a:r>
              <a:t>https://docs.google.com/document/d/1qE-Dbf-1pub9TeAnGHLnhSrpdSB-ZXfH/edit</a:t>
            </a:r>
          </a:p>
          <a:p xmlns:a="http://schemas.openxmlformats.org/drawingml/2006/main">
            <a:r>
              <a:t>https://www.visual-paradigm.com/guide/data-flow-diagram/what-is-data-flow-diagram/</a:t>
            </a:r>
          </a:p>
          <a:p xmlns:a="http://schemas.openxmlformats.org/drawingml/2006/main">
            <a:r>
              <a:t>https://www.ibm.com/think/topics/data-flow-diagram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overlay/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DFD описывает движение и обработку информации. Процессы называются действиями, а потоки — данными. Мы используем элементы в стиле Gane–Sarson. Инструмент для работы с моделями — Figma. Обозначения A−0, A0 и A1 сохранены по заданию. Накопители здесь логические: отдельные таблицы и SQL-диалект ещё не выбираются.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Метод DFD, символы Gane–Sarson. Процесс преобразует данные; внешняя сущность передаёт или получает информацию; накопитель хранит данные; стрелка показывает именованный поток. A−0/A0/A1 — обозначения из задания. Figma — инструмент для работы с моделями. PowerPoint — представление результатов. Накопители логические, они не задают физические таблицы БД.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Документация DFD:</a:t>
            </a:r>
          </a:p>
          <a:p xmlns:a="http://schemas.openxmlformats.org/drawingml/2006/main">
            <a:r>
              <a:t>https://docs.google.com/document/d/1qE-Dbf-1pub9TeAnGHLnhSrpdSB-ZXfH/edit</a:t>
            </a:r>
          </a:p>
          <a:p xmlns:a="http://schemas.openxmlformats.org/drawingml/2006/main">
            <a:r>
              <a:t>https://www.visual-paradigm.com/guide/data-flow-diagram/what-is-data-flow-diagram/</a:t>
            </a:r>
          </a:p>
          <a:p xmlns:a="http://schemas.openxmlformats.org/drawingml/2006/main">
            <a:r>
              <a:t>https://www.ibm.com/think/topics/data-flow-diagram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overlay/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Матрица связывает события с источниками и результатами обработки. Первые три процесса покрывают работу с профилем, объявлениями и поиском. Входами служат не только запросы человека, но и сохранённые данные. Управление объявлениями также получает решение модерации. В поиск попадает только опубликованное содержание, а изменения карточки передаются для проверки и сопоставления.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Каждая строка связывает событие, его источник, процесс, входные и выходные данные. Чтение и запись накопителей указаны явно.</a:t>
            </a:r>
          </a:p>
          <a:p xmlns:a="http://schemas.openxmlformats.org/drawingml/2006/main">
            <a:r>
              <a:t>Регистрация, вход,</a:t>
            </a:r>
          </a:p>
          <a:p xmlns:a="http://schemas.openxmlformats.org/drawingml/2006/main">
            <a:r>
              <a:t>изменение профиля | Пользователь | 1. Управлять</a:t>
            </a:r>
          </a:p>
          <a:p xmlns:a="http://schemas.openxmlformats.org/drawingml/2006/main">
            <a:r>
              <a:t>пользователями | Учётные данные, профиль;</a:t>
            </a:r>
          </a:p>
          <a:p xmlns:a="http://schemas.openxmlformats.org/drawingml/2006/main">
            <a:r>
              <a:t>данные D1 и D9 | Профиль и результат входа;</a:t>
            </a:r>
          </a:p>
          <a:p xmlns:a="http://schemas.openxmlformats.org/drawingml/2006/main">
            <a:r>
              <a:t>запись D1</a:t>
            </a:r>
          </a:p>
          <a:p xmlns:a="http://schemas.openxmlformats.org/drawingml/2006/main">
            <a:r>
              <a:t>Создание, изменение,</a:t>
            </a:r>
          </a:p>
          <a:p xmlns:a="http://schemas.openxmlformats.org/drawingml/2006/main">
            <a:r>
              <a:t>закрытие объявления;</a:t>
            </a:r>
          </a:p>
          <a:p xmlns:a="http://schemas.openxmlformats.org/drawingml/2006/main">
            <a:r>
              <a:t>решение модерации | Пользователь,</a:t>
            </a:r>
          </a:p>
          <a:p xmlns:a="http://schemas.openxmlformats.org/drawingml/2006/main">
            <a:r>
              <a:t>процесс 6 | 2. Управлять</a:t>
            </a:r>
          </a:p>
          <a:p xmlns:a="http://schemas.openxmlformats.org/drawingml/2006/main">
            <a:r>
              <a:t>объявлениями | Данные объявления;</a:t>
            </a:r>
          </a:p>
          <a:p xmlns:a="http://schemas.openxmlformats.org/drawingml/2006/main">
            <a:r>
              <a:t>данные D2–D4 и D9;</a:t>
            </a:r>
          </a:p>
          <a:p xmlns:a="http://schemas.openxmlformats.org/drawingml/2006/main">
            <a:r>
              <a:t>решение модерации | Карточка и статус;</a:t>
            </a:r>
          </a:p>
          <a:p xmlns:a="http://schemas.openxmlformats.org/drawingml/2006/main">
            <a:r>
              <a:t>запись D2–D4;</a:t>
            </a:r>
          </a:p>
          <a:p xmlns:a="http://schemas.openxmlformats.org/drawingml/2006/main">
            <a:r>
              <a:t>материалы → 6;</a:t>
            </a:r>
          </a:p>
          <a:p xmlns:a="http://schemas.openxmlformats.org/drawingml/2006/main">
            <a:r>
              <a:t>данные → 4</a:t>
            </a:r>
          </a:p>
          <a:p xmlns:a="http://schemas.openxmlformats.org/drawingml/2006/main">
            <a:r>
              <a:t>Запрос поиска | Пользователь | 3. Искать</a:t>
            </a:r>
          </a:p>
          <a:p xmlns:a="http://schemas.openxmlformats.org/drawingml/2006/main">
            <a:r>
              <a:t>и фильтровать</a:t>
            </a:r>
          </a:p>
          <a:p xmlns:a="http://schemas.openxmlformats.org/drawingml/2006/main">
            <a:r>
              <a:t>объявления | Поисковый запрос, фильтры;</a:t>
            </a:r>
          </a:p>
          <a:p xmlns:a="http://schemas.openxmlformats.org/drawingml/2006/main">
            <a:r>
              <a:t>данные D2–D4 | Результаты поиска:</a:t>
            </a:r>
          </a:p>
          <a:p xmlns:a="http://schemas.openxmlformats.org/drawingml/2006/main">
            <a:r>
              <a:t>только PUBLISHED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Документация DFD:</a:t>
            </a:r>
          </a:p>
          <a:p xmlns:a="http://schemas.openxmlformats.org/drawingml/2006/main">
            <a:r>
              <a:t>https://docs.google.com/document/d/1qE-Dbf-1pub9TeAnGHLnhSrpdSB-ZXfH/edit</a:t>
            </a:r>
          </a:p>
          <a:p xmlns:a="http://schemas.openxmlformats.org/drawingml/2006/main">
            <a:r>
              <a:t>https://www.visual-paradigm.com/guide/data-flow-diagram/what-is-data-flow-diagram/</a:t>
            </a:r>
          </a:p>
          <a:p xmlns:a="http://schemas.openxmlformats.org/drawingml/2006/main">
            <a:r>
              <a:t>https://www.ibm.com/think/topics/data-flow-diagram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overlay/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Сопоставление реагирует на изменение объявления и обновляет возможные пары LOST–FOUND. Новое совпадение передаётся во взаимодействие, где создаётся уведомление. Переписка и контакты выдаются с учётом участника и настроек. Последний процесс собирает материалы для модератора, сохраняет жалобы и блокировки и передаёт решение об объявлении процессу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Каждая строка связывает событие, его источник, процесс, входные и выходные данные. Чтение и запись накопителей указаны явно.</a:t>
            </a:r>
          </a:p>
          <a:p xmlns:a="http://schemas.openxmlformats.org/drawingml/2006/main">
            <a:r>
              <a:t>Изменение</a:t>
            </a:r>
          </a:p>
          <a:p xmlns:a="http://schemas.openxmlformats.org/drawingml/2006/main">
            <a:r>
              <a:t>объявления | Процесс 2 | 4. Сопоставлять</a:t>
            </a:r>
          </a:p>
          <a:p xmlns:a="http://schemas.openxmlformats.org/drawingml/2006/main">
            <a:r>
              <a:t>объявления | Данные объявления;</a:t>
            </a:r>
          </a:p>
          <a:p xmlns:a="http://schemas.openxmlformats.org/drawingml/2006/main">
            <a:r>
              <a:t>данные D2, D4 и D5 | Совпадения и состояния → D5;</a:t>
            </a:r>
          </a:p>
          <a:p xmlns:a="http://schemas.openxmlformats.org/drawingml/2006/main">
            <a:r>
              <a:t>новое совпадение → 5</a:t>
            </a:r>
          </a:p>
          <a:p xmlns:a="http://schemas.openxmlformats.org/drawingml/2006/main">
            <a:r>
              <a:t>Сообщение, запрос</a:t>
            </a:r>
          </a:p>
          <a:p xmlns:a="http://schemas.openxmlformats.org/drawingml/2006/main">
            <a:r>
              <a:t>истории или контакта;</a:t>
            </a:r>
          </a:p>
          <a:p xmlns:a="http://schemas.openxmlformats.org/drawingml/2006/main">
            <a:r>
              <a:t>новое совпадение | Пользователь,</a:t>
            </a:r>
          </a:p>
          <a:p xmlns:a="http://schemas.openxmlformats.org/drawingml/2006/main">
            <a:r>
              <a:t>процесс 4 | 5. Организовывать</a:t>
            </a:r>
          </a:p>
          <a:p xmlns:a="http://schemas.openxmlformats.org/drawingml/2006/main">
            <a:r>
              <a:t>взаимодействие | Запрос взаимодействия;</a:t>
            </a:r>
          </a:p>
          <a:p xmlns:a="http://schemas.openxmlformats.org/drawingml/2006/main">
            <a:r>
              <a:t>новое совпадение;</a:t>
            </a:r>
          </a:p>
          <a:p xmlns:a="http://schemas.openxmlformats.org/drawingml/2006/main">
            <a:r>
              <a:t>данные D1, D6, D7 и D9 | Сообщения, контакты,</a:t>
            </a:r>
          </a:p>
          <a:p xmlns:a="http://schemas.openxmlformats.org/drawingml/2006/main">
            <a:r>
              <a:t>уведомления;</a:t>
            </a:r>
          </a:p>
          <a:p xmlns:a="http://schemas.openxmlformats.org/drawingml/2006/main">
            <a:r>
              <a:t>запись D6 и D7</a:t>
            </a:r>
          </a:p>
          <a:p xmlns:a="http://schemas.openxmlformats.org/drawingml/2006/main">
            <a:r>
              <a:t>Объявление</a:t>
            </a:r>
          </a:p>
          <a:p xmlns:a="http://schemas.openxmlformats.org/drawingml/2006/main">
            <a:r>
              <a:t>на проверку; жалоба;</a:t>
            </a:r>
          </a:p>
          <a:p xmlns:a="http://schemas.openxmlformats.org/drawingml/2006/main">
            <a:r>
              <a:t>решение модератора | Пользователь,</a:t>
            </a:r>
          </a:p>
          <a:p xmlns:a="http://schemas.openxmlformats.org/drawingml/2006/main">
            <a:r>
              <a:t>модератор,</a:t>
            </a:r>
          </a:p>
          <a:p xmlns:a="http://schemas.openxmlformats.org/drawingml/2006/main">
            <a:r>
              <a:t>процесс 2 | 6. Обеспечивать</a:t>
            </a:r>
          </a:p>
          <a:p xmlns:a="http://schemas.openxmlformats.org/drawingml/2006/main">
            <a:r>
              <a:t>модерацию</a:t>
            </a:r>
          </a:p>
          <a:p xmlns:a="http://schemas.openxmlformats.org/drawingml/2006/main">
            <a:r>
              <a:t>и безопасность | Материалы, жалоба, решение;</a:t>
            </a:r>
          </a:p>
          <a:p xmlns:a="http://schemas.openxmlformats.org/drawingml/2006/main">
            <a:r>
              <a:t>данные D1–D4, D8 и D9 | Материалы → модератору;</a:t>
            </a:r>
          </a:p>
          <a:p xmlns:a="http://schemas.openxmlformats.org/drawingml/2006/main">
            <a:r>
              <a:t>статус жалобы;</a:t>
            </a:r>
          </a:p>
          <a:p xmlns:a="http://schemas.openxmlformats.org/drawingml/2006/main">
            <a:r>
              <a:t>запись D8, D9;</a:t>
            </a:r>
          </a:p>
          <a:p xmlns:a="http://schemas.openxmlformats.org/drawingml/2006/main">
            <a:r>
              <a:t>решение →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Документация DFD:</a:t>
            </a:r>
          </a:p>
          <a:p xmlns:a="http://schemas.openxmlformats.org/drawingml/2006/main">
            <a:r>
              <a:t>https://docs.google.com/document/d/1qE-Dbf-1pub9TeAnGHLnhSrpdSB-ZXfH/edit</a:t>
            </a:r>
          </a:p>
          <a:p xmlns:a="http://schemas.openxmlformats.org/drawingml/2006/main">
            <a:r>
              <a:t>https://www.visual-paradigm.com/guide/data-flow-diagram/what-is-data-flow-diagram/</a:t>
            </a:r>
          </a:p>
          <a:p xmlns:a="http://schemas.openxmlformats.org/drawingml/2006/main">
            <a:r>
              <a:t>https://www.ibm.com/think/topics/data-flow-diagram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overlay/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Контекстная диаграмма из исходные/a-0.svg. Вся система представлена одним процессом. Пользователь передаёт данные регистрации, объявлений, поиска и взаимодействия, получает результаты. Модератор получает материалы проверки и передаёт решения. Два изображения пользователя обозначают одну внешнюю сущность.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overlay/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Исходная A0 из исходные/a0.svg целиком. Система раскрыта на шесть процессов и девять логических накопителей: пользователи, объявления, фотографии, места, совпадения, сообщения, уведомления, жалобы и блокировки. Накопитель — логически выделенный набор сохраняемых данных; число накопителей не определяет количество физических баз данных или таблиц.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overlay/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Исходная A1 из исходные/a1 1.png. Четыре подпроцесса: принять и проверить учётные данные, зарегистрировать пользователя, аутентифицировать пользователя, сформировать сессию. Регистрация записывает профиль и роль в D1, аутентификация читает учётные данные из D1. Пользователь получает данные сессии.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overlay/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Представлены функциональная модель, шесть процессов, девять накопителей и детализация процесса 1 на четыре подпроцесса. Эта версия использует исходные схемы без исправления их содержания. Матрица событий сохранена из текущей презентации.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overlay/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Спасибо за внимание. Готов ответить на вопросы по модели и её границам.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Спасибо за внимание. Ответы на вопросы.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Документация DFD:</a:t>
            </a:r>
          </a:p>
          <a:p xmlns:a="http://schemas.openxmlformats.org/drawingml/2006/main">
            <a:r>
              <a:t>https://docs.google.com/document/d/1qE-Dbf-1pub9TeAnGHLnhSrpdSB-ZXfH/edit</a:t>
            </a:r>
          </a:p>
          <a:p xmlns:a="http://schemas.openxmlformats.org/drawingml/2006/main">
            <a:r>
              <a:t>https://www.visual-paradigm.com/guide/data-flow-diagram/what-is-data-flow-diagram/</a:t>
            </a:r>
          </a:p>
          <a:p xmlns:a="http://schemas.openxmlformats.org/drawingml/2006/main">
            <a:r>
              <a:t>https://www.ibm.com/think/topics/data-flow-diagram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overlay/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overlay/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e96ed4de6b48ed"/>
  </p:sldMasterIdLst>
  <p:notesMasterIdLst>
    <p:notesMasterId xmlns:r="http://schemas.openxmlformats.org/officeDocument/2006/relationships" r:id="R8e5d950a755447e6"/>
  </p:notesMasterIdLst>
  <p:sldIdLst>
    <p:sldId xmlns:r="http://schemas.openxmlformats.org/officeDocument/2006/relationships" id="256" r:id="Rca116cb344814c24"/>
    <p:sldId xmlns:r="http://schemas.openxmlformats.org/officeDocument/2006/relationships" id="257" r:id="R25d633fe78b841ef"/>
    <p:sldId xmlns:r="http://schemas.openxmlformats.org/officeDocument/2006/relationships" id="258" r:id="R7b867e7e75bb4a3d"/>
    <p:sldId xmlns:r="http://schemas.openxmlformats.org/officeDocument/2006/relationships" id="259" r:id="Rc6aef9a465bb4d55"/>
    <p:sldId xmlns:r="http://schemas.openxmlformats.org/officeDocument/2006/relationships" id="260" r:id="Ra12d52792f584bc4"/>
    <p:sldId xmlns:r="http://schemas.openxmlformats.org/officeDocument/2006/relationships" id="261" r:id="Rd82950e3f0c74bfc"/>
    <p:sldId xmlns:r="http://schemas.openxmlformats.org/officeDocument/2006/relationships" id="262" r:id="R5ecf8d34e42e4860"/>
    <p:sldId xmlns:r="http://schemas.openxmlformats.org/officeDocument/2006/relationships" id="263" r:id="R747e4aadcbae43d6"/>
    <p:sldId xmlns:r="http://schemas.openxmlformats.org/officeDocument/2006/relationships" id="264" r:id="R9b6e70fb61f543a9"/>
    <p:sldId xmlns:r="http://schemas.openxmlformats.org/officeDocument/2006/relationships" id="265" r:id="R8d4283a8ce1e430c"/>
    <p:sldId xmlns:r="http://schemas.openxmlformats.org/officeDocument/2006/relationships" id="266" r:id="R99507ce953514572"/>
  </p:sldIdLst>
  <p:sldSz cx="9144000" cy="5143500"/>
  <p:notesSz cx="6858000" cy="9144000"/>
</p:presentation>
</file>

<file path=ppt/overlay/ppt/slideLayouts/_rels/slideLayout1.xml.rels><?xml version='1.0' encoding='utf-8'?>
<Relationships xmlns="http://schemas.openxmlformats.org/package/2006/relationships"><Relationship Type="http://schemas.openxmlformats.org/officeDocument/2006/relationships/slideMaster" Target="../slideMasters/slideMaster1.xml" Id="R24e46c5a41294824" /></Relationships>
</file>

<file path=ppt/overlay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overlay/ppt/slideMasters/_rels/slideMaster1.xml.rels><?xml version='1.0' encoding='utf-8'?>
<Relationships xmlns="http://schemas.openxmlformats.org/package/2006/relationships"><Relationship Type="http://schemas.openxmlformats.org/officeDocument/2006/relationships/theme" Target="theme/theme2.xml" Id="Re07252a7c9bf468d" /><Relationship Type="http://schemas.openxmlformats.org/officeDocument/2006/relationships/slideLayout" Target="../slideLayouts/slideLayout1.xml" Id="R41b61e8c879c46b5" /></Relationships>
</file>

<file path=ppt/overlay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b61e8c879c46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overlay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overlay/ppt/slides/_rels/slide1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6cde9eb0dc834fb2" /><Relationship Type="http://schemas.openxmlformats.org/officeDocument/2006/relationships/notesSlide" Target="../notesSlides/notesSlide1.xml" Id="R59b2eb14b04540c3" /></Relationships>
</file>

<file path=ppt/overlay/ppt/slides/_rels/slide2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f8756fd234dc4c63" /><Relationship Type="http://schemas.openxmlformats.org/officeDocument/2006/relationships/notesSlide" Target="../notesSlides/notesSlide2.xml" Id="R61d2be3587774023" /></Relationships>
</file>

<file path=ppt/overlay/ppt/slides/_rels/slide3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e8b855bf33774977" /><Relationship Type="http://schemas.openxmlformats.org/officeDocument/2006/relationships/notesSlide" Target="../notesSlides/notesSlide3.xml" Id="R315c13e6350e4918" /></Relationships>
</file>

<file path=ppt/overlay/ppt/slides/_rels/slide4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efb7e29fede044f6" /><Relationship Type="http://schemas.openxmlformats.org/officeDocument/2006/relationships/notesSlide" Target="../notesSlides/notesSlide4.xml" Id="Raa6c382c248d423c" /></Relationships>
</file>

<file path=ppt/overlay/ppt/slides/_rels/slide5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f058b7e476c3482e" /><Relationship Type="http://schemas.openxmlformats.org/officeDocument/2006/relationships/notesSlide" Target="../notesSlides/notesSlide5.xml" Id="R722e4c102fa04dbd" /></Relationships>
</file>

<file path=ppt/overlay/ppt/slides/_rels/slide6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d7e2092d92c54573" /><Relationship Type="http://schemas.openxmlformats.org/officeDocument/2006/relationships/notesSlide" Target="../notesSlides/notesSlide6.xml" Id="Rae588334ecb64e2c" /></Relationships>
</file>

<file path=ppt/overlay/ppt/slides/_rels/slide7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8db1520e0dca4119" /><Relationship Type="http://schemas.openxmlformats.org/officeDocument/2006/relationships/image" Target="../media/image.png" Id="Ra02b0fb3719e49cc" /><Relationship Type="http://schemas.openxmlformats.org/officeDocument/2006/relationships/notesSlide" Target="../notesSlides/notesSlide7.xml" Id="R8a3454c9ffd54230" /></Relationships>
</file>

<file path=ppt/overlay/ppt/slides/_rels/slide8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a84a5378b3e14ffb" /><Relationship Type="http://schemas.openxmlformats.org/officeDocument/2006/relationships/image" Target="../media/image2.png" Id="Rff87b4b2b36d4b95" /><Relationship Type="http://schemas.openxmlformats.org/officeDocument/2006/relationships/notesSlide" Target="../notesSlides/notesSlide8.xml" Id="Rb5869a9af298440a" /></Relationships>
</file>

<file path=ppt/overlay/ppt/slides/_rels/slide9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b7f18e7db05142d6" /><Relationship Type="http://schemas.openxmlformats.org/officeDocument/2006/relationships/image" Target="../media/image3.png" Id="R837fba83b34d4808" /><Relationship Type="http://schemas.openxmlformats.org/officeDocument/2006/relationships/notesSlide" Target="../notesSlides/notesSlide9.xml" Id="R4070fad21c80442b" /></Relationships>
</file>

<file path=ppt/overlay/ppt/slides/_rels/slide10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73454930ec4849e9" /><Relationship Type="http://schemas.openxmlformats.org/officeDocument/2006/relationships/notesSlide" Target="../notesSlides/notesSlide10.xml" Id="R1e4a55cdc08e443c" /></Relationships>
</file>

<file path=ppt/overlay/ppt/slides/_rels/slide11.xml.rels><?xml version='1.0' encoding='utf-8'?>
<Relationships xmlns="http://schemas.openxmlformats.org/package/2006/relationships"><Relationship Type="http://schemas.openxmlformats.org/officeDocument/2006/relationships/slideLayout" Target="../slideLayouts/slideLayout1.xml" Id="R0da174c534f34200" /><Relationship Type="http://schemas.openxmlformats.org/officeDocument/2006/relationships/notesSlide" Target="../notesSlides/notesSlide11.xml" Id="R88c0ae3d9cde4cae" /></Relationships>
</file>

<file path=ppt/overlay/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XT1">
            <a:extLst xmlns:a="http://schemas.openxmlformats.org/drawingml/2006/main">
              <a:ext uri="{FF2B5EF4-FFF2-40B4-BE49-F238E27FC236}">
                <a16:creationId xmlns:a16="http://schemas.microsoft.com/office/drawing/2014/main" id="{36863D9D-B808-45F7-8B44-18A7ABA9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47900"/>
            <a:ext cx="7143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defRPr>
            </a:pPr>
            <a:r>
              <a:rPr sz="262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rPr>
              <a:t>Сервис поиска и возврата</a:t>
            </a:r>
          </a:p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defRPr>
            </a:pPr>
            <a:r>
              <a:rPr sz="262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rPr>
              <a:t>потерянных вещей</a:t>
            </a:r>
          </a:p>
        </p:txBody>
      </p:sp>
      <p:sp>
        <p:nvSpPr>
          <p:cNvPr id="2" name="TXT2">
            <a:extLst xmlns:a="http://schemas.openxmlformats.org/drawingml/2006/main">
              <a:ext uri="{FF2B5EF4-FFF2-40B4-BE49-F238E27FC236}">
                <a16:creationId xmlns:a16="http://schemas.microsoft.com/office/drawing/2014/main" id="{B86C509B-DC07-430E-B0CE-AEC77D3F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052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Функциональная модель АИС · ЛР-01</a:t>
            </a:r>
          </a:p>
        </p:txBody>
      </p:sp>
      <p:sp>
        <p:nvSpPr>
          <p:cNvPr id="3" name="TXT3">
            <a:extLst xmlns:a="http://schemas.openxmlformats.org/drawingml/2006/main">
              <a:ext uri="{FF2B5EF4-FFF2-40B4-BE49-F238E27FC236}">
                <a16:creationId xmlns:a16="http://schemas.microsoft.com/office/drawing/2014/main" id="{9A2BB190-7A27-420A-8F1C-E8BD2741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38575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Авторы: Фадеев Данил, Александр Мосин, Гурылев Денис</a:t>
            </a:r>
          </a:p>
        </p:txBody>
      </p:sp>
      <p:sp>
        <p:nvSpPr>
          <p:cNvPr id="4" name="TXT4">
            <a:extLst xmlns:a="http://schemas.openxmlformats.org/drawingml/2006/main">
              <a:ext uri="{FF2B5EF4-FFF2-40B4-BE49-F238E27FC236}">
                <a16:creationId xmlns:a16="http://schemas.microsoft.com/office/drawing/2014/main" id="{1EA50D78-3A5D-496A-8D27-D483AEF9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005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200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Группа: K3239</a:t>
            </a:r>
          </a:p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200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Преподаватель: Говорова Марина Михайловна</a:t>
            </a:r>
          </a:p>
        </p:txBody>
      </p:sp>
    </p:spTree>
    <p:extLst>
      <p:ext uri="{BB962C8B-B14F-4D97-AF65-F5344CB8AC3E}">
        <p14:creationId xmlns:p14="http://schemas.microsoft.com/office/powerpoint/2010/main" val="998080281"/>
      </p:ext>
    </p:extLst>
  </p:cSld>
</p:sld>
</file>

<file path=ppt/overlay/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MPLATE-DECOR-MASK-2">
            <a:extLst xmlns:a="http://schemas.openxmlformats.org/drawingml/2006/main">
              <a:ext uri="{FF2B5EF4-FFF2-40B4-BE49-F238E27FC236}">
                <a16:creationId xmlns:a16="http://schemas.microsoft.com/office/drawing/2014/main" id="{935A51D0-D34A-420D-A486-D10770FE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85850"/>
            <a:ext cx="5334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XT5">
            <a:extLst xmlns:a="http://schemas.openxmlformats.org/drawingml/2006/main">
              <a:ext uri="{FF2B5EF4-FFF2-40B4-BE49-F238E27FC236}">
                <a16:creationId xmlns:a16="http://schemas.microsoft.com/office/drawing/2014/main" id="{FACD25CD-3CA4-43A4-84B0-DDE26622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162050"/>
            <a:ext cx="2952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F00FF"/>
                </a:solidFill>
                <a:latin typeface="ALS Gorizont"/>
                <a:ea typeface="ALS Gorizont"/>
                <a:cs typeface="ALS Gorizont"/>
              </a:defRPr>
            </a:pPr>
            <a:r>
              <a:rPr sz="1950" b="1">
                <a:solidFill>
                  <a:srgbClr val="9F00FF"/>
                </a:solidFill>
                <a:latin typeface="ALS Gorizont"/>
                <a:ea typeface="ALS Gorizont"/>
                <a:cs typeface="ALS Gorizont"/>
              </a:rPr>
              <a:t>Предметная</a:t>
            </a:r>
          </a:p>
          <a:p xmlns:a="http://schemas.openxmlformats.org/drawingml/2006/main">
            <a:pPr algn="l">
              <a:defRPr sz="1950" b="1">
                <a:solidFill>
                  <a:srgbClr val="9F00FF"/>
                </a:solidFill>
                <a:latin typeface="ALS Gorizont"/>
                <a:ea typeface="ALS Gorizont"/>
                <a:cs typeface="ALS Gorizont"/>
              </a:defRPr>
            </a:pPr>
            <a:r>
              <a:rPr sz="1950" b="1">
                <a:solidFill>
                  <a:srgbClr val="9F00FF"/>
                </a:solidFill>
                <a:latin typeface="ALS Gorizont"/>
                <a:ea typeface="ALS Gorizont"/>
                <a:cs typeface="ALS Gorizont"/>
              </a:rPr>
              <a:t>область</a:t>
            </a:r>
          </a:p>
        </p:txBody>
      </p:sp>
      <p:sp>
        <p:nvSpPr>
          <p:cNvPr id="3" name="TXT6">
            <a:extLst xmlns:a="http://schemas.openxmlformats.org/drawingml/2006/main">
              <a:ext uri="{FF2B5EF4-FFF2-40B4-BE49-F238E27FC236}">
                <a16:creationId xmlns:a16="http://schemas.microsoft.com/office/drawing/2014/main" id="{C4EC1A93-86BF-4604-9D25-2F42C4C0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00250"/>
            <a:ext cx="2905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Потерял или нашёл вещь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Разместил объявление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Нашёл возможное совпадение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Связался с автором</a:t>
            </a:r>
          </a:p>
        </p:txBody>
      </p:sp>
    </p:spTree>
    <p:extLst>
      <p:ext uri="{BB962C8B-B14F-4D97-AF65-F5344CB8AC3E}">
        <p14:creationId xmlns:p14="http://schemas.microsoft.com/office/powerpoint/2010/main" val="1472402644"/>
      </p:ext>
    </p:extLst>
  </p:cSld>
</p:sld>
</file>

<file path=ppt/overlay/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MPLATE-DECOR-MASK-3">
            <a:extLst xmlns:a="http://schemas.openxmlformats.org/drawingml/2006/main">
              <a:ext uri="{FF2B5EF4-FFF2-40B4-BE49-F238E27FC236}">
                <a16:creationId xmlns:a16="http://schemas.microsoft.com/office/drawing/2014/main" id="{0988DABB-85A5-42DA-B7E5-13504A94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123950"/>
            <a:ext cx="5429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DFD"/>
          </a:solidFill>
          <a:ln xmlns:a="http://schemas.openxmlformats.org/drawingml/2006/main" w="0">
            <a:noFill/>
          </a:ln>
        </p:spPr>
      </p:sp>
      <p:sp>
        <p:nvSpPr>
          <p:cNvPr id="2" name="TXT7">
            <a:extLst xmlns:a="http://schemas.openxmlformats.org/drawingml/2006/main">
              <a:ext uri="{FF2B5EF4-FFF2-40B4-BE49-F238E27FC236}">
                <a16:creationId xmlns:a16="http://schemas.microsoft.com/office/drawing/2014/main" id="{EAF68736-9BD3-4B84-8136-F6CB3E11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"/>
            <a:ext cx="633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LS Gorizont"/>
                <a:ea typeface="ALS Gorizont"/>
                <a:cs typeface="ALS Gorizont"/>
              </a:defRPr>
            </a:pPr>
            <a:r>
              <a:rPr sz="2250" b="1">
                <a:solidFill>
                  <a:srgbClr val="FFFFFF"/>
                </a:solidFill>
                <a:latin typeface="ALS Gorizont"/>
                <a:ea typeface="ALS Gorizont"/>
                <a:cs typeface="ALS Gorizont"/>
              </a:rPr>
              <a:t>Цель и задачи</a:t>
            </a:r>
          </a:p>
        </p:txBody>
      </p:sp>
      <p:sp>
        <p:nvSpPr>
          <p:cNvPr id="3" name="TXT8">
            <a:extLst xmlns:a="http://schemas.openxmlformats.org/drawingml/2006/main">
              <a:ext uri="{FF2B5EF4-FFF2-40B4-BE49-F238E27FC236}">
                <a16:creationId xmlns:a16="http://schemas.microsoft.com/office/drawing/2014/main" id="{8BEA4723-BC97-48AB-B9B5-2ED4F779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42862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2325" b="1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Построить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2325" b="1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функциональную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2325" b="1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DFD-модель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2325" b="1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сервиса поиска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2325" b="1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и возврата вещей</a:t>
            </a:r>
          </a:p>
        </p:txBody>
      </p:sp>
      <p:sp>
        <p:nvSpPr>
          <p:cNvPr id="4" name="TXT9">
            <a:extLst xmlns:a="http://schemas.openxmlformats.org/drawingml/2006/main">
              <a:ext uri="{FF2B5EF4-FFF2-40B4-BE49-F238E27FC236}">
                <a16:creationId xmlns:a16="http://schemas.microsoft.com/office/drawing/2014/main" id="{CC2524DB-4118-4C95-81A0-A3BB7C08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219200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F00FF"/>
                </a:solidFill>
                <a:latin typeface="ALS Gorizont"/>
                <a:ea typeface="ALS Gorizont"/>
                <a:cs typeface="ALS Gorizont"/>
              </a:defRPr>
            </a:pPr>
            <a:r>
              <a:rPr sz="1800" b="1">
                <a:solidFill>
                  <a:srgbClr val="9F00FF"/>
                </a:solidFill>
                <a:latin typeface="ALS Gorizont"/>
                <a:ea typeface="ALS Gorizont"/>
                <a:cs typeface="ALS Gorizont"/>
              </a:rPr>
              <a:t>Этапы работы</a:t>
            </a:r>
          </a:p>
        </p:txBody>
      </p:sp>
      <p:sp>
        <p:nvSpPr>
          <p:cNvPr id="5" name="TXT10">
            <a:extLst xmlns:a="http://schemas.openxmlformats.org/drawingml/2006/main">
              <a:ext uri="{FF2B5EF4-FFF2-40B4-BE49-F238E27FC236}">
                <a16:creationId xmlns:a16="http://schemas.microsoft.com/office/drawing/2014/main" id="{D6374FA4-32FB-4BD3-AB2B-80C01C37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57375"/>
            <a:ext cx="26860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1. Границы и участники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2. Матрица событий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3. Диаграммы A−0 и A0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4. Детализация на A1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5. Баланс потоков</a:t>
            </a:r>
          </a:p>
        </p:txBody>
      </p:sp>
    </p:spTree>
    <p:extLst>
      <p:ext uri="{BB962C8B-B14F-4D97-AF65-F5344CB8AC3E}">
        <p14:creationId xmlns:p14="http://schemas.microsoft.com/office/powerpoint/2010/main" val="497586145"/>
      </p:ext>
    </p:extLst>
  </p:cSld>
</p:sld>
</file>

<file path=ppt/overlay/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MPLATE-DECOR-MASK-4">
            <a:extLst xmlns:a="http://schemas.openxmlformats.org/drawingml/2006/main">
              <a:ext uri="{FF2B5EF4-FFF2-40B4-BE49-F238E27FC236}">
                <a16:creationId xmlns:a16="http://schemas.microsoft.com/office/drawing/2014/main" id="{1DA0BAD8-127D-4D84-A53A-32282B8D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190625"/>
            <a:ext cx="6000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EMPLATE-DECOR-MASK-4">
            <a:extLst xmlns:a="http://schemas.openxmlformats.org/drawingml/2006/main">
              <a:ext uri="{FF2B5EF4-FFF2-40B4-BE49-F238E27FC236}">
                <a16:creationId xmlns:a16="http://schemas.microsoft.com/office/drawing/2014/main" id="{899BC4A7-08E1-48EA-9EEA-D4BAC503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409825"/>
            <a:ext cx="6000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TXT11">
            <a:extLst xmlns:a="http://schemas.openxmlformats.org/drawingml/2006/main">
              <a:ext uri="{FF2B5EF4-FFF2-40B4-BE49-F238E27FC236}">
                <a16:creationId xmlns:a16="http://schemas.microsoft.com/office/drawing/2014/main" id="{E9C37548-649A-42E4-AF69-31E20187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657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LS Gorizont"/>
                <a:ea typeface="ALS Gorizont"/>
                <a:cs typeface="ALS Gorizont"/>
              </a:defRPr>
            </a:pPr>
            <a:r>
              <a:rPr sz="2100" b="1">
                <a:solidFill>
                  <a:srgbClr val="FFFFFF"/>
                </a:solidFill>
                <a:latin typeface="ALS Gorizont"/>
                <a:ea typeface="ALS Gorizont"/>
                <a:cs typeface="ALS Gorizont"/>
              </a:rPr>
              <a:t>Методология и инструменты</a:t>
            </a:r>
          </a:p>
        </p:txBody>
      </p:sp>
      <p:sp>
        <p:nvSpPr>
          <p:cNvPr id="4" name="TXT12">
            <a:extLst xmlns:a="http://schemas.openxmlformats.org/drawingml/2006/main">
              <a:ext uri="{FF2B5EF4-FFF2-40B4-BE49-F238E27FC236}">
                <a16:creationId xmlns:a16="http://schemas.microsoft.com/office/drawing/2014/main" id="{E19C0CD4-F69E-47A2-B966-9C86C9BB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3381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F00FF"/>
                </a:solidFill>
                <a:latin typeface="ALS Gorizont"/>
                <a:ea typeface="ALS Gorizont"/>
                <a:cs typeface="ALS Gorizont"/>
              </a:defRPr>
            </a:pPr>
            <a:r>
              <a:rPr sz="1875" b="1">
                <a:solidFill>
                  <a:srgbClr val="9F00FF"/>
                </a:solidFill>
                <a:latin typeface="ALS Gorizont"/>
                <a:ea typeface="ALS Gorizont"/>
                <a:cs typeface="ALS Gorizont"/>
              </a:rPr>
              <a:t>Методология</a:t>
            </a:r>
          </a:p>
        </p:txBody>
      </p:sp>
      <p:sp>
        <p:nvSpPr>
          <p:cNvPr id="5" name="TXT13">
            <a:extLst xmlns:a="http://schemas.openxmlformats.org/drawingml/2006/main">
              <a:ext uri="{FF2B5EF4-FFF2-40B4-BE49-F238E27FC236}">
                <a16:creationId xmlns:a16="http://schemas.microsoft.com/office/drawing/2014/main" id="{7F989BAA-A2BF-43BF-9CE5-B19B6E91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371850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650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DFD · Gane–Sarson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650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A−0 → A0 → A1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650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Процессы, сущности,</a:t>
            </a:r>
          </a:p>
          <a:p xmlns:a="http://schemas.openxmlformats.org/drawingml/2006/main">
            <a:pPr algn="l">
              <a:defRPr sz="1650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650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потоки и накопители</a:t>
            </a:r>
          </a:p>
        </p:txBody>
      </p:sp>
      <p:sp>
        <p:nvSpPr>
          <p:cNvPr id="6" name="TXT14">
            <a:extLst xmlns:a="http://schemas.openxmlformats.org/drawingml/2006/main">
              <a:ext uri="{FF2B5EF4-FFF2-40B4-BE49-F238E27FC236}">
                <a16:creationId xmlns:a16="http://schemas.microsoft.com/office/drawing/2014/main" id="{117ED18A-27D5-4E47-964F-4E0A1091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24125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F00FF"/>
                </a:solidFill>
                <a:latin typeface="ALS Gorizont"/>
                <a:ea typeface="ALS Gorizont"/>
                <a:cs typeface="ALS Gorizont"/>
              </a:defRPr>
            </a:pPr>
            <a:r>
              <a:rPr sz="1875" b="1">
                <a:solidFill>
                  <a:srgbClr val="9F00FF"/>
                </a:solidFill>
                <a:latin typeface="ALS Gorizont"/>
                <a:ea typeface="ALS Gorizont"/>
                <a:cs typeface="ALS Gorizont"/>
              </a:rPr>
              <a:t>Инструменты</a:t>
            </a:r>
          </a:p>
        </p:txBody>
      </p:sp>
      <p:sp>
        <p:nvSpPr>
          <p:cNvPr id="7" name="TXT15">
            <a:extLst xmlns:a="http://schemas.openxmlformats.org/drawingml/2006/main">
              <a:ext uri="{FF2B5EF4-FFF2-40B4-BE49-F238E27FC236}">
                <a16:creationId xmlns:a16="http://schemas.microsoft.com/office/drawing/2014/main" id="{41B39DB2-7DAC-4FFB-B037-DFC1BD43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48000"/>
            <a:ext cx="319087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Figma</a:t>
            </a:r>
          </a:p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Построение моделей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PowerPoint</a:t>
            </a:r>
          </a:p>
          <a:p xmlns:a="http://schemas.openxmlformats.org/drawingml/2006/main">
            <a:pPr algn="l">
              <a:defRPr sz="1500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Презентация результатов</a:t>
            </a:r>
          </a:p>
        </p:txBody>
      </p:sp>
    </p:spTree>
    <p:extLst>
      <p:ext uri="{BB962C8B-B14F-4D97-AF65-F5344CB8AC3E}">
        <p14:creationId xmlns:p14="http://schemas.microsoft.com/office/powerpoint/2010/main" val="1498285093"/>
      </p:ext>
    </p:extLst>
  </p:cSld>
</p:sld>
</file>

<file path=ppt/overlay/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MPLATE-DECOR-MASK-5">
            <a:extLst xmlns:a="http://schemas.openxmlformats.org/drawingml/2006/main">
              <a:ext uri="{FF2B5EF4-FFF2-40B4-BE49-F238E27FC236}">
                <a16:creationId xmlns:a16="http://schemas.microsoft.com/office/drawing/2014/main" id="{BCB203C1-0557-4FB6-BADF-0FD8242B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190625"/>
            <a:ext cx="6000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XT16">
            <a:extLst xmlns:a="http://schemas.openxmlformats.org/drawingml/2006/main">
              <a:ext uri="{FF2B5EF4-FFF2-40B4-BE49-F238E27FC236}">
                <a16:creationId xmlns:a16="http://schemas.microsoft.com/office/drawing/2014/main" id="{49A16E24-6E72-4697-986D-28149ACD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657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defRPr>
            </a:pPr>
            <a:r>
              <a: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rPr>
              <a:t>Матрица событий · 1–3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14350" y="1219200"/>
          <a:ext xmlns:a="http://schemas.openxmlformats.org/drawingml/2006/main" cx="81153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62100"/>
                <a:gridCol w="1171575"/>
                <a:gridCol w="1381125"/>
                <a:gridCol w="2009775"/>
                <a:gridCol w="1990725"/>
              </a:tblGrid>
              <a:tr h="323850"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Событие</a:t>
                      </a:r>
                    </a:p>
                  </a:txBody>
                  <a:tcPr marL="91440" marR="91440" marT="45720" marB="45720" anchor="ctr">
                    <a:solidFill>
                      <a:srgbClr val="9F00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Источник</a:t>
                      </a:r>
                    </a:p>
                  </a:txBody>
                  <a:tcPr marL="91440" marR="91440" marT="45720" marB="45720" anchor="ctr">
                    <a:solidFill>
                      <a:srgbClr val="9F00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Процесс</a:t>
                      </a:r>
                    </a:p>
                  </a:txBody>
                  <a:tcPr marL="91440" marR="91440" marT="45720" marB="45720" anchor="ctr">
                    <a:solidFill>
                      <a:srgbClr val="9F00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Входные данные</a:t>
                      </a:r>
                    </a:p>
                  </a:txBody>
                  <a:tcPr marL="91440" marR="91440" marT="45720" marB="45720" anchor="ctr">
                    <a:solidFill>
                      <a:srgbClr val="9F00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Выходные данные</a:t>
                      </a:r>
                    </a:p>
                  </a:txBody>
                  <a:tcPr marL="91440" marR="91440" marT="45720" marB="45720" anchor="ctr">
                    <a:solidFill>
                      <a:srgbClr val="9F00FF"/>
                    </a:solidFill>
                  </a:tcPr>
                </a:tc>
              </a:tr>
              <a:tr h="971550"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Регистрация, вход,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изменение профиля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Пользователь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1. Управлять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пользователями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Учётные данные, профиль;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данные D1 и D9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Профиль и результат входа;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запись D1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Создание, изменение,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закрытие объявления;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решение модерации</a:t>
                      </a:r>
                    </a:p>
                  </a:txBody>
                  <a:tcPr marL="91440" marR="91440" marT="45720" marB="45720" anchor="ctr">
                    <a:solidFill>
                      <a:srgbClr val="FAF5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Пользователь,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процесс 6</a:t>
                      </a:r>
                    </a:p>
                  </a:txBody>
                  <a:tcPr marL="91440" marR="91440" marT="45720" marB="45720" anchor="ctr">
                    <a:solidFill>
                      <a:srgbClr val="FAF5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2. Управлять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объявлениями</a:t>
                      </a:r>
                    </a:p>
                  </a:txBody>
                  <a:tcPr marL="91440" marR="91440" marT="45720" marB="45720" anchor="ctr">
                    <a:solidFill>
                      <a:srgbClr val="FAF5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Данные объявления;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данные D2–D4 и D9;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решение модерации</a:t>
                      </a:r>
                    </a:p>
                  </a:txBody>
                  <a:tcPr marL="91440" marR="91440" marT="45720" marB="45720" anchor="ctr">
                    <a:solidFill>
                      <a:srgbClr val="FAF5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Карточка и статус;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запись D2–D4;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материалы → 6;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данные → 4</a:t>
                      </a:r>
                    </a:p>
                  </a:txBody>
                  <a:tcPr marL="91440" marR="91440" marT="45720" marB="45720" anchor="ctr">
                    <a:solidFill>
                      <a:srgbClr val="FAF5FF"/>
                    </a:solidFill>
                  </a:tcPr>
                </a:tc>
              </a:tr>
              <a:tr h="971550"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Запрос поиска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Пользователь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3. Искать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и фильтровать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объявления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Поисковый запрос, фильтры;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данные D2–D4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Результаты поиска: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только PUBLISHED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XT17">
            <a:extLst xmlns:a="http://schemas.openxmlformats.org/drawingml/2006/main">
              <a:ext uri="{FF2B5EF4-FFF2-40B4-BE49-F238E27FC236}">
                <a16:creationId xmlns:a16="http://schemas.microsoft.com/office/drawing/2014/main" id="{F3758A7B-CC49-4CA8-AD55-31F2C80A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43425"/>
            <a:ext cx="8067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Golos Text"/>
                <a:ea typeface="Golos Text"/>
                <a:cs typeface="Golos Text"/>
              </a:defRPr>
            </a:pPr>
            <a:r>
              <a:rPr sz="900" b="0">
                <a:solidFill>
                  <a:srgbClr val="555555"/>
                </a:solidFill>
                <a:latin typeface="Golos Text"/>
                <a:ea typeface="Golos Text"/>
                <a:cs typeface="Golos Text"/>
              </a:rPr>
              <a:t>D1–D9 — логические накопители; стрелки указывают получателя данных</a:t>
            </a:r>
          </a:p>
        </p:txBody>
      </p:sp>
    </p:spTree>
    <p:extLst>
      <p:ext uri="{BB962C8B-B14F-4D97-AF65-F5344CB8AC3E}">
        <p14:creationId xmlns:p14="http://schemas.microsoft.com/office/powerpoint/2010/main" val="1509411129"/>
      </p:ext>
    </p:extLst>
  </p:cSld>
</p:sld>
</file>

<file path=ppt/overlay/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MPLATE-DECOR-MASK-6">
            <a:extLst xmlns:a="http://schemas.openxmlformats.org/drawingml/2006/main">
              <a:ext uri="{FF2B5EF4-FFF2-40B4-BE49-F238E27FC236}">
                <a16:creationId xmlns:a16="http://schemas.microsoft.com/office/drawing/2014/main" id="{3DB76A90-CFFA-4ABB-99EE-6D0FE6CA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190625"/>
            <a:ext cx="6000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XT18">
            <a:extLst xmlns:a="http://schemas.openxmlformats.org/drawingml/2006/main">
              <a:ext uri="{FF2B5EF4-FFF2-40B4-BE49-F238E27FC236}">
                <a16:creationId xmlns:a16="http://schemas.microsoft.com/office/drawing/2014/main" id="{518F6C81-D6B0-41B0-B310-4987E745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657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defRPr>
            </a:pPr>
            <a:r>
              <a: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rPr>
              <a:t>Матрица событий · 4–6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14350" y="1219200"/>
          <a:ext xmlns:a="http://schemas.openxmlformats.org/drawingml/2006/main" cx="81153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62100"/>
                <a:gridCol w="1171575"/>
                <a:gridCol w="1381125"/>
                <a:gridCol w="2009775"/>
                <a:gridCol w="1990725"/>
              </a:tblGrid>
              <a:tr h="323850"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Событие</a:t>
                      </a:r>
                    </a:p>
                  </a:txBody>
                  <a:tcPr marL="91440" marR="91440" marT="45720" marB="45720" anchor="ctr">
                    <a:solidFill>
                      <a:srgbClr val="9F00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Источник</a:t>
                      </a:r>
                    </a:p>
                  </a:txBody>
                  <a:tcPr marL="91440" marR="91440" marT="45720" marB="45720" anchor="ctr">
                    <a:solidFill>
                      <a:srgbClr val="9F00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Процесс</a:t>
                      </a:r>
                    </a:p>
                  </a:txBody>
                  <a:tcPr marL="91440" marR="91440" marT="45720" marB="45720" anchor="ctr">
                    <a:solidFill>
                      <a:srgbClr val="9F00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Входные данные</a:t>
                      </a:r>
                    </a:p>
                  </a:txBody>
                  <a:tcPr marL="91440" marR="91440" marT="45720" marB="45720" anchor="ctr">
                    <a:solidFill>
                      <a:srgbClr val="9F00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Выходные данные</a:t>
                      </a:r>
                    </a:p>
                  </a:txBody>
                  <a:tcPr marL="91440" marR="91440" marT="45720" marB="45720" anchor="ctr">
                    <a:solidFill>
                      <a:srgbClr val="9F00FF"/>
                    </a:solidFill>
                  </a:tcPr>
                </a:tc>
              </a:tr>
              <a:tr h="971550"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Изменение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объявления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Процесс 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4. Сопоставлять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объявления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Данные объявления;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данные D2, D4 и D5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Совпадения и состояния → D5;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новое совпадение → 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Сообщение, запрос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истории или контакта;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новое совпадение</a:t>
                      </a:r>
                    </a:p>
                  </a:txBody>
                  <a:tcPr marL="91440" marR="91440" marT="45720" marB="45720" anchor="ctr">
                    <a:solidFill>
                      <a:srgbClr val="FAF5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Пользователь,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процесс 4</a:t>
                      </a:r>
                    </a:p>
                  </a:txBody>
                  <a:tcPr marL="91440" marR="91440" marT="45720" marB="45720" anchor="ctr">
                    <a:solidFill>
                      <a:srgbClr val="FAF5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5. Организовывать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взаимодействие</a:t>
                      </a:r>
                    </a:p>
                  </a:txBody>
                  <a:tcPr marL="91440" marR="91440" marT="45720" marB="45720" anchor="ctr">
                    <a:solidFill>
                      <a:srgbClr val="FAF5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Запрос взаимодействия;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новое совпадение;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данные D1, D6, D7 и D9</a:t>
                      </a:r>
                    </a:p>
                  </a:txBody>
                  <a:tcPr marL="91440" marR="91440" marT="45720" marB="45720" anchor="ctr">
                    <a:solidFill>
                      <a:srgbClr val="FAF5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Сообщения, контакты,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уведомления;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запись D6 и D7</a:t>
                      </a:r>
                    </a:p>
                  </a:txBody>
                  <a:tcPr marL="91440" marR="91440" marT="45720" marB="45720" anchor="ctr">
                    <a:solidFill>
                      <a:srgbClr val="FAF5FF"/>
                    </a:solidFill>
                  </a:tcPr>
                </a:tc>
              </a:tr>
              <a:tr h="971550"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Объявление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на проверку; жалоба;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решение модератора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Пользователь,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модератор,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процесс 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6. Обеспечивать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модерацию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и безопасность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Материалы, жалоба, решение;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данные D1–D4, D8 и D9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Материалы → модератору;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статус жалобы;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запись D8, D9;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решение → 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XT19">
            <a:extLst xmlns:a="http://schemas.openxmlformats.org/drawingml/2006/main">
              <a:ext uri="{FF2B5EF4-FFF2-40B4-BE49-F238E27FC236}">
                <a16:creationId xmlns:a16="http://schemas.microsoft.com/office/drawing/2014/main" id="{36066821-9F18-43F8-8F86-3B12FD27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43425"/>
            <a:ext cx="8067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  <a:latin typeface="Golos Text"/>
                <a:ea typeface="Golos Text"/>
                <a:cs typeface="Golos Text"/>
              </a:defRPr>
            </a:pPr>
            <a:r>
              <a:rPr sz="900" b="0">
                <a:solidFill>
                  <a:srgbClr val="555555"/>
                </a:solidFill>
                <a:latin typeface="Golos Text"/>
                <a:ea typeface="Golos Text"/>
                <a:cs typeface="Golos Text"/>
              </a:rPr>
              <a:t>D1–D9 — логические накопители; стрелки указывают получателя данных</a:t>
            </a:r>
          </a:p>
        </p:txBody>
      </p:sp>
    </p:spTree>
    <p:extLst>
      <p:ext uri="{BB962C8B-B14F-4D97-AF65-F5344CB8AC3E}">
        <p14:creationId xmlns:p14="http://schemas.microsoft.com/office/powerpoint/2010/main" val="981744500"/>
      </p:ext>
    </p:extLst>
  </p:cSld>
</p:sld>
</file>

<file path=ppt/overlay/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MPLATE-DECOR-MASK-7">
            <a:extLst xmlns:a="http://schemas.openxmlformats.org/drawingml/2006/main">
              <a:ext uri="{FF2B5EF4-FFF2-40B4-BE49-F238E27FC236}">
                <a16:creationId xmlns:a16="http://schemas.microsoft.com/office/drawing/2014/main" id="{FC4A1887-7EB0-4B92-8AFB-180185D8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190625"/>
            <a:ext cx="6000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XT20">
            <a:extLst xmlns:a="http://schemas.openxmlformats.org/drawingml/2006/main">
              <a:ext uri="{FF2B5EF4-FFF2-40B4-BE49-F238E27FC236}">
                <a16:creationId xmlns:a16="http://schemas.microsoft.com/office/drawing/2014/main" id="{68E9D0E0-6E9A-467F-858E-3FF76C54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657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defRPr>
            </a:pPr>
            <a:r>
              <a: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rPr>
              <a:t>A−0 · границы системы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b0fb3719e49cc"/>
          <a:stretch xmlns:a="http://schemas.openxmlformats.org/drawingml/2006/main"/>
        </p:blipFill>
        <p:spPr>
          <a:xfrm xmlns:a="http://schemas.openxmlformats.org/drawingml/2006/main">
            <a:off x="960821" y="1123950"/>
            <a:ext cx="7279508" cy="36099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322023"/>
      </p:ext>
    </p:extLst>
  </p:cSld>
</p:sld>
</file>

<file path=ppt/overlay/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MPLATE-DECOR-MASK-8">
            <a:extLst xmlns:a="http://schemas.openxmlformats.org/drawingml/2006/main">
              <a:ext uri="{FF2B5EF4-FFF2-40B4-BE49-F238E27FC236}">
                <a16:creationId xmlns:a16="http://schemas.microsoft.com/office/drawing/2014/main" id="{42A6E5B4-9EA4-49BA-A721-FA5391F6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190625"/>
            <a:ext cx="6000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XT21">
            <a:extLst xmlns:a="http://schemas.openxmlformats.org/drawingml/2006/main">
              <a:ext uri="{FF2B5EF4-FFF2-40B4-BE49-F238E27FC236}">
                <a16:creationId xmlns:a16="http://schemas.microsoft.com/office/drawing/2014/main" id="{7E24929F-DD37-4D78-8595-A6AD898A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657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defRPr>
            </a:pPr>
            <a:r>
              <a: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rPr>
              <a:t>A0 · функциональная модель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87b4b2b36d4b95"/>
          <a:stretch xmlns:a="http://schemas.openxmlformats.org/drawingml/2006/main"/>
        </p:blipFill>
        <p:spPr>
          <a:xfrm xmlns:a="http://schemas.openxmlformats.org/drawingml/2006/main">
            <a:off x="2122276" y="1095375"/>
            <a:ext cx="4956597" cy="3657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292140"/>
      </p:ext>
    </p:extLst>
  </p:cSld>
</p:sld>
</file>

<file path=ppt/overlay/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MPLATE-DECOR-MASK-9">
            <a:extLst xmlns:a="http://schemas.openxmlformats.org/drawingml/2006/main">
              <a:ext uri="{FF2B5EF4-FFF2-40B4-BE49-F238E27FC236}">
                <a16:creationId xmlns:a16="http://schemas.microsoft.com/office/drawing/2014/main" id="{42357F59-869B-4B59-8EE6-9F597AA8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190625"/>
            <a:ext cx="6000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XT22">
            <a:extLst xmlns:a="http://schemas.openxmlformats.org/drawingml/2006/main">
              <a:ext uri="{FF2B5EF4-FFF2-40B4-BE49-F238E27FC236}">
                <a16:creationId xmlns:a16="http://schemas.microsoft.com/office/drawing/2014/main" id="{69C8DA11-011B-4CFA-B92F-D6160129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657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defRPr>
            </a:pPr>
            <a:r>
              <a: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rPr>
              <a:t>A1 · управление пользователями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fba83b34d4808"/>
          <a:stretch xmlns:a="http://schemas.openxmlformats.org/drawingml/2006/main"/>
        </p:blipFill>
        <p:spPr>
          <a:xfrm xmlns:a="http://schemas.openxmlformats.org/drawingml/2006/main">
            <a:off x="828675" y="1095375"/>
            <a:ext cx="7543800" cy="3657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22314"/>
      </p:ext>
    </p:extLst>
  </p:cSld>
</p:sld>
</file>

<file path=ppt/overlay/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XT23">
            <a:extLst xmlns:a="http://schemas.openxmlformats.org/drawingml/2006/main">
              <a:ext uri="{FF2B5EF4-FFF2-40B4-BE49-F238E27FC236}">
                <a16:creationId xmlns:a16="http://schemas.microsoft.com/office/drawing/2014/main" id="{0EF9B59D-4E5E-4AD8-9EBD-15D9CAE3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65722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defRPr>
            </a:pPr>
            <a:r>
              <a: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rPr>
              <a:t>Выводы</a:t>
            </a:r>
          </a:p>
        </p:txBody>
      </p:sp>
      <p:sp>
        <p:nvSpPr>
          <p:cNvPr id="2" name="TXT24">
            <a:extLst xmlns:a="http://schemas.openxmlformats.org/drawingml/2006/main">
              <a:ext uri="{FF2B5EF4-FFF2-40B4-BE49-F238E27FC236}">
                <a16:creationId xmlns:a16="http://schemas.microsoft.com/office/drawing/2014/main" id="{CE237ECA-1316-465A-89C8-0E95CD48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219200"/>
            <a:ext cx="3381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1515"/>
                </a:solidFill>
                <a:latin typeface="ALS Gorizont"/>
                <a:ea typeface="ALS Gorizont"/>
                <a:cs typeface="ALS Gorizont"/>
              </a:defRPr>
            </a:pPr>
            <a:r>
              <a:rPr sz="2325" b="1">
                <a:solidFill>
                  <a:srgbClr val="151515"/>
                </a:solidFill>
                <a:latin typeface="ALS Gorizont"/>
                <a:ea typeface="ALS Gorizont"/>
                <a:cs typeface="ALS Gorizont"/>
              </a:rPr>
              <a:t>6 процессов</a:t>
            </a:r>
          </a:p>
        </p:txBody>
      </p:sp>
      <p:sp>
        <p:nvSpPr>
          <p:cNvPr id="3" name="TXT25">
            <a:extLst xmlns:a="http://schemas.openxmlformats.org/drawingml/2006/main">
              <a:ext uri="{FF2B5EF4-FFF2-40B4-BE49-F238E27FC236}">
                <a16:creationId xmlns:a16="http://schemas.microsoft.com/office/drawing/2014/main" id="{86F25C2E-8BF3-429F-87FB-F627AD3D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05000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800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Границы и роли</a:t>
            </a:r>
          </a:p>
          <a:p xmlns:a="http://schemas.openxmlformats.org/drawingml/2006/main">
            <a:pPr algn="l">
              <a:defRPr sz="1800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800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участников определены</a:t>
            </a:r>
          </a:p>
        </p:txBody>
      </p:sp>
      <p:sp>
        <p:nvSpPr>
          <p:cNvPr id="4" name="TXT26">
            <a:extLst xmlns:a="http://schemas.openxmlformats.org/drawingml/2006/main">
              <a:ext uri="{FF2B5EF4-FFF2-40B4-BE49-F238E27FC236}">
                <a16:creationId xmlns:a16="http://schemas.microsoft.com/office/drawing/2014/main" id="{5BCCCB44-858F-4B29-8ABE-50B0DAA0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09925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LS Gorizont"/>
                <a:ea typeface="ALS Gorizont"/>
                <a:cs typeface="ALS Gorizont"/>
              </a:defRPr>
            </a:pPr>
            <a:r>
              <a:rPr sz="2250" b="1">
                <a:solidFill>
                  <a:srgbClr val="FFFFFF"/>
                </a:solidFill>
                <a:latin typeface="ALS Gorizont"/>
                <a:ea typeface="ALS Gorizont"/>
                <a:cs typeface="ALS Gorizont"/>
              </a:rPr>
              <a:t>9 накопителей</a:t>
            </a:r>
          </a:p>
        </p:txBody>
      </p:sp>
      <p:sp>
        <p:nvSpPr>
          <p:cNvPr id="5" name="TXT27">
            <a:extLst xmlns:a="http://schemas.openxmlformats.org/drawingml/2006/main">
              <a:ext uri="{FF2B5EF4-FFF2-40B4-BE49-F238E27FC236}">
                <a16:creationId xmlns:a16="http://schemas.microsoft.com/office/drawing/2014/main" id="{ECFE3F90-B943-4DE7-9354-F44AC8B5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924300"/>
            <a:ext cx="3381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800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Данные основных</a:t>
            </a:r>
          </a:p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800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процессов системы</a:t>
            </a:r>
          </a:p>
        </p:txBody>
      </p:sp>
      <p:sp>
        <p:nvSpPr>
          <p:cNvPr id="6" name="TXT28">
            <a:extLst xmlns:a="http://schemas.openxmlformats.org/drawingml/2006/main">
              <a:ext uri="{FF2B5EF4-FFF2-40B4-BE49-F238E27FC236}">
                <a16:creationId xmlns:a16="http://schemas.microsoft.com/office/drawing/2014/main" id="{2A6C0258-A349-4E10-99D2-D82DC613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247775"/>
            <a:ext cx="34004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defRPr>
            </a:pPr>
            <a:r>
              <a:rPr sz="217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rPr>
              <a:t>Функциональная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defRPr>
            </a:pPr>
            <a:r>
              <a:rPr sz="217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rPr>
              <a:t>модель построена</a:t>
            </a:r>
          </a:p>
        </p:txBody>
      </p:sp>
      <p:sp>
        <p:nvSpPr>
          <p:cNvPr id="7" name="TXT29">
            <a:extLst xmlns:a="http://schemas.openxmlformats.org/drawingml/2006/main">
              <a:ext uri="{FF2B5EF4-FFF2-40B4-BE49-F238E27FC236}">
                <a16:creationId xmlns:a16="http://schemas.microsoft.com/office/drawing/2014/main" id="{2FBCCD78-B9E7-4F4C-BFF9-85FADB7E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352675"/>
            <a:ext cx="3343275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Матрица событий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A−0 · A0 · A1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Процесс 1 раскрыт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на 4 подпроцесса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Потоки данных показаны</a:t>
            </a:r>
          </a:p>
        </p:txBody>
      </p:sp>
    </p:spTree>
    <p:extLst>
      <p:ext uri="{BB962C8B-B14F-4D97-AF65-F5344CB8AC3E}">
        <p14:creationId xmlns:p14="http://schemas.microsoft.com/office/powerpoint/2010/main" val="2094381019"/>
      </p:ext>
    </p:extLst>
  </p:cSld>
</p:sld>
</file>

<file path=ppt/overlay/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XT30">
            <a:extLst xmlns:a="http://schemas.openxmlformats.org/drawingml/2006/main">
              <a:ext uri="{FF2B5EF4-FFF2-40B4-BE49-F238E27FC236}">
                <a16:creationId xmlns:a16="http://schemas.microsoft.com/office/drawing/2014/main" id="{BD5096BF-3704-4298-A13D-E7DE96F7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65722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defRPr>
            </a:pPr>
            <a:r>
              <a:rPr sz="292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rPr>
              <a:t>Спасибо</a:t>
            </a:r>
          </a:p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defRPr>
            </a:pPr>
            <a:r>
              <a:rPr sz="292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rPr>
              <a:t>за внимание</a:t>
            </a:r>
          </a:p>
        </p:txBody>
      </p:sp>
      <p:sp>
        <p:nvSpPr>
          <p:cNvPr id="2" name="TXT31">
            <a:extLst xmlns:a="http://schemas.openxmlformats.org/drawingml/2006/main">
              <a:ext uri="{FF2B5EF4-FFF2-40B4-BE49-F238E27FC236}">
                <a16:creationId xmlns:a16="http://schemas.microsoft.com/office/drawing/2014/main" id="{069D277D-B691-4904-A3A1-2D5CD03F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162425"/>
            <a:ext cx="657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631569056"/>
      </p:ext>
    </p:extLst>
  </p:cSld>
</p:sld>
</file>

<file path=ppt/overlay/ppt/tableStyles.xml><?xml version="1.0" encoding="utf-8"?>
<a:tblStyleLst xmlns:a="http://schemas.openxmlformats.org/drawingml/2006/main" def="{5C22544A-7EE6-4342-B048-85BDC9FD1C3A}"/>
</file>

<file path=ppt/overlay/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?>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2" Type="http://schemas.openxmlformats.org/officeDocument/2006/relationships/image" Target="../media/image7.jpg" /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2" Type="http://schemas.openxmlformats.org/officeDocument/2006/relationships/image" Target="../media/image8.jpg" /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2" Type="http://schemas.openxmlformats.org/officeDocument/2006/relationships/image" Target="../media/image9.jpg" /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2" Type="http://schemas.openxmlformats.org/officeDocument/2006/relationships/image" Target="../media/image10.jpg" /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2" Type="http://schemas.openxmlformats.org/officeDocument/2006/relationships/image" Target="../media/image11.jpg" /><Relationship Id="rId1" Type="http://schemas.openxmlformats.org/officeDocument/2006/relationships/slideMaster" Target="../slideMasters/slideMaster1.xml" /></Relationships>
</file>

<file path=ppt/slideLayouts/_rels/slideLayout12.xml.rels><?xml version='1.0' encoding='utf-8'?>
<Relationships xmlns="http://schemas.openxmlformats.org/package/2006/relationships"><Relationship Id="rId2" Type="http://schemas.openxmlformats.org/officeDocument/2006/relationships/image" Target="../media/image12.jpg" /><Relationship Id="rId1" Type="http://schemas.openxmlformats.org/officeDocument/2006/relationships/slideMaster" Target="../slideMasters/slideMaster1.xml" /></Relationships>
</file>

<file path=ppt/slideLayouts/_rels/slideLayout13.xml.rels><?xml version='1.0' encoding='utf-8'?>
<Relationships xmlns="http://schemas.openxmlformats.org/package/2006/relationships"><Relationship Id="rId2" Type="http://schemas.openxmlformats.org/officeDocument/2006/relationships/image" Target="../media/image13.jpg" /><Relationship Id="rId1" Type="http://schemas.openxmlformats.org/officeDocument/2006/relationships/slideMaster" Target="../slideMasters/slideMaster1.xml" /></Relationships>
</file>

<file path=ppt/slideLayouts/_rels/slideLayout14.xml.rels><?xml version='1.0' encoding='utf-8'?>
<Relationships xmlns="http://schemas.openxmlformats.org/package/2006/relationships"><Relationship Id="rId2" Type="http://schemas.openxmlformats.org/officeDocument/2006/relationships/image" Target="../media/image14.jpg" /><Relationship Id="rId1" Type="http://schemas.openxmlformats.org/officeDocument/2006/relationships/slideMaster" Target="../slideMasters/slideMaster1.xml" /></Relationships>
</file>

<file path=ppt/slideLayouts/_rels/slideLayout15.xml.rels><?xml version='1.0' encoding='utf-8'?>
<Relationships xmlns="http://schemas.openxmlformats.org/package/2006/relationships"><Relationship Id="rId2" Type="http://schemas.openxmlformats.org/officeDocument/2006/relationships/image" Target="../media/image15.jpg" /><Relationship Id="rId1" Type="http://schemas.openxmlformats.org/officeDocument/2006/relationships/slideMaster" Target="../slideMasters/slideMaster1.xml" /></Relationships>
</file>

<file path=ppt/slideLayouts/_rels/slideLayout16.xml.rels><?xml version='1.0' encoding='utf-8'?>
<Relationships xmlns="http://schemas.openxmlformats.org/package/2006/relationships"><Relationship Id="rId2" Type="http://schemas.openxmlformats.org/officeDocument/2006/relationships/image" Target="../media/image16.jpg" /><Relationship Id="rId1" Type="http://schemas.openxmlformats.org/officeDocument/2006/relationships/slideMaster" Target="../slideMasters/slideMaster1.xml" /></Relationships>
</file>

<file path=ppt/slideLayouts/_rels/slideLayout17.xml.rels><?xml version='1.0' encoding='utf-8'?>
<Relationships xmlns="http://schemas.openxmlformats.org/package/2006/relationships"><Relationship Id="rId2" Type="http://schemas.openxmlformats.org/officeDocument/2006/relationships/image" Target="../media/image17.jpg" /><Relationship Id="rId1" Type="http://schemas.openxmlformats.org/officeDocument/2006/relationships/slideMaster" Target="../slideMasters/slideMaster1.xml" /></Relationships>
</file>

<file path=ppt/slideLayouts/_rels/slideLayout18.xml.rels><?xml version='1.0' encoding='utf-8'?>
<Relationships xmlns="http://schemas.openxmlformats.org/package/2006/relationships"><Relationship Id="rId2" Type="http://schemas.openxmlformats.org/officeDocument/2006/relationships/image" Target="../media/image18.jpg" /><Relationship Id="rId1" Type="http://schemas.openxmlformats.org/officeDocument/2006/relationships/slideMaster" Target="../slideMasters/slideMaster1.xml" /></Relationships>
</file>

<file path=ppt/slideLayouts/_rels/slideLayout19.xml.rels><?xml version='1.0' encoding='utf-8'?>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_rels/slideLayout20.xml.rels><?xml version='1.0' encoding='utf-8'?>
<Relationships xmlns="http://schemas.openxmlformats.org/package/2006/relationships"><Relationship Id="rId2" Type="http://schemas.openxmlformats.org/officeDocument/2006/relationships/image" Target="../media/image17.jpg" /><Relationship Id="rId1" Type="http://schemas.openxmlformats.org/officeDocument/2006/relationships/slideMaster" Target="../slideMasters/slideMaster1.xml" /></Relationships>
</file>

<file path=ppt/slideLayouts/_rels/slideLayout21.xml.rels><?xml version='1.0' encoding='utf-8'?>
<Relationships xmlns="http://schemas.openxmlformats.org/package/2006/relationships"><Relationship Id="rId2" Type="http://schemas.openxmlformats.org/officeDocument/2006/relationships/image" Target="../media/image17.jpg" /><Relationship Id="rId1" Type="http://schemas.openxmlformats.org/officeDocument/2006/relationships/slideMaster" Target="../slideMasters/slideMaster1.xml" /></Relationships>
</file>

<file path=ppt/slideLayouts/_rels/slideLayout22.xml.rels><?xml version='1.0' encoding='utf-8'?>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21" Type="http://schemas.openxmlformats.org/officeDocument/2006/relationships/slideLayout" Target="../slideLayouts/slideLayout21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20" Type="http://schemas.openxmlformats.org/officeDocument/2006/relationships/slideLayout" Target="../slideLayouts/slideLayout20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23" Type="http://schemas.openxmlformats.org/officeDocument/2006/relationships/theme" Target="../theme/theme1.xml" /><Relationship Id="rId10" Type="http://schemas.openxmlformats.org/officeDocument/2006/relationships/slideLayout" Target="../slideLayouts/slideLayout10.xml" /><Relationship Id="rId19" Type="http://schemas.openxmlformats.org/officeDocument/2006/relationships/slideLayout" Target="../slideLayouts/slideLayout19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Relationship Id="rId22" Type="http://schemas.openxmlformats.org/officeDocument/2006/relationships/slideLayout" Target="../slideLayouts/slideLayout2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itmoSlide1.xml.rels><?xml version='1.0' encoding='utf-8'?>
<Relationships xmlns="http://schemas.openxmlformats.org/package/2006/relationships"><Relationship Id="rId2" Type="http://schemas.openxmlformats.org/officeDocument/2006/relationships/image" Target="../media/image19.jpg" /><Relationship Id="rId1" Type="http://schemas.openxmlformats.org/officeDocument/2006/relationships/slideLayout" Target="../slideLayouts/slideLayout1.xml" /><Relationship Type="http://schemas.openxmlformats.org/officeDocument/2006/relationships/notesSlide" Target="../overlay/ppt/notesSlides/notesSlide1.xml" Id="overlay_R59b2eb14b04540c3" /></Relationships>
</file>

<file path=ppt/slides/_rels/itmoSlide2.xml.rels><?xml version='1.0' encoding='utf-8'?>
<Relationships xmlns="http://schemas.openxmlformats.org/package/2006/relationships"><Relationship Id="rId2" Type="http://schemas.openxmlformats.org/officeDocument/2006/relationships/image" Target="../media/itmo-domain.png" /><Relationship Id="rId1" Type="http://schemas.openxmlformats.org/officeDocument/2006/relationships/slideLayout" Target="../slideLayouts/slideLayout4.xml" /><Relationship Type="http://schemas.openxmlformats.org/officeDocument/2006/relationships/notesSlide" Target="../overlay/ppt/notesSlides/notesSlide2.xml" Id="overlay_R61d2be3587774023" /></Relationships>
</file>

<file path=ppt/slides/_rels/itmo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6.xml" /><Relationship Type="http://schemas.openxmlformats.org/officeDocument/2006/relationships/notesSlide" Target="../overlay/ppt/notesSlides/notesSlide3.xml" Id="overlay_R315c13e6350e4918" /></Relationships>
</file>

<file path=ppt/slides/_rels/itmo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Type="http://schemas.openxmlformats.org/officeDocument/2006/relationships/notesSlide" Target="../overlay/ppt/notesSlides/notesSlide4.xml" Id="overlay_Raa6c382c248d423c" /></Relationships>
</file>

<file path=ppt/slides/_rels/itmo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Type="http://schemas.openxmlformats.org/officeDocument/2006/relationships/notesSlide" Target="../overlay/ppt/notesSlides/notesSlide5.xml" Id="overlay_R722e4c102fa04dbd" /></Relationships>
</file>

<file path=ppt/slides/_rels/itmo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Type="http://schemas.openxmlformats.org/officeDocument/2006/relationships/notesSlide" Target="../overlay/ppt/notesSlides/notesSlide6.xml" Id="overlay_Rae588334ecb64e2c" /></Relationships>
</file>

<file path=ppt/slides/_rels/itmo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Type="http://schemas.openxmlformats.org/officeDocument/2006/relationships/image" Target="../overlay/ppt/media/image.png" Id="overlay_Ra02b0fb3719e49cc" /><Relationship Type="http://schemas.openxmlformats.org/officeDocument/2006/relationships/notesSlide" Target="../overlay/ppt/notesSlides/notesSlide7.xml" Id="overlay_R8a3454c9ffd54230" /></Relationships>
</file>

<file path=ppt/slides/_rels/itmo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Type="http://schemas.openxmlformats.org/officeDocument/2006/relationships/image" Target="../overlay/ppt/media/image2.png" Id="overlay_Rff87b4b2b36d4b95" /><Relationship Type="http://schemas.openxmlformats.org/officeDocument/2006/relationships/notesSlide" Target="../overlay/ppt/notesSlides/notesSlide8.xml" Id="overlay_Rb5869a9af298440a" /></Relationships>
</file>

<file path=ppt/slides/_rels/itmo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Relationship Type="http://schemas.openxmlformats.org/officeDocument/2006/relationships/image" Target="../overlay/ppt/media/image3.png" Id="overlay_R837fba83b34d4808" /><Relationship Type="http://schemas.openxmlformats.org/officeDocument/2006/relationships/notesSlide" Target="../overlay/ppt/notesSlides/notesSlide9.xml" Id="overlay_R4070fad21c80442b" /></Relationships>
</file>

<file path=ppt/slides/_rels/itmo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8.xml" /><Relationship Type="http://schemas.openxmlformats.org/officeDocument/2006/relationships/notesSlide" Target="../overlay/ppt/notesSlides/notesSlide10.xml" Id="overlay_R1e4a55cdc08e443c" /></Relationships>
</file>

<file path=ppt/slides/_rels/itmoSlide11.xml.rels><?xml version='1.0' encoding='utf-8'?>
<Relationships xmlns="http://schemas.openxmlformats.org/package/2006/relationships"><Relationship Id="rId2" Type="http://schemas.openxmlformats.org/officeDocument/2006/relationships/image" Target="../media/image21.jpg" /><Relationship Id="rId1" Type="http://schemas.openxmlformats.org/officeDocument/2006/relationships/slideLayout" Target="../slideLayouts/slideLayout14.xml" /><Relationship Type="http://schemas.openxmlformats.org/officeDocument/2006/relationships/notesSlide" Target="../overlay/ppt/notesSlides/notesSlide11.xml" Id="overlay_R88c0ae3d9cde4cae" /></Relationships>
</file>

<file path=ppt/slides/_rels/slide1.xml.rels><?xml version='1.0' encoding='utf-8'?>
<Relationships xmlns="http://schemas.openxmlformats.org/package/2006/relationships"><Relationship Id="rId2" Type="http://schemas.openxmlformats.org/officeDocument/2006/relationships/image" Target="../media/image19.jpg" /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0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6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'1.0' encoding='utf-8'?>
<Relationships xmlns="http://schemas.openxmlformats.org/package/2006/relationships"><Relationship Id="rId2" Type="http://schemas.openxmlformats.org/officeDocument/2006/relationships/image" Target="../media/image20.tif" /><Relationship Id="rId1" Type="http://schemas.openxmlformats.org/officeDocument/2006/relationships/slideLayout" Target="../slideLayouts/slideLayout4.xml" /></Relationships>
</file>

<file path=ppt/slides/_rels/slide8.xml.rels><?xml version='1.0' encoding='utf-8'?>
<Relationships xmlns="http://schemas.openxmlformats.org/package/2006/relationships"><Relationship Id="rId2" Type="http://schemas.openxmlformats.org/officeDocument/2006/relationships/image" Target="../media/image20.tif" /><Relationship Id="rId1" Type="http://schemas.openxmlformats.org/officeDocument/2006/relationships/slideLayout" Target="../slideLayouts/slideLayout17.xml" /></Relationships>
</file>

<file path=ppt/slides/_rels/slide9.xml.rels><?xml version='1.0' encoding='utf-8'?>
<Relationships xmlns="http://schemas.openxmlformats.org/package/2006/relationships"><Relationship Id="rId2" Type="http://schemas.openxmlformats.org/officeDocument/2006/relationships/image" Target="../media/image20.tif" /><Relationship Id="rId1" Type="http://schemas.openxmlformats.org/officeDocument/2006/relationships/slideLayout" Target="../slideLayouts/slideLayout19.xml" /></Relationships>
</file>

<file path=ppt/slides/_rels/slide10.xml.rels><?xml version='1.0' encoding='utf-8'?>
<Relationships xmlns="http://schemas.openxmlformats.org/package/2006/relationships"><Relationship Id="rId2" Type="http://schemas.openxmlformats.org/officeDocument/2006/relationships/image" Target="../media/image20.tif" /><Relationship Id="rId1" Type="http://schemas.openxmlformats.org/officeDocument/2006/relationships/slideLayout" Target="../slideLayouts/slideLayout21.xml" /></Relationships>
</file>

<file path=ppt/slides/_rels/slide11.xml.rels><?xml version='1.0' encoding='utf-8'?>
<Relationships xmlns="http://schemas.openxmlformats.org/package/2006/relationships"><Relationship Id="rId2" Type="http://schemas.openxmlformats.org/officeDocument/2006/relationships/image" Target="../media/image20.tif" /><Relationship Id="rId1" Type="http://schemas.openxmlformats.org/officeDocument/2006/relationships/slideLayout" Target="../slideLayouts/slideLayout22.xml" /></Relationships>
</file>

<file path=ppt/slides/_rels/slide12.xml.rels><?xml version='1.0' encoding='utf-8'?>
<Relationships xmlns="http://schemas.openxmlformats.org/package/2006/relationships"><Relationship Id="rId2" Type="http://schemas.openxmlformats.org/officeDocument/2006/relationships/image" Target="../media/image21.jpg" /><Relationship Id="rId1" Type="http://schemas.openxmlformats.org/officeDocument/2006/relationships/slideLayout" Target="../slideLayouts/slideLayout14.xml" /></Relationships>
</file>

<file path=ppt/slides/_rels/slide13.xml.rels><?xml version='1.0' encoding='utf-8'?>
<Relationships xmlns="http://schemas.openxmlformats.org/package/2006/relationships"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1.xml" /></Relationships>
</file>

<file path=ppt/slides/_rels/slide14.xml.rels><?xml version='1.0' encoding='utf-8'?>
<Relationships xmlns="http://schemas.openxmlformats.org/package/2006/relationships"><Relationship Id="rId8" Type="http://schemas.openxmlformats.org/officeDocument/2006/relationships/image" Target="../media/image29.jpg" /><Relationship Id="rId3" Type="http://schemas.openxmlformats.org/officeDocument/2006/relationships/image" Target="../media/image24.png" /><Relationship Id="rId7" Type="http://schemas.openxmlformats.org/officeDocument/2006/relationships/image" Target="../media/image28.png" /><Relationship Id="rId2" Type="http://schemas.openxmlformats.org/officeDocument/2006/relationships/image" Target="../media/image23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7.png" /><Relationship Id="rId5" Type="http://schemas.openxmlformats.org/officeDocument/2006/relationships/image" Target="../media/image26.jpg" /><Relationship Id="rId4" Type="http://schemas.openxmlformats.org/officeDocument/2006/relationships/image" Target="../media/image25.png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itmoSlide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1">
            <a:extLst>
              <a:ext uri="{FF2B5EF4-FFF2-40B4-BE49-F238E27FC236}">
                <ns3:creationId id="{36863D9D-B808-45F7-8B44-18A7ABA974DF}"/>
              </a:ext>
            </a:extLst>
          </p:cNvPr>
          <p:cNvSpPr>
            <a:spLocks noGrp="1"/>
          </p:cNvSpPr>
          <p:nvPr/>
        </p:nvSpPr>
        <p:spPr>
          <a:xfrm>
            <a:off x="1000125" y="2247900"/>
            <a:ext cx="714375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62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defRPr>
            </a:pPr>
            <a:r>
              <a:rPr sz="262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rPr>
              <a:t>Сервис поиска и возврата</a:t>
            </a:r>
          </a:p>
          <a:p>
            <a:pPr algn="ctr">
              <a:defRPr sz="262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defRPr>
            </a:pPr>
            <a:r>
              <a:rPr sz="262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rPr>
              <a:t>потерянных вещей</a:t>
            </a:r>
          </a:p>
        </p:txBody>
      </p:sp>
      <p:sp>
        <p:nvSpPr>
          <p:cNvPr id="3" name="TXT2">
            <a:extLst>
              <a:ext uri="{FF2B5EF4-FFF2-40B4-BE49-F238E27FC236}">
                <ns3:creationId id="{B86C509B-DC07-430E-B0CE-AEC77D3F931C}"/>
              </a:ext>
            </a:extLst>
          </p:cNvPr>
          <p:cNvSpPr>
            <a:spLocks noGrp="1"/>
          </p:cNvSpPr>
          <p:nvPr/>
        </p:nvSpPr>
        <p:spPr>
          <a:xfrm>
            <a:off x="1000125" y="3505200"/>
            <a:ext cx="7143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Функциональная модель АИС · ЛР-01</a:t>
            </a:r>
          </a:p>
        </p:txBody>
      </p:sp>
      <p:sp>
        <p:nvSpPr>
          <p:cNvPr id="4" name="TXT3">
            <a:extLst>
              <a:ext uri="{FF2B5EF4-FFF2-40B4-BE49-F238E27FC236}">
                <ns3:creationId id="{9A2BB190-7A27-420A-8F1C-E8BD2741A4D2}"/>
              </a:ext>
            </a:extLst>
          </p:cNvPr>
          <p:cNvSpPr>
            <a:spLocks noGrp="1"/>
          </p:cNvSpPr>
          <p:nvPr/>
        </p:nvSpPr>
        <p:spPr>
          <a:xfrm>
            <a:off x="1000125" y="3838575"/>
            <a:ext cx="7143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425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Авторы: Фадеев Данил, Александр Мосин, Гурылев Денис</a:t>
            </a:r>
          </a:p>
        </p:txBody>
      </p:sp>
      <p:sp>
        <p:nvSpPr>
          <p:cNvPr id="5" name="TXT4">
            <a:extLst>
              <a:ext uri="{FF2B5EF4-FFF2-40B4-BE49-F238E27FC236}">
                <ns3:creationId id="{1EA50D78-3A5D-496A-8D27-D483AEF9153F}"/>
              </a:ext>
            </a:extLst>
          </p:cNvPr>
          <p:cNvSpPr>
            <a:spLocks noGrp="1"/>
          </p:cNvSpPr>
          <p:nvPr/>
        </p:nvSpPr>
        <p:spPr>
          <a:xfrm>
            <a:off x="1000125" y="4210050"/>
            <a:ext cx="714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200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Группа: K3239</a:t>
            </a:r>
          </a:p>
          <a:p>
            <a:pPr algn="ctr">
              <a:defRPr sz="1200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200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Преподаватель: Говорова Марина Михайловна</a:t>
            </a:r>
          </a:p>
        </p:txBody>
      </p:sp>
    </p:spTree>
    <p:extLst>
      <p:ext uri="{BB962C8B-B14F-4D97-AF65-F5344CB8AC3E}">
        <ns4:creationId val="87172503"/>
      </p:ext>
    </p:extLst>
  </p:cSld>
  <p:clrMapOvr>
    <a:masterClrMapping/>
  </p:clrMapOvr>
</p:sld>
</file>

<file path=ppt/slides/itmo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Предметная область: поиск и возврат вещей">
            <a:extLst>
              <a:ext uri="{FF2B5EF4-FFF2-40B4-BE49-F238E27FC236}">
                <ns2:creationId id="{B39C447F-7789-D914-2682-159AE682088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586" b="586"/>
          <a:stretch>
            <a:fillRect/>
          </a:stretch>
        </p:blipFill>
        <p:spPr/>
      </p:pic>
      <p:sp>
        <p:nvSpPr>
          <p:cNvPr id="7" name="TEMPLATE-DECOR-MASK-2">
            <a:extLst>
              <a:ext uri="{FF2B5EF4-FFF2-40B4-BE49-F238E27FC236}">
                <ns2:creationId id="{935A51D0-D34A-420D-A486-D10770FE2530}"/>
              </a:ext>
            </a:extLst>
          </p:cNvPr>
          <p:cNvSpPr>
            <a:spLocks noGrp="1"/>
          </p:cNvSpPr>
          <p:nvPr/>
        </p:nvSpPr>
        <p:spPr>
          <a:xfrm>
            <a:off x="8096250" y="1085850"/>
            <a:ext cx="533400" cy="2762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8" name="TXT5">
            <a:extLst>
              <a:ext uri="{FF2B5EF4-FFF2-40B4-BE49-F238E27FC236}">
                <ns2:creationId id="{FACD25CD-3CA4-43A4-84B0-DDE266228942}"/>
              </a:ext>
            </a:extLst>
          </p:cNvPr>
          <p:cNvSpPr>
            <a:spLocks noGrp="1"/>
          </p:cNvSpPr>
          <p:nvPr/>
        </p:nvSpPr>
        <p:spPr>
          <a:xfrm>
            <a:off x="5572125" y="1162050"/>
            <a:ext cx="29527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1">
                <a:solidFill>
                  <a:srgbClr val="9F00FF"/>
                </a:solidFill>
                <a:latin typeface="ALS Gorizont"/>
                <a:ea typeface="ALS Gorizont"/>
                <a:cs typeface="ALS Gorizont"/>
              </a:defRPr>
            </a:pPr>
            <a:r>
              <a:rPr sz="1950" b="1">
                <a:solidFill>
                  <a:srgbClr val="9F00FF"/>
                </a:solidFill>
                <a:latin typeface="ALS Gorizont"/>
                <a:ea typeface="ALS Gorizont"/>
                <a:cs typeface="ALS Gorizont"/>
              </a:rPr>
              <a:t>Предметная</a:t>
            </a:r>
          </a:p>
          <a:p>
            <a:pPr algn="l">
              <a:defRPr sz="1950" b="1">
                <a:solidFill>
                  <a:srgbClr val="9F00FF"/>
                </a:solidFill>
                <a:latin typeface="ALS Gorizont"/>
                <a:ea typeface="ALS Gorizont"/>
                <a:cs typeface="ALS Gorizont"/>
              </a:defRPr>
            </a:pPr>
            <a:r>
              <a:rPr sz="1950" b="1">
                <a:solidFill>
                  <a:srgbClr val="9F00FF"/>
                </a:solidFill>
                <a:latin typeface="ALS Gorizont"/>
                <a:ea typeface="ALS Gorizont"/>
                <a:cs typeface="ALS Gorizont"/>
              </a:rPr>
              <a:t>область</a:t>
            </a:r>
          </a:p>
        </p:txBody>
      </p:sp>
      <p:sp>
        <p:nvSpPr>
          <p:cNvPr id="9" name="TXT6">
            <a:extLst>
              <a:ext uri="{FF2B5EF4-FFF2-40B4-BE49-F238E27FC236}">
                <ns2:creationId id="{C4EC1A93-86BF-4604-9D25-2F42C4C09CB7}"/>
              </a:ext>
            </a:extLst>
          </p:cNvPr>
          <p:cNvSpPr>
            <a:spLocks noGrp="1"/>
          </p:cNvSpPr>
          <p:nvPr/>
        </p:nvSpPr>
        <p:spPr>
          <a:xfrm>
            <a:off x="5572125" y="2000250"/>
            <a:ext cx="2905125" cy="2095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Потерял или нашёл вещь</a:t>
            </a:r>
          </a:p>
          <a:p>
            <a:r>
              <a:t/>
            </a:r>
          </a:p>
          <a:p>
            <a:pPr algn="l">
              <a:def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Разместил объявление</a:t>
            </a:r>
          </a:p>
          <a:p>
            <a:r>
              <a:t/>
            </a:r>
          </a:p>
          <a:p>
            <a:pPr algn="l">
              <a:def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Нашёл возможное совпадение</a:t>
            </a:r>
          </a:p>
          <a:p>
            <a:r>
              <a:t/>
            </a:r>
          </a:p>
          <a:p>
            <a:pPr algn="l">
              <a:def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Связался с автором</a:t>
            </a:r>
          </a:p>
        </p:txBody>
      </p:sp>
    </p:spTree>
    <p:extLst>
      <p:ext uri="{BB962C8B-B14F-4D97-AF65-F5344CB8AC3E}">
        <ns4:creationId val="3833283629"/>
      </p:ext>
    </p:extLst>
  </p:cSld>
  <p:clrMapOvr>
    <a:masterClrMapping/>
  </p:clrMapOvr>
</p:sld>
</file>

<file path=ppt/slides/itmo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PLATE-DECOR-MASK-3">
            <a:extLst>
              <a:ext uri="{FF2B5EF4-FFF2-40B4-BE49-F238E27FC236}">
                <ns2:creationId id="{0988DABB-85A5-42DA-B7E5-13504A9427AE}"/>
              </a:ext>
            </a:extLst>
          </p:cNvPr>
          <p:cNvSpPr>
            <a:spLocks noGrp="1"/>
          </p:cNvSpPr>
          <p:nvPr/>
        </p:nvSpPr>
        <p:spPr>
          <a:xfrm>
            <a:off x="8105775" y="1123950"/>
            <a:ext cx="542925" cy="276225"/>
          </a:xfrm>
          <a:prstGeom prst="rect">
            <a:avLst/>
          </a:prstGeom>
          <a:solidFill>
            <a:srgbClr val="FDFDFD"/>
          </a:solidFill>
          <a:ln w="0">
            <a:noFill/>
          </a:ln>
        </p:spPr>
      </p:sp>
      <p:sp>
        <p:nvSpPr>
          <p:cNvPr id="3" name="TXT7">
            <a:extLst>
              <a:ext uri="{FF2B5EF4-FFF2-40B4-BE49-F238E27FC236}">
                <ns2:creationId id="{EAF68736-9BD3-4B84-8136-F6CB3E1167EE}"/>
              </a:ext>
            </a:extLst>
          </p:cNvPr>
          <p:cNvSpPr>
            <a:spLocks noGrp="1"/>
          </p:cNvSpPr>
          <p:nvPr/>
        </p:nvSpPr>
        <p:spPr>
          <a:xfrm>
            <a:off x="523875" y="428625"/>
            <a:ext cx="633412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ALS Gorizont"/>
                <a:ea typeface="ALS Gorizont"/>
                <a:cs typeface="ALS Gorizont"/>
              </a:defRPr>
            </a:pPr>
            <a:r>
              <a:rPr sz="2250" b="1">
                <a:solidFill>
                  <a:srgbClr val="FFFFFF"/>
                </a:solidFill>
                <a:latin typeface="ALS Gorizont"/>
                <a:ea typeface="ALS Gorizont"/>
                <a:cs typeface="ALS Gorizont"/>
              </a:rPr>
              <a:t>Цель и задачи</a:t>
            </a:r>
          </a:p>
        </p:txBody>
      </p:sp>
      <p:sp>
        <p:nvSpPr>
          <p:cNvPr id="4" name="TXT8">
            <a:extLst>
              <a:ext uri="{FF2B5EF4-FFF2-40B4-BE49-F238E27FC236}">
                <ns2:creationId id="{8BEA4723-BC97-48AB-B9B5-2ED4F7795528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4286250" cy="2524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2325" b="1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Построить</a:t>
            </a:r>
          </a:p>
          <a:p>
            <a:pPr algn="l">
              <a:defRPr sz="2325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2325" b="1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функциональную</a:t>
            </a:r>
          </a:p>
          <a:p>
            <a:pPr algn="l">
              <a:defRPr sz="2325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2325" b="1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DFD-модель</a:t>
            </a:r>
          </a:p>
          <a:p>
            <a:pPr algn="l">
              <a:defRPr sz="2325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2325" b="1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сервиса поиска</a:t>
            </a:r>
          </a:p>
          <a:p>
            <a:pPr algn="l">
              <a:defRPr sz="2325" b="1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2325" b="1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и возврата вещей</a:t>
            </a:r>
          </a:p>
        </p:txBody>
      </p:sp>
      <p:sp>
        <p:nvSpPr>
          <p:cNvPr id="5" name="TXT9">
            <a:extLst>
              <a:ext uri="{FF2B5EF4-FFF2-40B4-BE49-F238E27FC236}">
                <ns2:creationId id="{CC2524DB-4118-4C95-81A0-A3BB7C08C1B5}"/>
              </a:ext>
            </a:extLst>
          </p:cNvPr>
          <p:cNvSpPr>
            <a:spLocks noGrp="1"/>
          </p:cNvSpPr>
          <p:nvPr/>
        </p:nvSpPr>
        <p:spPr>
          <a:xfrm>
            <a:off x="5667375" y="1219200"/>
            <a:ext cx="2762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9F00FF"/>
                </a:solidFill>
                <a:latin typeface="ALS Gorizont"/>
                <a:ea typeface="ALS Gorizont"/>
                <a:cs typeface="ALS Gorizont"/>
              </a:defRPr>
            </a:pPr>
            <a:r>
              <a:rPr sz="1800" b="1">
                <a:solidFill>
                  <a:srgbClr val="9F00FF"/>
                </a:solidFill>
                <a:latin typeface="ALS Gorizont"/>
                <a:ea typeface="ALS Gorizont"/>
                <a:cs typeface="ALS Gorizont"/>
              </a:rPr>
              <a:t>Этапы работы</a:t>
            </a:r>
          </a:p>
        </p:txBody>
      </p:sp>
      <p:sp>
        <p:nvSpPr>
          <p:cNvPr id="6" name="TXT10">
            <a:extLst>
              <a:ext uri="{FF2B5EF4-FFF2-40B4-BE49-F238E27FC236}">
                <ns2:creationId id="{D6374FA4-32FB-4BD3-AB2B-80C01C37F994}"/>
              </a:ext>
            </a:extLst>
          </p:cNvPr>
          <p:cNvSpPr>
            <a:spLocks noGrp="1"/>
          </p:cNvSpPr>
          <p:nvPr/>
        </p:nvSpPr>
        <p:spPr>
          <a:xfrm>
            <a:off x="5667375" y="1857375"/>
            <a:ext cx="2686050" cy="2628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1. Границы и участники</a:t>
            </a:r>
          </a:p>
          <a:p>
            <a:r>
              <a:t/>
            </a:r>
          </a:p>
          <a:p>
            <a:pPr algn="l">
              <a:def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2. Матрица событий</a:t>
            </a:r>
          </a:p>
          <a:p>
            <a:r>
              <a:t/>
            </a:r>
          </a:p>
          <a:p>
            <a:pPr algn="l">
              <a:def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3. Диаграммы A−0 и A0</a:t>
            </a:r>
          </a:p>
          <a:p>
            <a:r>
              <a:t/>
            </a:r>
          </a:p>
          <a:p>
            <a:pPr algn="l">
              <a:def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4. Детализация на A1</a:t>
            </a:r>
          </a:p>
          <a:p>
            <a:r>
              <a:t/>
            </a:r>
          </a:p>
          <a:p>
            <a:pPr algn="l">
              <a:def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75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5. Баланс потоков</a:t>
            </a:r>
          </a:p>
        </p:txBody>
      </p:sp>
    </p:spTree>
    <p:extLst>
      <p:ext uri="{BB962C8B-B14F-4D97-AF65-F5344CB8AC3E}">
        <ns3:creationId val="3998376298"/>
      </p:ext>
    </p:extLst>
  </p:cSld>
  <p:clrMapOvr>
    <a:masterClrMapping/>
  </p:clrMapOvr>
</p:sld>
</file>

<file path=ppt/slides/itmo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PLATE-DECOR-MASK-4">
            <a:extLst>
              <a:ext uri="{FF2B5EF4-FFF2-40B4-BE49-F238E27FC236}">
                <ns2:creationId id="{1DA0BAD8-127D-4D84-A53A-32282B8D9899}"/>
              </a:ext>
            </a:extLst>
          </p:cNvPr>
          <p:cNvSpPr>
            <a:spLocks noGrp="1"/>
          </p:cNvSpPr>
          <p:nvPr/>
        </p:nvSpPr>
        <p:spPr>
          <a:xfrm>
            <a:off x="3505200" y="1190625"/>
            <a:ext cx="600075" cy="285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TEMPLATE-DECOR-MASK-4">
            <a:extLst>
              <a:ext uri="{FF2B5EF4-FFF2-40B4-BE49-F238E27FC236}">
                <ns2:creationId id="{899BC4A7-08E1-48EA-9EEA-D4BAC503AC7B}"/>
              </a:ext>
            </a:extLst>
          </p:cNvPr>
          <p:cNvSpPr>
            <a:spLocks noGrp="1"/>
          </p:cNvSpPr>
          <p:nvPr/>
        </p:nvSpPr>
        <p:spPr>
          <a:xfrm>
            <a:off x="8029575" y="2409825"/>
            <a:ext cx="600075" cy="285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4" name="TXT11">
            <a:extLst>
              <a:ext uri="{FF2B5EF4-FFF2-40B4-BE49-F238E27FC236}">
                <ns2:creationId id="{E9C37548-649A-42E4-AF69-31E20187FD0B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65722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LS Gorizont"/>
                <a:ea typeface="ALS Gorizont"/>
                <a:cs typeface="ALS Gorizont"/>
              </a:defRPr>
            </a:pPr>
            <a:r>
              <a:rPr sz="2100" b="1">
                <a:solidFill>
                  <a:srgbClr val="FFFFFF"/>
                </a:solidFill>
                <a:latin typeface="ALS Gorizont"/>
                <a:ea typeface="ALS Gorizont"/>
                <a:cs typeface="ALS Gorizont"/>
              </a:rPr>
              <a:t>Методология и инструменты</a:t>
            </a:r>
          </a:p>
        </p:txBody>
      </p:sp>
      <p:sp>
        <p:nvSpPr>
          <p:cNvPr id="5" name="TXT12">
            <a:extLst>
              <a:ext uri="{FF2B5EF4-FFF2-40B4-BE49-F238E27FC236}">
                <ns2:creationId id="{E19C0CD4-F69E-47A2-B966-9C86C9BB3E9E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3381375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9F00FF"/>
                </a:solidFill>
                <a:latin typeface="ALS Gorizont"/>
                <a:ea typeface="ALS Gorizont"/>
                <a:cs typeface="ALS Gorizont"/>
              </a:defRPr>
            </a:pPr>
            <a:r>
              <a:rPr sz="1875" b="1">
                <a:solidFill>
                  <a:srgbClr val="9F00FF"/>
                </a:solidFill>
                <a:latin typeface="ALS Gorizont"/>
                <a:ea typeface="ALS Gorizont"/>
                <a:cs typeface="ALS Gorizont"/>
              </a:rPr>
              <a:t>Методология</a:t>
            </a:r>
          </a:p>
        </p:txBody>
      </p:sp>
      <p:sp>
        <p:nvSpPr>
          <p:cNvPr id="6" name="TXT13">
            <a:extLst>
              <a:ext uri="{FF2B5EF4-FFF2-40B4-BE49-F238E27FC236}">
                <ns2:creationId id="{7F989BAA-A2BF-43BF-9CE5-B19B6E9165EB}"/>
              </a:ext>
            </a:extLst>
          </p:cNvPr>
          <p:cNvSpPr>
            <a:spLocks noGrp="1"/>
          </p:cNvSpPr>
          <p:nvPr/>
        </p:nvSpPr>
        <p:spPr>
          <a:xfrm>
            <a:off x="609600" y="1762125"/>
            <a:ext cx="3371850" cy="1552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650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DFD · Gane–Sarson</a:t>
            </a:r>
          </a:p>
          <a:p>
            <a:r>
              <a:t/>
            </a:r>
          </a:p>
          <a:p>
            <a:pPr algn="l">
              <a:defRPr sz="1650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650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A−0 → A0 → A1</a:t>
            </a:r>
          </a:p>
          <a:p>
            <a:r>
              <a:t/>
            </a:r>
          </a:p>
          <a:p>
            <a:pPr algn="l">
              <a:defRPr sz="1650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650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Процессы, сущности,</a:t>
            </a:r>
          </a:p>
          <a:p>
            <a:pPr algn="l">
              <a:defRPr sz="1650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650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потоки и накопители</a:t>
            </a:r>
          </a:p>
        </p:txBody>
      </p:sp>
      <p:sp>
        <p:nvSpPr>
          <p:cNvPr id="7" name="TXT14">
            <a:extLst>
              <a:ext uri="{FF2B5EF4-FFF2-40B4-BE49-F238E27FC236}">
                <ns2:creationId id="{117ED18A-27D5-4E47-964F-4E0A10914CBF}"/>
              </a:ext>
            </a:extLst>
          </p:cNvPr>
          <p:cNvSpPr>
            <a:spLocks noGrp="1"/>
          </p:cNvSpPr>
          <p:nvPr/>
        </p:nvSpPr>
        <p:spPr>
          <a:xfrm>
            <a:off x="5219700" y="2524125"/>
            <a:ext cx="3286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9F00FF"/>
                </a:solidFill>
                <a:latin typeface="ALS Gorizont"/>
                <a:ea typeface="ALS Gorizont"/>
                <a:cs typeface="ALS Gorizont"/>
              </a:defRPr>
            </a:pPr>
            <a:r>
              <a:rPr sz="1875" b="1">
                <a:solidFill>
                  <a:srgbClr val="9F00FF"/>
                </a:solidFill>
                <a:latin typeface="ALS Gorizont"/>
                <a:ea typeface="ALS Gorizont"/>
                <a:cs typeface="ALS Gorizont"/>
              </a:rPr>
              <a:t>Инструменты</a:t>
            </a:r>
          </a:p>
        </p:txBody>
      </p:sp>
      <p:sp>
        <p:nvSpPr>
          <p:cNvPr id="8" name="TXT15">
            <a:extLst>
              <a:ext uri="{FF2B5EF4-FFF2-40B4-BE49-F238E27FC236}">
                <ns2:creationId id="{41B39DB2-7DAC-4FFB-B037-DFC1BD43A8B7}"/>
              </a:ext>
            </a:extLst>
          </p:cNvPr>
          <p:cNvSpPr>
            <a:spLocks noGrp="1"/>
          </p:cNvSpPr>
          <p:nvPr/>
        </p:nvSpPr>
        <p:spPr>
          <a:xfrm>
            <a:off x="5219700" y="3048000"/>
            <a:ext cx="3190875" cy="1533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Figma</a:t>
            </a:r>
          </a:p>
          <a:p>
            <a:pPr algn="l">
              <a:defRPr sz="1500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Построение моделей</a:t>
            </a:r>
          </a:p>
          <a:p>
            <a:r>
              <a:t/>
            </a:r>
          </a:p>
          <a:p>
            <a:pPr algn="l">
              <a:defRPr sz="1500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PowerPoint</a:t>
            </a:r>
          </a:p>
          <a:p>
            <a:pPr algn="l">
              <a:defRPr sz="1500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500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Презентация результатов</a:t>
            </a:r>
          </a:p>
        </p:txBody>
      </p:sp>
    </p:spTree>
    <p:extLst>
      <p:ext uri="{BB962C8B-B14F-4D97-AF65-F5344CB8AC3E}">
        <ns3:creationId val="1043540765"/>
      </p:ext>
    </p:extLst>
  </p:cSld>
  <p:clrMapOvr>
    <a:masterClrMapping/>
  </p:clrMapOvr>
</p:sld>
</file>

<file path=ppt/slides/itmo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PLATE-DECOR-MASK-5">
            <a:extLst>
              <a:ext uri="{FF2B5EF4-FFF2-40B4-BE49-F238E27FC236}">
                <ns2:creationId id="{BCB203C1-0557-4FB6-BADF-0FD8242BEB69}"/>
              </a:ext>
            </a:extLst>
          </p:cNvPr>
          <p:cNvSpPr>
            <a:spLocks noGrp="1"/>
          </p:cNvSpPr>
          <p:nvPr/>
        </p:nvSpPr>
        <p:spPr>
          <a:xfrm>
            <a:off x="8029575" y="1190625"/>
            <a:ext cx="600075" cy="285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TXT16">
            <a:extLst>
              <a:ext uri="{FF2B5EF4-FFF2-40B4-BE49-F238E27FC236}">
                <ns2:creationId id="{49A16E24-6E72-4697-986D-28149ACD085F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65722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defRPr>
            </a:pPr>
            <a:r>
              <a: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rPr>
              <a:t>Матрица событий · 1–3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="514350" y="1219200"/>
          <a:ext cx="8115300" cy="3238500"/>
        </p:xfrm>
        <a:graphic>
          <a:graphicData uri="http://schemas.openxmlformats.org/drawingml/2006/table">
            <a:tbl>
              <a:tblPr/>
              <a:tblGrid>
                <a:gridCol w="1562100"/>
                <a:gridCol w="1171575"/>
                <a:gridCol w="1381125"/>
                <a:gridCol w="2009775"/>
                <a:gridCol w="1990725"/>
              </a:tblGrid>
              <a:tr h="323850"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Событие</a:t>
                      </a:r>
                    </a:p>
                  </a:txBody>
                  <a:tcPr marL="91440" marR="91440" marT="45720" marB="45720" anchor="ctr">
                    <a:solidFill>
                      <a:srgbClr val="9F00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Источник</a:t>
                      </a:r>
                    </a:p>
                  </a:txBody>
                  <a:tcPr marL="91440" marR="91440" marT="45720" marB="45720" anchor="ctr">
                    <a:solidFill>
                      <a:srgbClr val="9F00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Процесс</a:t>
                      </a:r>
                    </a:p>
                  </a:txBody>
                  <a:tcPr marL="91440" marR="91440" marT="45720" marB="45720" anchor="ctr">
                    <a:solidFill>
                      <a:srgbClr val="9F00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Входные данные</a:t>
                      </a:r>
                    </a:p>
                  </a:txBody>
                  <a:tcPr marL="91440" marR="91440" marT="45720" marB="45720" anchor="ctr">
                    <a:solidFill>
                      <a:srgbClr val="9F00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Выходные данные</a:t>
                      </a:r>
                    </a:p>
                  </a:txBody>
                  <a:tcPr marL="91440" marR="91440" marT="45720" marB="45720" anchor="ctr">
                    <a:solidFill>
                      <a:srgbClr val="9F00FF"/>
                    </a:solidFill>
                  </a:tcPr>
                </a:tc>
              </a:tr>
              <a:tr h="971550"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Регистрация, вход,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изменение профиля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Пользователь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1. Управлять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пользователями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Учётные данные, профиль;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данные D1 и D9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Профиль и результат входа;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запись D1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Создание, изменение,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закрытие объявления;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решение модерации</a:t>
                      </a:r>
                    </a:p>
                  </a:txBody>
                  <a:tcPr marL="91440" marR="91440" marT="45720" marB="45720" anchor="ctr">
                    <a:solidFill>
                      <a:srgbClr val="FAF5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Пользователь,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процесс 6</a:t>
                      </a:r>
                    </a:p>
                  </a:txBody>
                  <a:tcPr marL="91440" marR="91440" marT="45720" marB="45720" anchor="ctr">
                    <a:solidFill>
                      <a:srgbClr val="FAF5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2. Управлять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объявлениями</a:t>
                      </a:r>
                    </a:p>
                  </a:txBody>
                  <a:tcPr marL="91440" marR="91440" marT="45720" marB="45720" anchor="ctr">
                    <a:solidFill>
                      <a:srgbClr val="FAF5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Данные объявления;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данные D2–D4 и D9;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решение модерации</a:t>
                      </a:r>
                    </a:p>
                  </a:txBody>
                  <a:tcPr marL="91440" marR="91440" marT="45720" marB="45720" anchor="ctr">
                    <a:solidFill>
                      <a:srgbClr val="FAF5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Карточка и статус;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запись D2–D4;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материалы → 6;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данные → 4</a:t>
                      </a:r>
                    </a:p>
                  </a:txBody>
                  <a:tcPr marL="91440" marR="91440" marT="45720" marB="45720" anchor="ctr">
                    <a:solidFill>
                      <a:srgbClr val="FAF5FF"/>
                    </a:solidFill>
                  </a:tcPr>
                </a:tc>
              </a:tr>
              <a:tr h="971550"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Запрос поиска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Пользователь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3. Искать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и фильтровать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объявления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Поисковый запрос, фильтры;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данные D2–D4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Результаты поиска: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только PUBLISHED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XT17">
            <a:extLst>
              <a:ext uri="{FF2B5EF4-FFF2-40B4-BE49-F238E27FC236}">
                <ns2:creationId id="{F3758A7B-CC49-4CA8-AD55-31F2C80A9395}"/>
              </a:ext>
            </a:extLst>
          </p:cNvPr>
          <p:cNvSpPr>
            <a:spLocks noGrp="1"/>
          </p:cNvSpPr>
          <p:nvPr/>
        </p:nvSpPr>
        <p:spPr>
          <a:xfrm>
            <a:off x="533400" y="4543425"/>
            <a:ext cx="8067675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0">
                <a:solidFill>
                  <a:srgbClr val="555555"/>
                </a:solidFill>
                <a:latin typeface="Golos Text"/>
                <a:ea typeface="Golos Text"/>
                <a:cs typeface="Golos Text"/>
              </a:defRPr>
            </a:pPr>
            <a:r>
              <a:rPr sz="900" b="0">
                <a:solidFill>
                  <a:srgbClr val="555555"/>
                </a:solidFill>
                <a:latin typeface="Golos Text"/>
                <a:ea typeface="Golos Text"/>
                <a:cs typeface="Golos Text"/>
              </a:rPr>
              <a:t>D1–D9 — логические накопители; стрелки указывают получателя данных</a:t>
            </a:r>
          </a:p>
        </p:txBody>
      </p:sp>
    </p:spTree>
    <p:extLst>
      <p:ext uri="{BB962C8B-B14F-4D97-AF65-F5344CB8AC3E}">
        <ns3:creationId val="4287535555"/>
      </p:ext>
    </p:extLst>
  </p:cSld>
  <p:clrMapOvr>
    <a:masterClrMapping/>
  </p:clrMapOvr>
</p:sld>
</file>

<file path=ppt/slides/itmo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PLATE-DECOR-MASK-6">
            <a:extLst>
              <a:ext uri="{FF2B5EF4-FFF2-40B4-BE49-F238E27FC236}">
                <ns2:creationId id="{3DB76A90-CFFA-4ABB-99EE-6D0FE6CA3654}"/>
              </a:ext>
            </a:extLst>
          </p:cNvPr>
          <p:cNvSpPr>
            <a:spLocks noGrp="1"/>
          </p:cNvSpPr>
          <p:nvPr/>
        </p:nvSpPr>
        <p:spPr>
          <a:xfrm>
            <a:off x="8029575" y="1190625"/>
            <a:ext cx="600075" cy="285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TXT18">
            <a:extLst>
              <a:ext uri="{FF2B5EF4-FFF2-40B4-BE49-F238E27FC236}">
                <ns2:creationId id="{518F6C81-D6B0-41B0-B310-4987E745BA22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65722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defRPr>
            </a:pPr>
            <a:r>
              <a: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rPr>
              <a:t>Матрица событий · 4–6</a:t>
            </a:r>
          </a:p>
        </p:txBody>
      </p:sp>
      <p:graphicFrame>
        <p:nvGraphicFramePr>
          <p:cNvPr id="4" name=""/>
          <p:cNvGraphicFramePr/>
          <p:nvPr/>
        </p:nvGraphicFramePr>
        <p:xfrm>
          <a:off x="514350" y="1219200"/>
          <a:ext cx="8115300" cy="3238500"/>
        </p:xfrm>
        <a:graphic>
          <a:graphicData uri="http://schemas.openxmlformats.org/drawingml/2006/table">
            <a:tbl>
              <a:tblPr/>
              <a:tblGrid>
                <a:gridCol w="1562100"/>
                <a:gridCol w="1171575"/>
                <a:gridCol w="1381125"/>
                <a:gridCol w="2009775"/>
                <a:gridCol w="1990725"/>
              </a:tblGrid>
              <a:tr h="323850"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Событие</a:t>
                      </a:r>
                    </a:p>
                  </a:txBody>
                  <a:tcPr marL="91440" marR="91440" marT="45720" marB="45720" anchor="ctr">
                    <a:solidFill>
                      <a:srgbClr val="9F00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Источник</a:t>
                      </a:r>
                    </a:p>
                  </a:txBody>
                  <a:tcPr marL="91440" marR="91440" marT="45720" marB="45720" anchor="ctr">
                    <a:solidFill>
                      <a:srgbClr val="9F00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Процесс</a:t>
                      </a:r>
                    </a:p>
                  </a:txBody>
                  <a:tcPr marL="91440" marR="91440" marT="45720" marB="45720" anchor="ctr">
                    <a:solidFill>
                      <a:srgbClr val="9F00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Входные данные</a:t>
                      </a:r>
                    </a:p>
                  </a:txBody>
                  <a:tcPr marL="91440" marR="91440" marT="45720" marB="45720" anchor="ctr">
                    <a:solidFill>
                      <a:srgbClr val="9F00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Golos Text"/>
                          <a:ea typeface="Golos Text"/>
                          <a:cs typeface="Golos Text"/>
                        </a:rPr>
                        <a:t>Выходные данные</a:t>
                      </a:r>
                    </a:p>
                  </a:txBody>
                  <a:tcPr marL="91440" marR="91440" marT="45720" marB="45720" anchor="ctr">
                    <a:solidFill>
                      <a:srgbClr val="9F00FF"/>
                    </a:solidFill>
                  </a:tcPr>
                </a:tc>
              </a:tr>
              <a:tr h="971550"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Изменение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объявления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Процесс 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4. Сопоставлять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объявления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Данные объявления;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данные D2, D4 и D5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Совпадения и состояния → D5;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новое совпадение → 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Сообщение, запрос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истории или контакта;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новое совпадение</a:t>
                      </a:r>
                    </a:p>
                  </a:txBody>
                  <a:tcPr marL="91440" marR="91440" marT="45720" marB="45720" anchor="ctr">
                    <a:solidFill>
                      <a:srgbClr val="FAF5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Пользователь,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процесс 4</a:t>
                      </a:r>
                    </a:p>
                  </a:txBody>
                  <a:tcPr marL="91440" marR="91440" marT="45720" marB="45720" anchor="ctr">
                    <a:solidFill>
                      <a:srgbClr val="FAF5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5. Организовывать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взаимодействие</a:t>
                      </a:r>
                    </a:p>
                  </a:txBody>
                  <a:tcPr marL="91440" marR="91440" marT="45720" marB="45720" anchor="ctr">
                    <a:solidFill>
                      <a:srgbClr val="FAF5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Запрос взаимодействия;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новое совпадение;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данные D1, D6, D7 и D9</a:t>
                      </a:r>
                    </a:p>
                  </a:txBody>
                  <a:tcPr marL="91440" marR="91440" marT="45720" marB="45720" anchor="ctr">
                    <a:solidFill>
                      <a:srgbClr val="FAF5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Сообщения, контакты,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уведомления;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запись D6 и D7</a:t>
                      </a:r>
                    </a:p>
                  </a:txBody>
                  <a:tcPr marL="91440" marR="91440" marT="45720" marB="45720" anchor="ctr">
                    <a:solidFill>
                      <a:srgbClr val="FAF5FF"/>
                    </a:solidFill>
                  </a:tcPr>
                </a:tc>
              </a:tr>
              <a:tr h="971550"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Объявление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на проверку; жалоба;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решение модератора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Пользователь,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модератор,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процесс 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6. Обеспечивать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модерацию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и безопасность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Материалы, жалоба, решение;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данные D1–D4, D8 и D9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Autofit/>
                    </a:bodyPr>
                    <a:lstStyle/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Материалы → модератору;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статус жалобы;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запись D8, D9;</a:t>
                      </a:r>
                    </a:p>
                    <a:p>
                      <a:pPr algn="l"/>
                      <a:r>
                        <a:rPr sz="1065" b="0">
                          <a:solidFill>
                            <a:srgbClr val="151515"/>
                          </a:solidFill>
                          <a:latin typeface="Golos Text"/>
                          <a:ea typeface="Golos Text"/>
                          <a:cs typeface="Golos Text"/>
                        </a:rPr>
                        <a:t>решение → 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XT19">
            <a:extLst>
              <a:ext uri="{FF2B5EF4-FFF2-40B4-BE49-F238E27FC236}">
                <ns2:creationId id="{36066821-9F18-43F8-8F86-3B12FD27C55A}"/>
              </a:ext>
            </a:extLst>
          </p:cNvPr>
          <p:cNvSpPr>
            <a:spLocks noGrp="1"/>
          </p:cNvSpPr>
          <p:nvPr/>
        </p:nvSpPr>
        <p:spPr>
          <a:xfrm>
            <a:off x="533400" y="4543425"/>
            <a:ext cx="8067675" cy="180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900" b="0">
                <a:solidFill>
                  <a:srgbClr val="555555"/>
                </a:solidFill>
                <a:latin typeface="Golos Text"/>
                <a:ea typeface="Golos Text"/>
                <a:cs typeface="Golos Text"/>
              </a:defRPr>
            </a:pPr>
            <a:r>
              <a:rPr sz="900" b="0">
                <a:solidFill>
                  <a:srgbClr val="555555"/>
                </a:solidFill>
                <a:latin typeface="Golos Text"/>
                <a:ea typeface="Golos Text"/>
                <a:cs typeface="Golos Text"/>
              </a:rPr>
              <a:t>D1–D9 — логические накопители; стрелки указывают получателя данных</a:t>
            </a:r>
          </a:p>
        </p:txBody>
      </p:sp>
    </p:spTree>
    <p:extLst>
      <p:ext uri="{BB962C8B-B14F-4D97-AF65-F5344CB8AC3E}">
        <ns3:creationId val="4287535555"/>
      </p:ext>
    </p:extLst>
  </p:cSld>
  <p:clrMapOvr>
    <a:masterClrMapping/>
  </p:clrMapOvr>
</p:sld>
</file>

<file path=ppt/slides/itmo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PLATE-DECOR-MASK-7">
            <a:extLst>
              <a:ext uri="{FF2B5EF4-FFF2-40B4-BE49-F238E27FC236}">
                <ns2:creationId id="{FC4A1887-7EB0-4B92-8AFB-180185D836B8}"/>
              </a:ext>
            </a:extLst>
          </p:cNvPr>
          <p:cNvSpPr>
            <a:spLocks noGrp="1"/>
          </p:cNvSpPr>
          <p:nvPr/>
        </p:nvSpPr>
        <p:spPr>
          <a:xfrm>
            <a:off x="8029575" y="1190625"/>
            <a:ext cx="600075" cy="285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TXT20">
            <a:extLst>
              <a:ext uri="{FF2B5EF4-FFF2-40B4-BE49-F238E27FC236}">
                <ns2:creationId id="{68E9D0E0-6E9A-467F-858E-3FF76C5474EF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65722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defRPr>
            </a:pPr>
            <a:r>
              <a: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rPr>
              <a:t>A−0 · границы системы</a:t>
            </a:r>
          </a:p>
        </p:txBody>
      </p:sp>
      <p:pic>
        <p:nvPicPr>
          <p:cNvPr id="4" name=""/>
          <p:cNvPicPr>
            <a:picLocks noChangeAspect="1"/>
          </p:cNvPicPr>
          <p:nvPr/>
        </p:nvPicPr>
        <p:blipFill>
          <a:blip r:embed="overlay_Ra02b0fb3719e49cc"/>
          <a:stretch/>
        </p:blipFill>
        <p:spPr>
          <a:xfrm>
            <a:off x="960821" y="1123950"/>
            <a:ext cx="7279508" cy="3609975"/>
          </a:xfrm>
          <a:prstGeom prst="rect">
            <a:avLst/>
          </a:prstGeom>
        </p:spPr>
      </p:pic>
    </p:spTree>
    <p:extLst>
      <p:ext uri="{BB962C8B-B14F-4D97-AF65-F5344CB8AC3E}">
        <ns4:creationId val="4287535555"/>
      </p:ext>
    </p:extLst>
  </p:cSld>
  <p:clrMapOvr>
    <a:masterClrMapping/>
  </p:clrMapOvr>
</p:sld>
</file>

<file path=ppt/slides/itmoSlide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PLATE-DECOR-MASK-8">
            <a:extLst>
              <a:ext uri="{FF2B5EF4-FFF2-40B4-BE49-F238E27FC236}">
                <ns2:creationId id="{42A6E5B4-9EA4-49BA-A721-FA5391F6D7DE}"/>
              </a:ext>
            </a:extLst>
          </p:cNvPr>
          <p:cNvSpPr>
            <a:spLocks noGrp="1"/>
          </p:cNvSpPr>
          <p:nvPr/>
        </p:nvSpPr>
        <p:spPr>
          <a:xfrm>
            <a:off x="8029575" y="1190625"/>
            <a:ext cx="600075" cy="285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TXT21">
            <a:extLst>
              <a:ext uri="{FF2B5EF4-FFF2-40B4-BE49-F238E27FC236}">
                <ns2:creationId id="{7E24929F-DD37-4D78-8595-A6AD898A5E7B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65722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defRPr>
            </a:pPr>
            <a:r>
              <a: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rPr>
              <a:t>A0 · функциональная модель</a:t>
            </a:r>
          </a:p>
        </p:txBody>
      </p:sp>
      <p:pic>
        <p:nvPicPr>
          <p:cNvPr id="4" name=""/>
          <p:cNvPicPr>
            <a:picLocks noChangeAspect="1"/>
          </p:cNvPicPr>
          <p:nvPr/>
        </p:nvPicPr>
        <p:blipFill>
          <a:blip r:embed="overlay_Rff87b4b2b36d4b95"/>
          <a:stretch/>
        </p:blipFill>
        <p:spPr>
          <a:xfrm>
            <a:off x="2122276" y="1095375"/>
            <a:ext cx="4956597" cy="3657600"/>
          </a:xfrm>
          <a:prstGeom prst="rect">
            <a:avLst/>
          </a:prstGeom>
        </p:spPr>
      </p:pic>
    </p:spTree>
    <p:extLst>
      <p:ext uri="{BB962C8B-B14F-4D97-AF65-F5344CB8AC3E}">
        <ns4:creationId val="4287535555"/>
      </p:ext>
    </p:extLst>
  </p:cSld>
  <p:clrMapOvr>
    <a:masterClrMapping/>
  </p:clrMapOvr>
</p:sld>
</file>

<file path=ppt/slides/itmo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PLATE-DECOR-MASK-9">
            <a:extLst>
              <a:ext uri="{FF2B5EF4-FFF2-40B4-BE49-F238E27FC236}">
                <ns2:creationId id="{42357F59-869B-4B59-8EE6-9F597AA8D782}"/>
              </a:ext>
            </a:extLst>
          </p:cNvPr>
          <p:cNvSpPr>
            <a:spLocks noGrp="1"/>
          </p:cNvSpPr>
          <p:nvPr/>
        </p:nvSpPr>
        <p:spPr>
          <a:xfrm>
            <a:off x="8029575" y="1190625"/>
            <a:ext cx="600075" cy="285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sp>
        <p:nvSpPr>
          <p:cNvPr id="3" name="TXT22">
            <a:extLst>
              <a:ext uri="{FF2B5EF4-FFF2-40B4-BE49-F238E27FC236}">
                <ns2:creationId id="{69C8DA11-011B-4CFA-B92F-D6160129F2A9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65722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defRPr>
            </a:pPr>
            <a:r>
              <a: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rPr>
              <a:t>A1 · управление пользователями</a:t>
            </a:r>
          </a:p>
        </p:txBody>
      </p:sp>
      <p:pic>
        <p:nvPicPr>
          <p:cNvPr id="4" name=""/>
          <p:cNvPicPr>
            <a:picLocks noChangeAspect="1"/>
          </p:cNvPicPr>
          <p:nvPr/>
        </p:nvPicPr>
        <p:blipFill>
          <a:blip r:embed="overlay_R837fba83b34d4808"/>
          <a:stretch/>
        </p:blipFill>
        <p:spPr>
          <a:xfrm>
            <a:off x="828675" y="1095375"/>
            <a:ext cx="7543800" cy="3657600"/>
          </a:xfrm>
          <a:prstGeom prst="rect">
            <a:avLst/>
          </a:prstGeom>
        </p:spPr>
      </p:pic>
    </p:spTree>
    <p:extLst>
      <p:ext uri="{BB962C8B-B14F-4D97-AF65-F5344CB8AC3E}">
        <ns4:creationId val="4287535555"/>
      </p:ext>
    </p:extLst>
  </p:cSld>
  <p:clrMapOvr>
    <a:masterClrMapping/>
  </p:clrMapOvr>
</p:sld>
</file>

<file path=ppt/slides/itmo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23">
            <a:extLst>
              <a:ext uri="{FF2B5EF4-FFF2-40B4-BE49-F238E27FC236}">
                <ns2:creationId id="{0EF9B59D-4E5E-4AD8-9EBD-15D9CAE38F81}"/>
              </a:ext>
            </a:extLst>
          </p:cNvPr>
          <p:cNvSpPr>
            <a:spLocks noGrp="1"/>
          </p:cNvSpPr>
          <p:nvPr/>
        </p:nvSpPr>
        <p:spPr>
          <a:xfrm>
            <a:off x="523875" y="266700"/>
            <a:ext cx="657225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defRPr>
            </a:pPr>
            <a:r>
              <a:rPr sz="2100" b="1">
                <a:solidFill>
                  <a:srgbClr val="151515"/>
                </a:solidFill>
                <a:latin typeface="ALS Gorizont"/>
                <a:ea typeface="ALS Gorizont"/>
                <a:cs typeface="ALS Gorizont"/>
              </a:rPr>
              <a:t>Выводы</a:t>
            </a:r>
          </a:p>
        </p:txBody>
      </p:sp>
      <p:sp>
        <p:nvSpPr>
          <p:cNvPr id="3" name="TXT24">
            <a:extLst>
              <a:ext uri="{FF2B5EF4-FFF2-40B4-BE49-F238E27FC236}">
                <ns2:creationId id="{CE237ECA-1316-465A-89C8-0E95CD48A0E6}"/>
              </a:ext>
            </a:extLst>
          </p:cNvPr>
          <p:cNvSpPr>
            <a:spLocks noGrp="1"/>
          </p:cNvSpPr>
          <p:nvPr/>
        </p:nvSpPr>
        <p:spPr>
          <a:xfrm>
            <a:off x="657225" y="1219200"/>
            <a:ext cx="338137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325" b="1">
                <a:solidFill>
                  <a:srgbClr val="151515"/>
                </a:solidFill>
                <a:latin typeface="ALS Gorizont"/>
                <a:ea typeface="ALS Gorizont"/>
                <a:cs typeface="ALS Gorizont"/>
              </a:defRPr>
            </a:pPr>
            <a:r>
              <a:rPr sz="2325" b="1">
                <a:solidFill>
                  <a:srgbClr val="151515"/>
                </a:solidFill>
                <a:latin typeface="ALS Gorizont"/>
                <a:ea typeface="ALS Gorizont"/>
                <a:cs typeface="ALS Gorizont"/>
              </a:rPr>
              <a:t>6 процессов</a:t>
            </a:r>
          </a:p>
        </p:txBody>
      </p:sp>
      <p:sp>
        <p:nvSpPr>
          <p:cNvPr id="4" name="TXT25">
            <a:extLst>
              <a:ext uri="{FF2B5EF4-FFF2-40B4-BE49-F238E27FC236}">
                <ns2:creationId id="{86F25C2E-8BF3-429F-87FB-F627AD3D2F81}"/>
              </a:ext>
            </a:extLst>
          </p:cNvPr>
          <p:cNvSpPr>
            <a:spLocks noGrp="1"/>
          </p:cNvSpPr>
          <p:nvPr/>
        </p:nvSpPr>
        <p:spPr>
          <a:xfrm>
            <a:off x="657225" y="1905000"/>
            <a:ext cx="3381375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800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Границы и роли</a:t>
            </a:r>
          </a:p>
          <a:p>
            <a:pPr algn="l">
              <a:defRPr sz="1800" b="0">
                <a:solidFill>
                  <a:srgbClr val="151515"/>
                </a:solidFill>
                <a:latin typeface="Golos Text"/>
                <a:ea typeface="Golos Text"/>
                <a:cs typeface="Golos Text"/>
              </a:defRPr>
            </a:pPr>
            <a:r>
              <a:rPr sz="1800" b="0">
                <a:solidFill>
                  <a:srgbClr val="151515"/>
                </a:solidFill>
                <a:latin typeface="Golos Text"/>
                <a:ea typeface="Golos Text"/>
                <a:cs typeface="Golos Text"/>
              </a:rPr>
              <a:t>участников определены</a:t>
            </a:r>
          </a:p>
        </p:txBody>
      </p:sp>
      <p:sp>
        <p:nvSpPr>
          <p:cNvPr id="5" name="TXT26">
            <a:extLst>
              <a:ext uri="{FF2B5EF4-FFF2-40B4-BE49-F238E27FC236}">
                <ns2:creationId id="{5BCCCB44-858F-4B29-8ABE-50B0DAA0B676}"/>
              </a:ext>
            </a:extLst>
          </p:cNvPr>
          <p:cNvSpPr>
            <a:spLocks noGrp="1"/>
          </p:cNvSpPr>
          <p:nvPr/>
        </p:nvSpPr>
        <p:spPr>
          <a:xfrm>
            <a:off x="657225" y="3209925"/>
            <a:ext cx="33813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ALS Gorizont"/>
                <a:ea typeface="ALS Gorizont"/>
                <a:cs typeface="ALS Gorizont"/>
              </a:defRPr>
            </a:pPr>
            <a:r>
              <a:rPr sz="2250" b="1">
                <a:solidFill>
                  <a:srgbClr val="FFFFFF"/>
                </a:solidFill>
                <a:latin typeface="ALS Gorizont"/>
                <a:ea typeface="ALS Gorizont"/>
                <a:cs typeface="ALS Gorizont"/>
              </a:rPr>
              <a:t>9 накопителей</a:t>
            </a:r>
          </a:p>
        </p:txBody>
      </p:sp>
      <p:sp>
        <p:nvSpPr>
          <p:cNvPr id="6" name="TXT27">
            <a:extLst>
              <a:ext uri="{FF2B5EF4-FFF2-40B4-BE49-F238E27FC236}">
                <ns2:creationId id="{ECFE3F90-B943-4DE7-9354-F44AC8B52406}"/>
              </a:ext>
            </a:extLst>
          </p:cNvPr>
          <p:cNvSpPr>
            <a:spLocks noGrp="1"/>
          </p:cNvSpPr>
          <p:nvPr/>
        </p:nvSpPr>
        <p:spPr>
          <a:xfrm>
            <a:off x="657225" y="3924300"/>
            <a:ext cx="338137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800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Данные основных</a:t>
            </a:r>
          </a:p>
          <a:p>
            <a:pPr algn="l">
              <a:defRPr sz="1800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800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процессов системы</a:t>
            </a:r>
          </a:p>
        </p:txBody>
      </p:sp>
      <p:sp>
        <p:nvSpPr>
          <p:cNvPr id="7" name="TXT28">
            <a:extLst>
              <a:ext uri="{FF2B5EF4-FFF2-40B4-BE49-F238E27FC236}">
                <ns2:creationId id="{2A6C0258-A349-4E10-99D2-D82DC6138295}"/>
              </a:ext>
            </a:extLst>
          </p:cNvPr>
          <p:cNvSpPr>
            <a:spLocks noGrp="1"/>
          </p:cNvSpPr>
          <p:nvPr/>
        </p:nvSpPr>
        <p:spPr>
          <a:xfrm>
            <a:off x="5038725" y="1247775"/>
            <a:ext cx="3400425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defRPr>
            </a:pPr>
            <a:r>
              <a:rPr sz="217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rPr>
              <a:t>Функциональная</a:t>
            </a:r>
          </a:p>
          <a:p>
            <a:pPr algn="l">
              <a:defRPr sz="217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defRPr>
            </a:pPr>
            <a:r>
              <a:rPr sz="217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rPr>
              <a:t>модель построена</a:t>
            </a:r>
          </a:p>
        </p:txBody>
      </p:sp>
      <p:sp>
        <p:nvSpPr>
          <p:cNvPr id="8" name="TXT29">
            <a:extLst>
              <a:ext uri="{FF2B5EF4-FFF2-40B4-BE49-F238E27FC236}">
                <ns2:creationId id="{2FBCCD78-B9E7-4F4C-BFF9-85FADB7E7133}"/>
              </a:ext>
            </a:extLst>
          </p:cNvPr>
          <p:cNvSpPr>
            <a:spLocks noGrp="1"/>
          </p:cNvSpPr>
          <p:nvPr/>
        </p:nvSpPr>
        <p:spPr>
          <a:xfrm>
            <a:off x="5038725" y="2352675"/>
            <a:ext cx="3343275" cy="1943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Матрица событий</a:t>
            </a:r>
          </a:p>
          <a:p>
            <a:pPr algn="l">
              <a:def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A−0 · A0 · A1</a:t>
            </a:r>
          </a:p>
          <a:p>
            <a:r>
              <a:t/>
            </a:r>
          </a:p>
          <a:p>
            <a:pPr algn="l">
              <a:def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Процесс 1 раскрыт</a:t>
            </a:r>
          </a:p>
          <a:p>
            <a:pPr algn="l">
              <a:def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на 4 подпроцесса</a:t>
            </a:r>
          </a:p>
          <a:p>
            <a:r>
              <a:t/>
            </a:r>
          </a:p>
          <a:p>
            <a:pPr algn="l">
              <a:def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Потоки данных показаны</a:t>
            </a:r>
          </a:p>
        </p:txBody>
      </p:sp>
    </p:spTree>
    <p:extLst>
      <p:ext uri="{BB962C8B-B14F-4D97-AF65-F5344CB8AC3E}">
        <ns3:creationId val="568716978"/>
      </p:ext>
    </p:extLst>
  </p:cSld>
  <p:clrMapOvr>
    <a:masterClrMapping/>
  </p:clrMapOvr>
</p:sld>
</file>

<file path=ppt/slides/itmoSlide11.xml><?xml version="1.0" encoding="utf-8"?>
<p:sld xmlns:a="http://schemas.openxmlformats.org/drawingml/2006/main" xmlns:ns3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30">
            <a:extLst>
              <a:ext uri="{FF2B5EF4-FFF2-40B4-BE49-F238E27FC236}">
                <ns3:creationId id="{BD5096BF-3704-4298-A13D-E7DE96F78417}"/>
              </a:ext>
            </a:extLst>
          </p:cNvPr>
          <p:cNvSpPr>
            <a:spLocks noGrp="1"/>
          </p:cNvSpPr>
          <p:nvPr/>
        </p:nvSpPr>
        <p:spPr>
          <a:xfrm>
            <a:off x="1285875" y="1666875"/>
            <a:ext cx="6572250" cy="1323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292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defRPr>
            </a:pPr>
            <a:r>
              <a:rPr sz="292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rPr>
              <a:t>Спасибо</a:t>
            </a:r>
          </a:p>
          <a:p>
            <a:pPr algn="ctr">
              <a:defRPr sz="292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defRPr>
            </a:pPr>
            <a:r>
              <a:rPr sz="2925" b="1">
                <a:solidFill>
                  <a:srgbClr val="FFFFFF"/>
                </a:solidFill>
                <a:latin typeface="ALS Gorizont"/>
                <a:ea typeface="ALS Gorizont"/>
                <a:cs typeface="ALS Gorizont"/>
              </a:rPr>
              <a:t>за внимание</a:t>
            </a:r>
          </a:p>
        </p:txBody>
      </p:sp>
      <p:sp>
        <p:nvSpPr>
          <p:cNvPr id="3" name="TXT31">
            <a:extLst>
              <a:ext uri="{FF2B5EF4-FFF2-40B4-BE49-F238E27FC236}">
                <ns3:creationId id="{069D277D-B691-4904-A3A1-2D5CD03F3BE3}"/>
              </a:ext>
            </a:extLst>
          </p:cNvPr>
          <p:cNvSpPr>
            <a:spLocks noGrp="1"/>
          </p:cNvSpPr>
          <p:nvPr/>
        </p:nvSpPr>
        <p:spPr>
          <a:xfrm>
            <a:off x="1285875" y="4162425"/>
            <a:ext cx="6572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defRPr>
            </a:pPr>
            <a:r>
              <a:rPr sz="1725" b="0">
                <a:solidFill>
                  <a:srgbClr val="FFFFFF"/>
                </a:solidFill>
                <a:latin typeface="Golos Text"/>
                <a:ea typeface="Golos Text"/>
                <a:cs typeface="Golos Text"/>
              </a:rPr>
              <a:t>Вопросы?</a:t>
            </a:r>
          </a:p>
        </p:txBody>
      </p:sp>
    </p:spTree>
    <p:extLst>
      <p:ext uri="{BB962C8B-B14F-4D97-AF65-F5344CB8AC3E}">
        <ns4:creationId val="1864942597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2442525"/>
            <a:ext cx="6400800" cy="704850"/>
          </a:xfrm>
        </p:spPr>
        <p:txBody>
          <a:bodyPr>
            <a:no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</a:rPr>
              <a:t>Название</a:t>
            </a:r>
            <a:br>
              <a:rPr lang="ru-RU" sz="4400" dirty="0">
                <a:solidFill>
                  <a:schemeClr val="bg1"/>
                </a:solidFill>
              </a:rPr>
            </a:br>
            <a:r>
              <a:rPr lang="ru-RU" sz="4400" dirty="0">
                <a:solidFill>
                  <a:schemeClr val="bg1"/>
                </a:solidFill>
              </a:rPr>
              <a:t>презентации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65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D6F04732-FA0C-6214-4E09-404CAC7C88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69534-90B7-5774-2306-1A9DD2D6F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E95D14C-0749-B366-DF60-831456AD6E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376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59C3AC6-6CD1-C215-A3EB-1B669F1857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A005B5-E37E-D5F7-C74B-2628D4CDB8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683ECEF-C126-4F4F-2B77-7FC63C7D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07358EA-8600-ADBA-52DF-6AC12A92CA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6774C3B-FC5A-185E-8092-889B7F24F4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3540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B75BB7E-5242-607C-D973-5C88E2FAB3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922D73-8950-E8DA-530F-B7973DB0ECB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2F25C4-7663-582D-5776-E7C30E76E2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1D6CCC61-BB2F-AF7A-925F-8FDA44CDA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8716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4287535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B39C447F-7789-D914-2682-159AE682088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586" b="586"/>
          <a:stretch>
            <a:fillRect/>
          </a:stretch>
        </p:blipFill>
        <p:spPr/>
      </p:pic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915A35-EC87-76A1-7F8F-9378EFC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F7CD16-D4EE-5D1A-67C6-8FC838F976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3283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9FE03F-277F-A8A4-C0C6-0727AF17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C9A927D3-D22C-72D3-9160-2A7238153B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7D6E8493-F34E-A3DE-5CC9-A51F7FEAAC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pic>
        <p:nvPicPr>
          <p:cNvPr id="14" name="Рисунок 13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55CAB40C-5337-8BF0-0625-E685F899AA7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5924" b="5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60398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4035420-BC7F-2B5B-9DC7-253E9700DE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1B7B10-8BE9-0D4B-4BEE-4D9FECFAD7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230AEA4-B064-F849-E3CD-DAD6A93B84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F843F57-4FDA-9C25-01A0-9142B2AC0C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3DB4739-E298-9FB8-621A-63B5AD7B16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044626B9-CC56-F5AC-20ED-9D24FFDB6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C4EA0E19-5F7D-AE8D-E253-F58186F00CD1}"/>
              </a:ext>
            </a:extLst>
          </p:cNvPr>
          <p:cNvSpPr>
            <a:spLocks noGrp="1"/>
          </p:cNvSpPr>
          <p:nvPr>
            <p:ph sz="half" idx="26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3" name="Рисунок 12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D789FEA7-5AC2-99BA-BB98-5D94990238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6711" b="6711"/>
          <a:stretch>
            <a:fillRect/>
          </a:stretch>
        </p:blipFill>
        <p:spPr/>
      </p:pic>
      <p:sp>
        <p:nvSpPr>
          <p:cNvPr id="10" name="Рисунок 9">
            <a:extLst>
              <a:ext uri="{FF2B5EF4-FFF2-40B4-BE49-F238E27FC236}">
                <a16:creationId xmlns:a16="http://schemas.microsoft.com/office/drawing/2014/main" id="{98BE48A4-EBBB-156D-739A-E7D0659C950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96B9C87A-1CB9-8548-2E75-F473D1DB0B0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</p:sp>
    </p:spTree>
    <p:extLst>
      <p:ext uri="{BB962C8B-B14F-4D97-AF65-F5344CB8AC3E}">
        <p14:creationId xmlns:p14="http://schemas.microsoft.com/office/powerpoint/2010/main" val="2935888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20DBFC-6C80-6C49-5394-0A6FB6DA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4B8CD1-C0D2-3E0D-BEF2-7B51C67BD8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1350F252-A57D-E561-C9FF-C567FEE1DFB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t="5924" b="5924"/>
          <a:stretch>
            <a:fillRect/>
          </a:stretch>
        </p:blipFill>
        <p:spPr/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635C7FA0-CA3F-99C6-A092-B8AB77EF3EE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8BD1F05A-4D93-BBD5-5092-281EBB8326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965F9921-F51F-C17A-7697-90CCBA75BC5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435074E3-2EE0-D6EC-E4D4-936FD11A5ED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</p:sp>
    </p:spTree>
    <p:extLst>
      <p:ext uri="{BB962C8B-B14F-4D97-AF65-F5344CB8AC3E}">
        <p14:creationId xmlns:p14="http://schemas.microsoft.com/office/powerpoint/2010/main" val="3358523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96C84A0-6805-22CC-8370-4BB5276FE4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1A8490-1FF6-0E6E-8A8F-4B88094CBE8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E856410-4EF1-AD81-1ABA-060749F7BDF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FBC0C6B6-A6AC-5C98-DFAB-E1AA4CC8B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pic>
        <p:nvPicPr>
          <p:cNvPr id="16" name="Рисунок 15" descr="Изображение выглядит как человек, внутренний, стена&#10;&#10;Автоматически созданное описание">
            <a:extLst>
              <a:ext uri="{FF2B5EF4-FFF2-40B4-BE49-F238E27FC236}">
                <a16:creationId xmlns:a16="http://schemas.microsoft.com/office/drawing/2014/main" id="{766C9A8E-4928-9833-EF09-D6BAA450CA17}"/>
              </a:ext>
            </a:extLst>
          </p:cNvPr>
          <p:cNvPicPr>
            <a:picLocks noGrp="1" noChangeAspect="1"/>
          </p:cNvPicPr>
          <p:nvPr>
            <p:ph type="pic" sz="quarter" idx="31"/>
          </p:nvPr>
        </p:nvPicPr>
        <p:blipFill rotWithShape="1">
          <a:blip r:embed="rId2"/>
          <a:srcRect l="-243" t="8890" r="243" b="31362"/>
          <a:stretch/>
        </p:blipFill>
        <p:spPr>
          <a:xfrm>
            <a:off x="454050" y="952607"/>
            <a:ext cx="2589213" cy="1304294"/>
          </a:xfr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85978689-CD89-E96E-2201-F9A2214F8C5E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BE87A544-55FB-1C80-6A79-70F4E704BF42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7D057E28-B633-327F-9C42-D2CC507D781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020292B5-6AA1-44D1-C318-6077FB03E6C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E189EAC7-D2DA-00C2-DBDF-A7C6CFF1D024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>
            <a:normAutofit lnSpcReduction="10000"/>
          </a:bodyPr>
          <a:lstStyle/>
          <a:p>
            <a:endParaRPr lang="ru-RU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924ACE34-10A6-1C8E-8DAD-9AA9B4250EA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7435FDD6-FF73-314F-0ECA-07ACCB2459D5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CAB6ECF-A625-86F0-2A87-1E656A6B5A7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</p:sp>
    </p:spTree>
    <p:extLst>
      <p:ext uri="{BB962C8B-B14F-4D97-AF65-F5344CB8AC3E}">
        <p14:creationId xmlns:p14="http://schemas.microsoft.com/office/powerpoint/2010/main" val="509741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45834-34CB-F6E2-51BC-F26A92C144A1}"/>
              </a:ext>
            </a:extLst>
          </p:cNvPr>
          <p:cNvSpPr txBox="1"/>
          <p:nvPr/>
        </p:nvSpPr>
        <p:spPr>
          <a:xfrm>
            <a:off x="6880123" y="4468762"/>
            <a:ext cx="19146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Golos Text" panose="020B0503020202020204" pitchFamily="34" charset="-52"/>
                <a:cs typeface="Golos Text" panose="020B0503020202020204" pitchFamily="34" charset="-52"/>
              </a:rPr>
              <a:t>Ваши 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6E865-1779-C1D3-8C2B-CE6D381F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5A86CA11-FF94-52CB-154C-7057EE646FD8}"/>
              </a:ext>
            </a:extLst>
          </p:cNvPr>
          <p:cNvSpPr txBox="1">
            <a:spLocks/>
          </p:cNvSpPr>
          <p:nvPr/>
        </p:nvSpPr>
        <p:spPr>
          <a:xfrm>
            <a:off x="436728" y="1021377"/>
            <a:ext cx="4327219" cy="2042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На слайдах должно быть как можно меньше текста. Не бойтесь оставлять свободное место, ведь оно имеет такую же ценность, как картинка или текст. </a:t>
            </a:r>
            <a:endParaRPr lang="ru-RU" sz="1200" b="0" i="0" dirty="0">
              <a:effectLst/>
              <a:latin typeface="Golos Text" panose="020B0503020202020204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/>
              <a:t>Текст должен быть читабельным.</a:t>
            </a:r>
            <a:endParaRPr lang="ru-RU" sz="1200" dirty="0">
              <a:latin typeface="Golos Text" panose="020B0503020202020204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>
                <a:latin typeface="Golos Text" panose="020B0503020202020204" pitchFamily="34" charset="0"/>
                <a:ea typeface="Golos Text" panose="020B0503020202020204" pitchFamily="34" charset="0"/>
              </a:rPr>
              <a:t>Делайте акцент на самом важном, выделяя слова, например, другим цветом либо цветными плашками, или </a:t>
            </a:r>
            <a:r>
              <a:rPr lang="ru-RU" sz="1200" dirty="0">
                <a:effectLst/>
                <a:latin typeface="Golos Text" panose="020B0503020202020204" pitchFamily="34" charset="0"/>
                <a:ea typeface="Golos Text" panose="020B0503020202020204" pitchFamily="34" charset="0"/>
              </a:rPr>
              <a:t>же используя жирное или курсивное начертание.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Не оставляйте «висячие» предлоги, их нужно переносить на следующую строку. 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0A31D99C-9EE7-7438-A8F6-8A255AD5CCD2}"/>
              </a:ext>
            </a:extLst>
          </p:cNvPr>
          <p:cNvSpPr txBox="1">
            <a:spLocks/>
          </p:cNvSpPr>
          <p:nvPr/>
        </p:nvSpPr>
        <p:spPr>
          <a:xfrm>
            <a:off x="4795120" y="1051995"/>
            <a:ext cx="2031707" cy="29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000" i="1" dirty="0"/>
              <a:t>Пример оформления слайда:</a:t>
            </a:r>
          </a:p>
        </p:txBody>
      </p:sp>
      <p:pic>
        <p:nvPicPr>
          <p:cNvPr id="5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30100B6D-2EAC-D80B-983A-F420D977B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787" y="1344079"/>
            <a:ext cx="3247278" cy="182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433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F6E865-1779-C1D3-8C2B-CE6D381F7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251CB0-746D-A717-9B37-016B96D921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4328" y="974866"/>
            <a:ext cx="8253351" cy="257168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ru-RU" sz="1200" dirty="0"/>
              <a:t>В шаблоне презентации представлено несколько вариантов фонов.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endParaRPr lang="ru-RU" sz="1800" dirty="0"/>
          </a:p>
        </p:txBody>
      </p:sp>
      <p:pic>
        <p:nvPicPr>
          <p:cNvPr id="11" name="Рисунок 10" descr="Изображение выглядит как стрела&#10;&#10;Автоматически созданное описание">
            <a:extLst>
              <a:ext uri="{FF2B5EF4-FFF2-40B4-BE49-F238E27FC236}">
                <a16:creationId xmlns:a16="http://schemas.microsoft.com/office/drawing/2014/main" id="{2CAC1882-B83E-E295-975B-04CCF92AD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265" y="2863302"/>
            <a:ext cx="1854220" cy="1060711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0B55B04-6B68-F1FD-0C61-09A647061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138" y="2560072"/>
            <a:ext cx="1807636" cy="104985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F1A216D-6E3A-375D-D799-488E9A560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657" y="3956648"/>
            <a:ext cx="1815042" cy="1040979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386C1B8-7B5C-45A6-C667-01CB24B810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545" y="3961949"/>
            <a:ext cx="1854220" cy="106345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35F919F3-5767-C579-9FFB-76AF9EDFA2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2389" y="2232422"/>
            <a:ext cx="1806219" cy="1016439"/>
          </a:xfrm>
          <a:prstGeom prst="rect">
            <a:avLst/>
          </a:prstGeom>
        </p:spPr>
      </p:pic>
      <p:pic>
        <p:nvPicPr>
          <p:cNvPr id="34" name="Рисунок 33" descr="Изображение выглядит как текст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E9645F72-2EEB-F09D-15A0-B072862DA1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771" y="1538719"/>
            <a:ext cx="2148725" cy="1247950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97861AD1-B11F-2C41-6D57-28BBC7F374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045" y="2823712"/>
            <a:ext cx="1806218" cy="1014017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79ADAFAC-5582-2823-5477-B9FC9ED69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533" y="2589779"/>
            <a:ext cx="1806219" cy="1016439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AE4CC287-7E2C-12D7-7703-09A4F157F3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5990" y="2093237"/>
            <a:ext cx="1806219" cy="1016439"/>
          </a:xfrm>
          <a:prstGeom prst="rect">
            <a:avLst/>
          </a:prstGeom>
        </p:spPr>
      </p:pic>
      <p:pic>
        <p:nvPicPr>
          <p:cNvPr id="39" name="Рисунок 38" descr="Изображение выглядит как текст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7F4F129D-D192-D5EC-4045-6FF69EE454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9123" y="1502150"/>
            <a:ext cx="2148725" cy="1247950"/>
          </a:xfrm>
          <a:prstGeom prst="rect">
            <a:avLst/>
          </a:prstGeom>
        </p:spPr>
      </p:pic>
      <p:sp>
        <p:nvSpPr>
          <p:cNvPr id="40" name="Объект 2">
            <a:extLst>
              <a:ext uri="{FF2B5EF4-FFF2-40B4-BE49-F238E27FC236}">
                <a16:creationId xmlns:a16="http://schemas.microsoft.com/office/drawing/2014/main" id="{1142AB3C-C9FB-88F2-21DE-8C13C3A0649D}"/>
              </a:ext>
            </a:extLst>
          </p:cNvPr>
          <p:cNvSpPr txBox="1">
            <a:spLocks/>
          </p:cNvSpPr>
          <p:nvPr/>
        </p:nvSpPr>
        <p:spPr>
          <a:xfrm>
            <a:off x="430355" y="1239334"/>
            <a:ext cx="3377369" cy="292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200" dirty="0"/>
              <a:t>Их можно </a:t>
            </a:r>
            <a:r>
              <a:rPr lang="ru-RU" sz="1200" dirty="0" err="1"/>
              <a:t>миксовать</a:t>
            </a:r>
            <a:r>
              <a:rPr lang="ru-RU" sz="1200" dirty="0"/>
              <a:t>: </a:t>
            </a:r>
          </a:p>
        </p:txBody>
      </p:sp>
      <p:sp>
        <p:nvSpPr>
          <p:cNvPr id="41" name="Объект 2">
            <a:extLst>
              <a:ext uri="{FF2B5EF4-FFF2-40B4-BE49-F238E27FC236}">
                <a16:creationId xmlns:a16="http://schemas.microsoft.com/office/drawing/2014/main" id="{2CE85022-AA2F-E141-4234-EEBCC6A41382}"/>
              </a:ext>
            </a:extLst>
          </p:cNvPr>
          <p:cNvSpPr txBox="1">
            <a:spLocks/>
          </p:cNvSpPr>
          <p:nvPr/>
        </p:nvSpPr>
        <p:spPr>
          <a:xfrm>
            <a:off x="4385980" y="1216089"/>
            <a:ext cx="4251716" cy="292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SzPct val="100000"/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Golos Text" panose="020B0503020202020204" pitchFamily="34" charset="-52"/>
                <a:ea typeface="+mn-ea"/>
                <a:cs typeface="Golos Text" panose="020B0503020202020204" pitchFamily="34" charset="-52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200" dirty="0"/>
              <a:t>А можно выбрать один цвет для всей презентации:</a:t>
            </a:r>
          </a:p>
        </p:txBody>
      </p:sp>
    </p:spTree>
    <p:extLst>
      <p:ext uri="{BB962C8B-B14F-4D97-AF65-F5344CB8AC3E}">
        <p14:creationId xmlns:p14="http://schemas.microsoft.com/office/powerpoint/2010/main" val="4031685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134C1837-1767-690C-EEDD-0863FF186E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005763"/>
            <a:ext cx="8347587" cy="282848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Для того чтобы ваша презентация вызывала у аудитории эмоциональный отклик, используйте подходящие изображения.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Выбирайте фотографии только высокого разрешения.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 Любые фотографии могут быть использованы в презентации только с соблюдением авторских прав.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latin typeface="Golos Text" panose="020B0503020202020204"/>
              </a:rPr>
              <a:t> </a:t>
            </a:r>
            <a:r>
              <a:rPr lang="ru-RU" sz="1200" dirty="0"/>
              <a:t>Таблицы и списки по возможности заменяйте инфографикой и диаграммами. Если же необходима таблица, то делайте ее максимально простой и понятной для аудитории.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endParaRPr lang="ru-RU" sz="1200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8D7015-8078-E895-F588-5053D801C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/>
          <a:p>
            <a:r>
              <a:rPr lang="ru-RU" sz="2600" dirty="0"/>
              <a:t>Рекомендации по оформлению слайдов</a:t>
            </a:r>
          </a:p>
        </p:txBody>
      </p:sp>
    </p:spTree>
    <p:extLst>
      <p:ext uri="{BB962C8B-B14F-4D97-AF65-F5344CB8AC3E}">
        <p14:creationId xmlns:p14="http://schemas.microsoft.com/office/powerpoint/2010/main" val="3501828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5343</TotalTime>
  <Words>209</Words>
  <Application>Microsoft Office PowerPoint</Application>
  <PresentationFormat>Экран (16:9)</PresentationFormat>
  <Paragraphs>24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ALS Gorizont Bold Expanded</vt:lpstr>
      <vt:lpstr>Arial</vt:lpstr>
      <vt:lpstr>Calibri</vt:lpstr>
      <vt:lpstr>Golos Text</vt:lpstr>
      <vt:lpstr>Golos Text DemiBold</vt:lpstr>
      <vt:lpstr>Тема1</vt:lpstr>
      <vt:lpstr>Название презентации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  <vt:lpstr>Рекомендации по оформлению слайдов</vt:lpstr>
      <vt:lpstr>Рекомендации по оформлению слайдов</vt:lpstr>
      <vt:lpstr>Рекомендации по оформлению слайдов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Сервис поиска и возврата потерянных вещей</dc:title>
  <dc:creator/>
  <ns0:lastModifiedBy/>
  <ns0:revision>103</ns0:revision>
  <ns2:created xsi:type="dcterms:W3CDTF">2014-06-27T12:30:22Z</ns2:created>
  <ns2:modified xsi:type="dcterms:W3CDTF">2022-09-09T13:21:46Z</ns2:modified>
</ns0:coreProperties>
</file>